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6" r:id="rId2"/>
    <p:sldId id="306" r:id="rId3"/>
    <p:sldId id="290" r:id="rId4"/>
    <p:sldId id="291" r:id="rId5"/>
    <p:sldId id="296" r:id="rId6"/>
    <p:sldId id="308" r:id="rId7"/>
    <p:sldId id="292" r:id="rId8"/>
    <p:sldId id="309" r:id="rId9"/>
    <p:sldId id="303" r:id="rId10"/>
    <p:sldId id="297" r:id="rId11"/>
    <p:sldId id="311" r:id="rId12"/>
    <p:sldId id="310" r:id="rId13"/>
    <p:sldId id="293" r:id="rId14"/>
    <p:sldId id="294" r:id="rId15"/>
    <p:sldId id="312" r:id="rId16"/>
    <p:sldId id="313" r:id="rId17"/>
    <p:sldId id="295" r:id="rId18"/>
    <p:sldId id="298" r:id="rId19"/>
    <p:sldId id="300" r:id="rId20"/>
    <p:sldId id="304" r:id="rId21"/>
    <p:sldId id="314" r:id="rId22"/>
    <p:sldId id="323" r:id="rId23"/>
    <p:sldId id="321" r:id="rId24"/>
    <p:sldId id="324" r:id="rId25"/>
    <p:sldId id="302" r:id="rId26"/>
    <p:sldId id="315" r:id="rId27"/>
    <p:sldId id="316" r:id="rId28"/>
    <p:sldId id="317" r:id="rId29"/>
    <p:sldId id="319" r:id="rId30"/>
    <p:sldId id="338" r:id="rId31"/>
    <p:sldId id="325" r:id="rId32"/>
    <p:sldId id="318" r:id="rId33"/>
    <p:sldId id="326" r:id="rId34"/>
    <p:sldId id="327" r:id="rId35"/>
    <p:sldId id="328" r:id="rId36"/>
    <p:sldId id="329" r:id="rId37"/>
    <p:sldId id="330" r:id="rId38"/>
    <p:sldId id="340" r:id="rId39"/>
    <p:sldId id="331" r:id="rId40"/>
    <p:sldId id="334" r:id="rId41"/>
    <p:sldId id="341" r:id="rId42"/>
    <p:sldId id="342" r:id="rId43"/>
    <p:sldId id="343" r:id="rId44"/>
    <p:sldId id="344" r:id="rId45"/>
    <p:sldId id="345" r:id="rId46"/>
    <p:sldId id="346" r:id="rId47"/>
    <p:sldId id="333" r:id="rId48"/>
    <p:sldId id="339" r:id="rId49"/>
    <p:sldId id="335" r:id="rId50"/>
    <p:sldId id="336" r:id="rId51"/>
    <p:sldId id="337" r:id="rId52"/>
    <p:sldId id="347" r:id="rId53"/>
    <p:sldId id="348" r:id="rId5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098"/>
    <a:srgbClr val="0075C2"/>
    <a:srgbClr val="005391"/>
    <a:srgbClr val="9FDFFF"/>
    <a:srgbClr val="0097E0"/>
    <a:srgbClr val="0079C0"/>
    <a:srgbClr val="002642"/>
    <a:srgbClr val="D9F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09" autoAdjust="0"/>
    <p:restoredTop sz="94660"/>
  </p:normalViewPr>
  <p:slideViewPr>
    <p:cSldViewPr snapToGrid="0">
      <p:cViewPr varScale="1">
        <p:scale>
          <a:sx n="86" d="100"/>
          <a:sy n="86" d="100"/>
        </p:scale>
        <p:origin x="17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862F6E-ADD2-9366-B113-2DC17C241C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9E63DFE-D7AA-AC13-F7A4-9329D5BFA8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20B87F-A1F1-79EF-E2BF-4CF0E388F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FC42A-09BF-8419-71AF-D8BCA0305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F6C858-E83D-8393-1C93-A134EC9C5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78726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C82D7D-6770-00F1-0627-3F8644DEA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D5AB5B-07F8-EFE8-E488-AECA1C1F3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F9378-3F43-8409-C03A-73DEDCCCD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B3C137-FEE2-FC2C-0D8F-278FA872F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A2C4276-70B8-86B8-C9F2-52724C6E5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11654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8483C8-F5C9-9685-48E2-372D0D58D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08AFBA1-893B-0288-6791-FAB4BC20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50A90D-A578-4DD6-2870-40DB3C9FD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9E5CDB-7074-A4A8-4E57-6ADBB8097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CC5E56-B9B5-8E63-2A5F-2791DCDB3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32115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992575-567D-4F07-18E1-F2EFEE398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701245-7821-FA70-B19E-FF8BAE8D43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896413-0E6D-7EFE-1E16-67EAB3CE6D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7C802B-FCE9-BAC3-3C8A-F94A7CB61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150B6BB-66E6-A1AF-DCA7-22C6149DC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A1F9CD-514A-5009-2295-248E77982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9981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6889E2-A9B0-E7F4-2EFC-1F6ABCEC5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679192E-DC40-E249-FA5A-224DCAD5E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BA3964F-049F-B41F-99D2-C5E643342F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B4D5AEB-41E4-AB2A-A361-AD50934E63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731327A-522C-B45B-23A7-FE45D60209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F58EAE2-3DE3-9A45-A577-F2C7F49AC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EB2941-CF8A-0F2B-A17B-BA569B442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7A8847A-4A32-BB3B-8011-3BD2B1D17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8923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6AFE61-F2CC-2520-2C79-0A4181EE3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B75A781-E381-CFC1-56F8-631733D95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7733B07-5393-1069-8F86-A6CED16C0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83A0F87-68C5-E2FB-D9A5-9E7212FBE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16071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2F554A2-1944-7322-6170-F4E5A0AC1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5EB92C6-8A54-6C9C-A148-78F94CA70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DC03EA-1180-5060-1C14-7892402C7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494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A6F0D0-AECA-9305-628D-D368E4647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933A91-9DAD-3250-899A-E2586BA3A0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2A713F4-58A1-8194-7C0F-43EED8FD69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F1C4796-320D-3598-CD92-C720F928D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FC7862-B3EE-E0CE-F567-C690840A4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FAD1A5-F188-DF17-93F6-B612F02A9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0395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3D4E4E-4AA1-0A45-E636-CD90C3BD5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A1229B5-E851-E7F8-C243-BFDF215192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0ABDEDD-50E7-048D-7DE7-9895AEFE2A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24F004A-50F1-59C5-7058-2F0A28EAD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60BF5E8-594F-D436-2A8A-EE5139390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2C82157-6230-F235-4D52-AB9CE4457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6206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CD3C61-C3FC-C5EE-8BC4-F2BACFB4C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3BD343A-9526-ED91-60B6-846FCA616C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E58B21-EBE2-D6D6-5571-62B56C386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A1D3BC-3B94-657F-B4F3-15E17BFE7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6C3595-51D2-4BE0-FC5B-65FC1361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9011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1184896-448B-F6ED-6999-3544E8D0A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937D462-0928-6FAF-9175-2C9DD593F3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6272F0-1958-1F3E-24B8-9DFAE755A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DE1C8E-52B1-1C28-79CB-87C0D5AF1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86BFB5-04B2-2318-55C4-563D5B027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717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6150AF9-B02A-831F-D625-2823059F2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76F7CBD-C5B4-6970-50BD-1F730ADD59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8302B4-4D1A-9D80-C727-EB5E97CCA9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6B85E3-3F26-4931-9378-98579BCCDB13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F288A1-9CBB-4C3A-3728-7910B1B637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2DEACB1-5581-917D-9A1E-150C4099F4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FA9868-F4C7-48E4-A91F-515FCC583EA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844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5.png"/><Relationship Id="rId7" Type="http://schemas.openxmlformats.org/officeDocument/2006/relationships/image" Target="../media/image1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31.png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3.png"/><Relationship Id="rId7" Type="http://schemas.openxmlformats.org/officeDocument/2006/relationships/image" Target="../media/image3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4.png"/><Relationship Id="rId9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2.png"/><Relationship Id="rId7" Type="http://schemas.openxmlformats.org/officeDocument/2006/relationships/image" Target="../media/image6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Relationship Id="rId9" Type="http://schemas.openxmlformats.org/officeDocument/2006/relationships/image" Target="../media/image6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7" Type="http://schemas.openxmlformats.org/officeDocument/2006/relationships/image" Target="../media/image5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0.png"/><Relationship Id="rId5" Type="http://schemas.openxmlformats.org/officeDocument/2006/relationships/image" Target="../media/image65.png"/><Relationship Id="rId4" Type="http://schemas.openxmlformats.org/officeDocument/2006/relationships/image" Target="../media/image6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7" Type="http://schemas.openxmlformats.org/officeDocument/2006/relationships/image" Target="../media/image7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5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5.png"/><Relationship Id="rId4" Type="http://schemas.openxmlformats.org/officeDocument/2006/relationships/image" Target="../media/image6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7" Type="http://schemas.openxmlformats.org/officeDocument/2006/relationships/image" Target="../media/image11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6.png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1.png"/><Relationship Id="rId4" Type="http://schemas.openxmlformats.org/officeDocument/2006/relationships/image" Target="../media/image12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7" Type="http://schemas.openxmlformats.org/officeDocument/2006/relationships/image" Target="../media/image13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0.png"/><Relationship Id="rId5" Type="http://schemas.openxmlformats.org/officeDocument/2006/relationships/image" Target="../media/image129.png"/><Relationship Id="rId4" Type="http://schemas.openxmlformats.org/officeDocument/2006/relationships/image" Target="../media/image128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0.png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7.png"/><Relationship Id="rId4" Type="http://schemas.openxmlformats.org/officeDocument/2006/relationships/image" Target="../media/image13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0.png"/><Relationship Id="rId4" Type="http://schemas.openxmlformats.org/officeDocument/2006/relationships/image" Target="../media/image139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2.png"/><Relationship Id="rId4" Type="http://schemas.openxmlformats.org/officeDocument/2006/relationships/image" Target="../media/image13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빛, 우주, 스크린샷, 일렉트릭 블루이(가) 표시된 사진&#10;&#10;자동 생성된 설명">
            <a:extLst>
              <a:ext uri="{FF2B5EF4-FFF2-40B4-BE49-F238E27FC236}">
                <a16:creationId xmlns:a16="http://schemas.microsoft.com/office/drawing/2014/main" id="{D1E24FB7-B379-E35B-C045-142C05A3C77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4178" b="41771"/>
          <a:stretch/>
        </p:blipFill>
        <p:spPr>
          <a:xfrm>
            <a:off x="0" y="1"/>
            <a:ext cx="12192000" cy="1675616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BC0E2BE3-85A1-8B59-C7D1-646A89DD5721}"/>
              </a:ext>
            </a:extLst>
          </p:cNvPr>
          <p:cNvSpPr/>
          <p:nvPr/>
        </p:nvSpPr>
        <p:spPr>
          <a:xfrm>
            <a:off x="0" y="1675617"/>
            <a:ext cx="12192000" cy="5201634"/>
          </a:xfrm>
          <a:prstGeom prst="rect">
            <a:avLst/>
          </a:prstGeom>
          <a:solidFill>
            <a:srgbClr val="004098">
              <a:alpha val="89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6719FA-86E2-B139-2CAD-DDCBFF492781}"/>
              </a:ext>
            </a:extLst>
          </p:cNvPr>
          <p:cNvSpPr txBox="1"/>
          <p:nvPr/>
        </p:nvSpPr>
        <p:spPr>
          <a:xfrm>
            <a:off x="819830" y="2556417"/>
            <a:ext cx="1008606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Numerical</a:t>
            </a:r>
            <a:r>
              <a:rPr lang="ko-KR" altLang="en-US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Quantum</a:t>
            </a:r>
            <a:r>
              <a:rPr lang="ko-KR" altLang="en-US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Mechanics:</a:t>
            </a:r>
          </a:p>
          <a:p>
            <a:r>
              <a:rPr lang="en-US" altLang="ko-KR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Scattering problem</a:t>
            </a:r>
            <a:endParaRPr lang="ko-KR" altLang="en-US" sz="4400" dirty="0">
              <a:solidFill>
                <a:schemeClr val="bg1"/>
              </a:solidFill>
              <a:ea typeface="SUIT ExtraBold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786282-5402-7A3C-32C6-7A2741493667}"/>
              </a:ext>
            </a:extLst>
          </p:cNvPr>
          <p:cNvSpPr txBox="1"/>
          <p:nvPr/>
        </p:nvSpPr>
        <p:spPr>
          <a:xfrm>
            <a:off x="819829" y="4474497"/>
            <a:ext cx="104540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altLang="ko-KR" sz="2800" dirty="0">
                <a:solidFill>
                  <a:schemeClr val="bg1"/>
                </a:solidFill>
              </a:rPr>
              <a:t>Young-Ho Song (IRIS, IBS)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" name="그림 2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B4C5BB82-97A8-0197-3CE6-2D92FB4CC7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923" y="5936852"/>
            <a:ext cx="2340232" cy="4688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2786282-5402-7A3C-32C6-7A2741493667}"/>
              </a:ext>
            </a:extLst>
          </p:cNvPr>
          <p:cNvSpPr txBox="1"/>
          <p:nvPr/>
        </p:nvSpPr>
        <p:spPr>
          <a:xfrm>
            <a:off x="6490009" y="6171286"/>
            <a:ext cx="51072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dirty="0">
                <a:solidFill>
                  <a:schemeClr val="bg1"/>
                </a:solidFill>
              </a:rPr>
              <a:t>2026.03.31. Yonsei University</a:t>
            </a:r>
          </a:p>
        </p:txBody>
      </p:sp>
    </p:spTree>
    <p:extLst>
      <p:ext uri="{BB962C8B-B14F-4D97-AF65-F5344CB8AC3E}">
        <p14:creationId xmlns:p14="http://schemas.microsoft.com/office/powerpoint/2010/main" val="3091287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64424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Introduction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427462" y="1220145"/>
            <a:ext cx="11764538" cy="44504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2880" lvl="0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</a:rPr>
              <a:t>Why Scattering(Reaction)?</a:t>
            </a:r>
          </a:p>
          <a:p>
            <a:pPr marL="640080" lvl="1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We cannot directly observe quantum particles, nuclei, atoms</a:t>
            </a:r>
          </a:p>
          <a:p>
            <a:pPr marL="640080" lvl="1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To get information on the </a:t>
            </a:r>
            <a:r>
              <a:rPr lang="en-US" altLang="ko-KR" sz="2400" dirty="0">
                <a:solidFill>
                  <a:srgbClr val="FF0000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interaction</a:t>
            </a: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 between </a:t>
            </a:r>
            <a:r>
              <a:rPr lang="en-US" altLang="ko-KR" sz="2400" dirty="0">
                <a:solidFill>
                  <a:srgbClr val="292934"/>
                </a:solidFill>
                <a:ea typeface="돋움" panose="020B0600000101010101" pitchFamily="50" charset="-127"/>
                <a:sym typeface="Wingdings" panose="05000000000000000000" pitchFamily="2" charset="2"/>
              </a:rPr>
              <a:t>quantum particles, nuclei, atoms.</a:t>
            </a:r>
            <a:endParaRPr lang="en-US" altLang="ko-KR" sz="2400" dirty="0">
              <a:solidFill>
                <a:srgbClr val="292934"/>
              </a:solidFill>
              <a:latin typeface="Arial"/>
              <a:ea typeface="돋움" panose="020B0600000101010101" pitchFamily="50" charset="-127"/>
              <a:sym typeface="Wingdings" panose="05000000000000000000" pitchFamily="2" charset="2"/>
            </a:endParaRPr>
          </a:p>
          <a:p>
            <a:pPr marL="640080" lvl="1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To</a:t>
            </a:r>
            <a:r>
              <a:rPr lang="ko-KR" altLang="en-US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get information on the </a:t>
            </a:r>
            <a:r>
              <a:rPr lang="en-US" altLang="ko-KR" sz="2400" dirty="0">
                <a:solidFill>
                  <a:srgbClr val="FF0000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structure</a:t>
            </a: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 of </a:t>
            </a:r>
            <a:r>
              <a:rPr lang="en-US" altLang="ko-KR" sz="2400" dirty="0">
                <a:solidFill>
                  <a:srgbClr val="292934"/>
                </a:solidFill>
                <a:ea typeface="돋움" panose="020B0600000101010101" pitchFamily="50" charset="-127"/>
                <a:sym typeface="Wingdings" panose="05000000000000000000" pitchFamily="2" charset="2"/>
              </a:rPr>
              <a:t>quantum particles, nuclei, atoms.</a:t>
            </a:r>
          </a:p>
          <a:p>
            <a:pPr marL="640080" lvl="1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To measure </a:t>
            </a:r>
            <a:r>
              <a:rPr lang="en-US" altLang="ko-KR" sz="2400" dirty="0">
                <a:solidFill>
                  <a:srgbClr val="FF0000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reaction rates </a:t>
            </a: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of particular interest.</a:t>
            </a:r>
          </a:p>
          <a:p>
            <a:pPr lvl="1" latinLnBrk="0">
              <a:spcBef>
                <a:spcPct val="20000"/>
              </a:spcBef>
              <a:buClr>
                <a:srgbClr val="93A299"/>
              </a:buClr>
              <a:buSzPct val="85000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     ( stars, nuclear reactors, production of radioactive isotopes)</a:t>
            </a:r>
          </a:p>
          <a:p>
            <a:pPr marL="182880" lvl="0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endParaRPr lang="en-US" altLang="ko-KR" sz="2400" dirty="0">
              <a:solidFill>
                <a:srgbClr val="292934"/>
              </a:solidFill>
              <a:latin typeface="Arial"/>
              <a:ea typeface="돋움" panose="020B0600000101010101" pitchFamily="50" charset="-127"/>
              <a:sym typeface="Wingdings" panose="05000000000000000000" pitchFamily="2" charset="2"/>
            </a:endParaRPr>
          </a:p>
          <a:p>
            <a:pPr marL="182880" lvl="0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How experiments are done?</a:t>
            </a:r>
          </a:p>
          <a:p>
            <a:pPr marL="640080" lvl="1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 Measure the distribution of products.</a:t>
            </a:r>
          </a:p>
          <a:p>
            <a:pPr marL="640080" lvl="1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 At far away from the reaction spot.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2EA36EF-8B9E-4817-A85C-A9049684B7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6048" y="4327708"/>
            <a:ext cx="4057284" cy="2222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340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64424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Introduction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427462" y="1220145"/>
            <a:ext cx="11764538" cy="17912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2880" lvl="0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How to relate it with quantum theory? </a:t>
            </a:r>
          </a:p>
          <a:p>
            <a:pPr marL="182880" lvl="0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 The distribution of the products will be determined from the wave function</a:t>
            </a:r>
          </a:p>
          <a:p>
            <a:pPr marL="182880" lvl="0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 Solve Schrödinger equation </a:t>
            </a:r>
            <a:endParaRPr lang="en-US" altLang="ko-KR" sz="2400" dirty="0">
              <a:solidFill>
                <a:srgbClr val="292934"/>
              </a:solidFill>
              <a:latin typeface="Arial"/>
              <a:ea typeface="돋움" panose="020B0600000101010101" pitchFamily="50" charset="-127"/>
            </a:endParaRPr>
          </a:p>
          <a:p>
            <a:pPr marL="182880" lvl="0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endParaRPr lang="en-US" altLang="ko-KR" sz="2400" dirty="0">
              <a:solidFill>
                <a:srgbClr val="292934"/>
              </a:solidFill>
              <a:latin typeface="Arial"/>
              <a:ea typeface="돋움" panose="020B0600000101010101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2EA36EF-8B9E-4817-A85C-A9049684B7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731" y="2111717"/>
            <a:ext cx="4057284" cy="222295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743E98F-D255-419E-A584-F7B5CD801F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923" y="3223195"/>
            <a:ext cx="4344006" cy="86689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BA95C2C-5026-4851-9C43-D7402446C999}"/>
              </a:ext>
            </a:extLst>
          </p:cNvPr>
          <p:cNvSpPr txBox="1"/>
          <p:nvPr/>
        </p:nvSpPr>
        <p:spPr>
          <a:xfrm>
            <a:off x="923570" y="4958074"/>
            <a:ext cx="92017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Compare with experiments</a:t>
            </a:r>
          </a:p>
          <a:p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What kind of interaction and states(structure) describes the experiments best?</a:t>
            </a:r>
          </a:p>
        </p:txBody>
      </p:sp>
    </p:spTree>
    <p:extLst>
      <p:ext uri="{BB962C8B-B14F-4D97-AF65-F5344CB8AC3E}">
        <p14:creationId xmlns:p14="http://schemas.microsoft.com/office/powerpoint/2010/main" val="23054295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64424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Types of Nuclear Reactions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427462" y="1220144"/>
            <a:ext cx="5668538" cy="39333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2880" lvl="0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</a:rPr>
              <a:t>Types of nuclear reaction</a:t>
            </a:r>
          </a:p>
          <a:p>
            <a:pPr marL="640080" lvl="1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FF0000"/>
                </a:solidFill>
                <a:latin typeface="Arial"/>
                <a:ea typeface="돋움" panose="020B0600000101010101" pitchFamily="50" charset="-127"/>
              </a:rPr>
              <a:t>Elastic scattering</a:t>
            </a:r>
          </a:p>
          <a:p>
            <a:pPr marL="640080" lvl="1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</a:rPr>
              <a:t>Non-Elastic scattering</a:t>
            </a:r>
          </a:p>
          <a:p>
            <a:pPr marL="1097280" lvl="2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</a:rPr>
              <a:t>Inelastic scattering</a:t>
            </a:r>
          </a:p>
          <a:p>
            <a:pPr marL="1097280" lvl="2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</a:rPr>
              <a:t>Rearrangement reactions</a:t>
            </a:r>
          </a:p>
          <a:p>
            <a:pPr lvl="2" latinLnBrk="0">
              <a:spcBef>
                <a:spcPct val="20000"/>
              </a:spcBef>
              <a:buClr>
                <a:srgbClr val="93A299"/>
              </a:buClr>
              <a:buSzPct val="85000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</a:rPr>
              <a:t>   (transfer, knock out, fusion, fission …)</a:t>
            </a:r>
          </a:p>
          <a:p>
            <a:pPr marL="1097280" lvl="2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endParaRPr lang="en-US" altLang="ko-KR" sz="2400" dirty="0">
              <a:solidFill>
                <a:srgbClr val="292934"/>
              </a:solidFill>
              <a:latin typeface="Arial"/>
              <a:ea typeface="돋움" panose="020B0600000101010101" pitchFamily="50" charset="-127"/>
            </a:endParaRPr>
          </a:p>
          <a:p>
            <a:pPr marL="182880" lvl="0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FF0000"/>
                </a:solidFill>
                <a:ea typeface="돋움" panose="020B0600000101010101" pitchFamily="50" charset="-127"/>
                <a:sym typeface="Wingdings" panose="05000000000000000000" pitchFamily="2" charset="2"/>
              </a:rPr>
              <a:t> we focus on elastic scattering here. </a:t>
            </a:r>
            <a:endParaRPr lang="en-US" altLang="ko-KR" sz="2400" dirty="0">
              <a:solidFill>
                <a:srgbClr val="292934"/>
              </a:solidFill>
              <a:latin typeface="Arial"/>
              <a:ea typeface="돋움" panose="020B0600000101010101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807920B-F1CA-49E9-AA7E-922112FBAB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1483" y="1520040"/>
            <a:ext cx="5806322" cy="368758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740F7BC3-EA65-4615-8648-3E9EE41DD2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7259" y="5139442"/>
            <a:ext cx="4134030" cy="1459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10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Cross section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045569-7BC7-4C70-92B9-EBA8C15C3774}"/>
              </a:ext>
            </a:extLst>
          </p:cNvPr>
          <p:cNvSpPr txBox="1"/>
          <p:nvPr/>
        </p:nvSpPr>
        <p:spPr>
          <a:xfrm>
            <a:off x="683568" y="1052736"/>
            <a:ext cx="6783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Reaction Theory and Experiments can be compared with </a:t>
            </a:r>
            <a:r>
              <a:rPr lang="en-US" altLang="ko-KR" dirty="0">
                <a:solidFill>
                  <a:srgbClr val="FF0000"/>
                </a:solidFill>
              </a:rPr>
              <a:t>Cross Section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6752F5-1187-41F3-B3DE-75E1833C2A5F}"/>
              </a:ext>
            </a:extLst>
          </p:cNvPr>
          <p:cNvSpPr txBox="1"/>
          <p:nvPr/>
        </p:nvSpPr>
        <p:spPr>
          <a:xfrm>
            <a:off x="611808" y="3717032"/>
            <a:ext cx="806489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(Number of particles detected in solid angle/sec)</a:t>
            </a:r>
          </a:p>
          <a:p>
            <a:r>
              <a:rPr lang="en-US" altLang="ko-KR" dirty="0"/>
              <a:t>= (Number of incident particles/sec)*(effective area)/(incident area)</a:t>
            </a:r>
          </a:p>
          <a:p>
            <a:r>
              <a:rPr lang="en-US" altLang="ko-KR" dirty="0"/>
              <a:t>= (Number of incident particles/sec)</a:t>
            </a:r>
          </a:p>
          <a:p>
            <a:r>
              <a:rPr lang="en-US" altLang="ko-KR" dirty="0"/>
              <a:t>    *</a:t>
            </a:r>
            <a:r>
              <a:rPr lang="en-US" altLang="ko-KR" dirty="0">
                <a:solidFill>
                  <a:srgbClr val="FF0000"/>
                </a:solidFill>
              </a:rPr>
              <a:t>(effective area per target)</a:t>
            </a:r>
            <a:r>
              <a:rPr lang="en-US" altLang="ko-KR" dirty="0"/>
              <a:t>*(number of target particle in area)/(incident area)</a:t>
            </a:r>
          </a:p>
          <a:p>
            <a:r>
              <a:rPr lang="en-US" altLang="ko-KR" dirty="0"/>
              <a:t>= (Number of incident particles/sec)</a:t>
            </a:r>
          </a:p>
          <a:p>
            <a:r>
              <a:rPr lang="en-US" altLang="ko-KR" dirty="0"/>
              <a:t>    *</a:t>
            </a:r>
            <a:r>
              <a:rPr lang="en-US" altLang="ko-KR" dirty="0">
                <a:solidFill>
                  <a:srgbClr val="FF0000"/>
                </a:solidFill>
              </a:rPr>
              <a:t>(effective area per target)</a:t>
            </a:r>
            <a:r>
              <a:rPr lang="en-US" altLang="ko-KR" dirty="0"/>
              <a:t>*(target particle number density)*(target thickness)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53E729-EFE1-406C-911B-F52340AF96AC}"/>
              </a:ext>
            </a:extLst>
          </p:cNvPr>
          <p:cNvSpPr txBox="1"/>
          <p:nvPr/>
        </p:nvSpPr>
        <p:spPr>
          <a:xfrm>
            <a:off x="603564" y="5916649"/>
            <a:ext cx="76925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(Cross section) </a:t>
            </a:r>
            <a:r>
              <a:rPr lang="en-US" altLang="ko-KR" dirty="0"/>
              <a:t>= </a:t>
            </a:r>
            <a:r>
              <a:rPr lang="en-US" altLang="ko-KR" dirty="0">
                <a:solidFill>
                  <a:srgbClr val="FF0000"/>
                </a:solidFill>
              </a:rPr>
              <a:t>(effective area per reaction) </a:t>
            </a:r>
          </a:p>
          <a:p>
            <a:r>
              <a:rPr lang="en-US" altLang="ko-KR" dirty="0"/>
              <a:t>does not depends on the experimental condition ( target thickness, beam size…)</a:t>
            </a:r>
            <a:endParaRPr lang="ko-KR" altLang="en-US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31EC21FC-5BB1-478B-89CB-9FA2C91D00D5}"/>
              </a:ext>
            </a:extLst>
          </p:cNvPr>
          <p:cNvGrpSpPr/>
          <p:nvPr/>
        </p:nvGrpSpPr>
        <p:grpSpPr>
          <a:xfrm>
            <a:off x="480779" y="1398729"/>
            <a:ext cx="4057284" cy="2222956"/>
            <a:chOff x="480779" y="1398729"/>
            <a:chExt cx="4057284" cy="2222956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BA003CB3-AAE7-4F5A-B693-BBEBBE033F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0779" y="1398729"/>
              <a:ext cx="4057284" cy="2222956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2EE0207-253F-43E4-A854-87CAA82FE9B5}"/>
                </a:ext>
              </a:extLst>
            </p:cNvPr>
            <p:cNvSpPr txBox="1"/>
            <p:nvPr/>
          </p:nvSpPr>
          <p:spPr>
            <a:xfrm>
              <a:off x="603564" y="1662379"/>
              <a:ext cx="2160240" cy="36933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Measurement</a:t>
              </a:r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97125A1-6FD2-4D3A-A690-80F20ED306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6644" y="1583213"/>
            <a:ext cx="2123406" cy="1921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9590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Cross section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045569-7BC7-4C70-92B9-EBA8C15C3774}"/>
              </a:ext>
            </a:extLst>
          </p:cNvPr>
          <p:cNvSpPr txBox="1"/>
          <p:nvPr/>
        </p:nvSpPr>
        <p:spPr>
          <a:xfrm>
            <a:off x="683568" y="1052736"/>
            <a:ext cx="6783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Reaction Theory and Experiments can be compared with </a:t>
            </a:r>
            <a:r>
              <a:rPr lang="en-US" altLang="ko-KR" dirty="0">
                <a:solidFill>
                  <a:srgbClr val="FF0000"/>
                </a:solidFill>
              </a:rPr>
              <a:t>Cross Section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C755845-A24E-426D-83E8-F3C69E4BA5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68" y="1502810"/>
            <a:ext cx="4820323" cy="210531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4C63610-DF9C-456B-9866-03638A0081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200" y="4677950"/>
            <a:ext cx="2000529" cy="600159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F14E39B-7727-42BD-9BAD-DCE8E653F7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71" y="5534324"/>
            <a:ext cx="3381847" cy="8478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A571947-8205-45FD-99F6-EB3BE9667906}"/>
              </a:ext>
            </a:extLst>
          </p:cNvPr>
          <p:cNvSpPr txBox="1"/>
          <p:nvPr/>
        </p:nvSpPr>
        <p:spPr>
          <a:xfrm>
            <a:off x="4756109" y="5715165"/>
            <a:ext cx="35683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Differential cross section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16A36DCA-977D-47EC-971A-CB4070429E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1879450"/>
            <a:ext cx="5191850" cy="40963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BA97082-7A71-4387-8457-FA15FF73A18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024" y="3828035"/>
            <a:ext cx="8202170" cy="771633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B8FC56BB-1DC5-4BAE-930B-CBF0CA1CD2A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6109" y="4880986"/>
            <a:ext cx="5287113" cy="342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1370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Schrödinger equation for central potential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5DDA047F-7A70-45B6-A25B-6B5B2961C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7273" y="1767552"/>
            <a:ext cx="4344006" cy="86689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4DBEAB6-425C-4FE4-B363-BD4521D55AB5}"/>
              </a:ext>
            </a:extLst>
          </p:cNvPr>
          <p:cNvSpPr txBox="1"/>
          <p:nvPr/>
        </p:nvSpPr>
        <p:spPr>
          <a:xfrm>
            <a:off x="780584" y="1260088"/>
            <a:ext cx="80846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Schrödinger </a:t>
            </a:r>
            <a:r>
              <a:rPr lang="en-US" altLang="ko-KR" dirty="0"/>
              <a:t>equation</a:t>
            </a:r>
            <a:r>
              <a:rPr lang="ko-KR" altLang="en-US" dirty="0"/>
              <a:t> </a:t>
            </a:r>
            <a:r>
              <a:rPr lang="en-US" altLang="ko-KR" dirty="0"/>
              <a:t>of</a:t>
            </a:r>
            <a:r>
              <a:rPr lang="ko-KR" altLang="en-US" dirty="0"/>
              <a:t> </a:t>
            </a:r>
            <a:r>
              <a:rPr lang="en-US" altLang="ko-KR" dirty="0"/>
              <a:t>one-body</a:t>
            </a:r>
            <a:r>
              <a:rPr lang="ko-KR" altLang="en-US" dirty="0"/>
              <a:t> </a:t>
            </a:r>
            <a:r>
              <a:rPr lang="en-US" altLang="ko-KR" dirty="0"/>
              <a:t>in</a:t>
            </a:r>
            <a:r>
              <a:rPr lang="ko-KR" altLang="en-US" dirty="0"/>
              <a:t> </a:t>
            </a:r>
            <a:r>
              <a:rPr lang="en-US" altLang="ko-KR" dirty="0"/>
              <a:t>spherical symmetric potential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C5BAB5-7FD8-4D58-822C-31C99A1A7A6E}"/>
              </a:ext>
            </a:extLst>
          </p:cNvPr>
          <p:cNvSpPr txBox="1"/>
          <p:nvPr/>
        </p:nvSpPr>
        <p:spPr>
          <a:xfrm>
            <a:off x="999871" y="2798709"/>
            <a:ext cx="731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Two-body problem </a:t>
            </a:r>
            <a:r>
              <a:rPr lang="en-US" dirty="0">
                <a:sym typeface="Wingdings" panose="05000000000000000000" pitchFamily="2" charset="2"/>
              </a:rPr>
              <a:t> One-body problem</a:t>
            </a:r>
            <a:endParaRPr 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DB65593-EC2A-4425-A943-0482050DD2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6692" y="3367083"/>
            <a:ext cx="2562583" cy="57158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C188330-2947-4B95-AC0E-47E1115C64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5718" y="3995429"/>
            <a:ext cx="2724530" cy="169568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7ABC259-C665-4CB3-A4ED-A410AD455B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6692" y="6008068"/>
            <a:ext cx="1343212" cy="42868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FB1D1C1-44D9-4D9A-993B-A1B16CEAF60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2938" y="5840028"/>
            <a:ext cx="3353268" cy="866896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44996E1F-85D5-4BD3-AFFB-DBBD9510E55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29575" y="4184938"/>
            <a:ext cx="1619476" cy="438211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E51877D2-ECC0-4538-8BD1-387F46B0155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34095" y="4950656"/>
            <a:ext cx="1571844" cy="38105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21A86415-2409-440B-BB30-8BCFA67B0B9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42938" y="3812168"/>
            <a:ext cx="3153215" cy="1933845"/>
          </a:xfrm>
          <a:prstGeom prst="rect">
            <a:avLst/>
          </a:prstGeom>
        </p:spPr>
      </p:pic>
      <p:sp>
        <p:nvSpPr>
          <p:cNvPr id="21" name="화살표: 왼쪽/오른쪽 20">
            <a:extLst>
              <a:ext uri="{FF2B5EF4-FFF2-40B4-BE49-F238E27FC236}">
                <a16:creationId xmlns:a16="http://schemas.microsoft.com/office/drawing/2014/main" id="{0006D792-27BB-43CA-8D82-6DCDDC844196}"/>
              </a:ext>
            </a:extLst>
          </p:cNvPr>
          <p:cNvSpPr/>
          <p:nvPr/>
        </p:nvSpPr>
        <p:spPr>
          <a:xfrm>
            <a:off x="4579254" y="4349842"/>
            <a:ext cx="1051064" cy="546613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D8518717-7996-4FA3-8BA4-1D115A9B405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42938" y="3241837"/>
            <a:ext cx="3486637" cy="476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525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Schrödinger equation for central potential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6AC64E-B973-4338-8EA1-444E619E2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654" y="1760984"/>
            <a:ext cx="1962424" cy="54300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2D8D80A-BE60-41E2-A898-B57433BC7759}"/>
              </a:ext>
            </a:extLst>
          </p:cNvPr>
          <p:cNvSpPr txBox="1"/>
          <p:nvPr/>
        </p:nvSpPr>
        <p:spPr>
          <a:xfrm>
            <a:off x="529642" y="1250872"/>
            <a:ext cx="35683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Stationary scattering States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91A103A-3773-4624-ABE7-E760A0D8A9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3041" y="1777711"/>
            <a:ext cx="1800476" cy="457264"/>
          </a:xfrm>
          <a:prstGeom prst="rect">
            <a:avLst/>
          </a:prstGeom>
        </p:spPr>
      </p:pic>
      <p:pic>
        <p:nvPicPr>
          <p:cNvPr id="21" name="Picture 3">
            <a:extLst>
              <a:ext uri="{FF2B5EF4-FFF2-40B4-BE49-F238E27FC236}">
                <a16:creationId xmlns:a16="http://schemas.microsoft.com/office/drawing/2014/main" id="{3A62CEC4-6F52-4494-963C-DCF3C36FE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783" y="2703011"/>
            <a:ext cx="4032448" cy="27746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392C832-C271-4270-875D-3BC1E8080694}"/>
              </a:ext>
            </a:extLst>
          </p:cNvPr>
          <p:cNvSpPr txBox="1"/>
          <p:nvPr/>
        </p:nvSpPr>
        <p:spPr>
          <a:xfrm>
            <a:off x="5985084" y="4534583"/>
            <a:ext cx="31096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Incident wave + scattered wave</a:t>
            </a:r>
          </a:p>
          <a:p>
            <a:endParaRPr lang="en-US" altLang="ko-KR" dirty="0"/>
          </a:p>
          <a:p>
            <a:r>
              <a:rPr lang="en-US" altLang="ko-KR" dirty="0"/>
              <a:t>f : </a:t>
            </a:r>
            <a:r>
              <a:rPr lang="en-US" altLang="ko-KR" dirty="0">
                <a:solidFill>
                  <a:srgbClr val="FF0000"/>
                </a:solidFill>
              </a:rPr>
              <a:t>Scattering amplitude</a:t>
            </a:r>
          </a:p>
          <a:p>
            <a:r>
              <a:rPr lang="en-US" altLang="ko-KR" dirty="0"/>
              <a:t>    f=0 , if there is no potential</a:t>
            </a:r>
            <a:endParaRPr lang="ko-KR" altLang="en-US" dirty="0"/>
          </a:p>
        </p:txBody>
      </p:sp>
      <p:pic>
        <p:nvPicPr>
          <p:cNvPr id="23" name="Picture 5">
            <a:extLst>
              <a:ext uri="{FF2B5EF4-FFF2-40B4-BE49-F238E27FC236}">
                <a16:creationId xmlns:a16="http://schemas.microsoft.com/office/drawing/2014/main" id="{05D22BD5-CCFD-408D-9D92-9C2290E802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0474" y="3702926"/>
            <a:ext cx="4152503" cy="850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5EF61CD-3022-405E-BA13-0DA6AB999F02}"/>
              </a:ext>
            </a:extLst>
          </p:cNvPr>
          <p:cNvSpPr txBox="1"/>
          <p:nvPr/>
        </p:nvSpPr>
        <p:spPr>
          <a:xfrm>
            <a:off x="5970159" y="3064842"/>
            <a:ext cx="31870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If interaction have finite range,</a:t>
            </a:r>
          </a:p>
          <a:p>
            <a:r>
              <a:rPr lang="en-US" altLang="ko-KR" dirty="0"/>
              <a:t>Asymptotic boundary condition </a:t>
            </a:r>
          </a:p>
        </p:txBody>
      </p:sp>
    </p:spTree>
    <p:extLst>
      <p:ext uri="{BB962C8B-B14F-4D97-AF65-F5344CB8AC3E}">
        <p14:creationId xmlns:p14="http://schemas.microsoft.com/office/powerpoint/2010/main" val="381521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Schrödinger equation for central potential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2" name="Picture 14">
            <a:extLst>
              <a:ext uri="{FF2B5EF4-FFF2-40B4-BE49-F238E27FC236}">
                <a16:creationId xmlns:a16="http://schemas.microsoft.com/office/drawing/2014/main" id="{427AFC0A-4EFB-4405-9033-8E7C7B3CB3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314" y="1765933"/>
            <a:ext cx="2528361" cy="6338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" name="Picture 15">
            <a:extLst>
              <a:ext uri="{FF2B5EF4-FFF2-40B4-BE49-F238E27FC236}">
                <a16:creationId xmlns:a16="http://schemas.microsoft.com/office/drawing/2014/main" id="{EF5C69B2-4332-43B2-85A2-990359263C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761" y="1765933"/>
            <a:ext cx="2049928" cy="638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4" name="Picture 2">
            <a:extLst>
              <a:ext uri="{FF2B5EF4-FFF2-40B4-BE49-F238E27FC236}">
                <a16:creationId xmlns:a16="http://schemas.microsoft.com/office/drawing/2014/main" id="{B14A02D8-4DE6-42BC-A61A-27A3738CE2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314" y="2545766"/>
            <a:ext cx="23622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6" name="Picture 3">
            <a:extLst>
              <a:ext uri="{FF2B5EF4-FFF2-40B4-BE49-F238E27FC236}">
                <a16:creationId xmlns:a16="http://schemas.microsoft.com/office/drawing/2014/main" id="{7BAE1E4E-FD33-421D-94BC-22825C5F78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172" y="3126372"/>
            <a:ext cx="6937885" cy="8605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7" name="Picture 4">
            <a:extLst>
              <a:ext uri="{FF2B5EF4-FFF2-40B4-BE49-F238E27FC236}">
                <a16:creationId xmlns:a16="http://schemas.microsoft.com/office/drawing/2014/main" id="{F69D8B85-57B1-4C90-8E29-A7719E1C68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314" y="5441599"/>
            <a:ext cx="7473368" cy="6633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03F6ED64-42D8-4ED6-BE58-ED686F0BF820}"/>
              </a:ext>
            </a:extLst>
          </p:cNvPr>
          <p:cNvSpPr txBox="1"/>
          <p:nvPr/>
        </p:nvSpPr>
        <p:spPr>
          <a:xfrm>
            <a:off x="3308573" y="6372036"/>
            <a:ext cx="3704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Plane wave Case :  (density)*(velocity)</a:t>
            </a:r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4B88D2D-8138-44A6-80A1-B7BB5ACFF0E9}"/>
              </a:ext>
            </a:extLst>
          </p:cNvPr>
          <p:cNvSpPr txBox="1"/>
          <p:nvPr/>
        </p:nvSpPr>
        <p:spPr>
          <a:xfrm>
            <a:off x="601101" y="5002992"/>
            <a:ext cx="2041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Free Current density</a:t>
            </a:r>
            <a:endParaRPr lang="ko-KR" altLang="en-US" dirty="0"/>
          </a:p>
        </p:txBody>
      </p:sp>
      <p:pic>
        <p:nvPicPr>
          <p:cNvPr id="31" name="Picture 2">
            <a:extLst>
              <a:ext uri="{FF2B5EF4-FFF2-40B4-BE49-F238E27FC236}">
                <a16:creationId xmlns:a16="http://schemas.microsoft.com/office/drawing/2014/main" id="{25F25713-85C2-4EAD-9FB2-E7D2E5DA5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172" y="3942640"/>
            <a:ext cx="5991225" cy="771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720D82BE-0575-4CC7-9528-355D00A1A171}"/>
              </a:ext>
            </a:extLst>
          </p:cNvPr>
          <p:cNvSpPr txBox="1"/>
          <p:nvPr/>
        </p:nvSpPr>
        <p:spPr>
          <a:xfrm>
            <a:off x="5645484" y="4685834"/>
            <a:ext cx="51853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The last term vanishes for local Hermitian interaction.</a:t>
            </a:r>
          </a:p>
          <a:p>
            <a:r>
              <a:rPr lang="en-US" altLang="ko-KR" dirty="0">
                <a:solidFill>
                  <a:srgbClr val="00B050"/>
                </a:solidFill>
              </a:rPr>
              <a:t>In general, interactions are non-local. </a:t>
            </a:r>
            <a:endParaRPr lang="ko-KR" altLang="en-US" dirty="0">
              <a:solidFill>
                <a:srgbClr val="00B05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012AF1A-597A-4F29-BFCE-1D3FE90B3099}"/>
              </a:ext>
            </a:extLst>
          </p:cNvPr>
          <p:cNvSpPr txBox="1"/>
          <p:nvPr/>
        </p:nvSpPr>
        <p:spPr>
          <a:xfrm>
            <a:off x="442427" y="1136376"/>
            <a:ext cx="3831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From continuity eq. and Schrodinger eq.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28727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Schrödinger equation for central potential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6CA1844-C09F-4052-AB8E-0F3ADB66F855}"/>
              </a:ext>
            </a:extLst>
          </p:cNvPr>
          <p:cNvSpPr txBox="1"/>
          <p:nvPr/>
        </p:nvSpPr>
        <p:spPr>
          <a:xfrm>
            <a:off x="1331640" y="3845899"/>
            <a:ext cx="5202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Then incident flux and scattered flux at large distance </a:t>
            </a:r>
            <a:endParaRPr lang="ko-KR" altLang="en-US" dirty="0"/>
          </a:p>
        </p:txBody>
      </p:sp>
      <p:pic>
        <p:nvPicPr>
          <p:cNvPr id="19" name="Picture 7">
            <a:extLst>
              <a:ext uri="{FF2B5EF4-FFF2-40B4-BE49-F238E27FC236}">
                <a16:creationId xmlns:a16="http://schemas.microsoft.com/office/drawing/2014/main" id="{BC6E24C8-FA67-4E9C-88E2-1269C986D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7272" y="4498629"/>
            <a:ext cx="3933262" cy="9853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E0F65B1C-B4CD-4318-8491-E64EF63868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8392" y="4266880"/>
            <a:ext cx="3089718" cy="985369"/>
          </a:xfrm>
          <a:prstGeom prst="rect">
            <a:avLst/>
          </a:prstGeom>
        </p:spPr>
      </p:pic>
      <p:pic>
        <p:nvPicPr>
          <p:cNvPr id="21" name="Picture 4">
            <a:extLst>
              <a:ext uri="{FF2B5EF4-FFF2-40B4-BE49-F238E27FC236}">
                <a16:creationId xmlns:a16="http://schemas.microsoft.com/office/drawing/2014/main" id="{45B79FB9-C3A8-47B1-8C05-3ED8F74F98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035"/>
          <a:stretch/>
        </p:blipFill>
        <p:spPr bwMode="auto">
          <a:xfrm>
            <a:off x="923571" y="2339224"/>
            <a:ext cx="3281787" cy="7426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3" name="Picture 5">
            <a:extLst>
              <a:ext uri="{FF2B5EF4-FFF2-40B4-BE49-F238E27FC236}">
                <a16:creationId xmlns:a16="http://schemas.microsoft.com/office/drawing/2014/main" id="{5D54C77D-3E4F-4588-9208-9BAEC564E1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928" y="1325800"/>
            <a:ext cx="4152503" cy="850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E77D7BB-9A68-49C5-A560-DBF5201128A0}"/>
              </a:ext>
            </a:extLst>
          </p:cNvPr>
          <p:cNvSpPr txBox="1"/>
          <p:nvPr/>
        </p:nvSpPr>
        <p:spPr>
          <a:xfrm>
            <a:off x="5562935" y="5750884"/>
            <a:ext cx="56189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~</a:t>
            </a:r>
            <a:r>
              <a:rPr lang="ko-KR" altLang="en-US" dirty="0"/>
              <a:t> </a:t>
            </a:r>
            <a:r>
              <a:rPr lang="en-US" altLang="ko-KR" dirty="0"/>
              <a:t>number</a:t>
            </a:r>
            <a:r>
              <a:rPr lang="ko-KR" altLang="en-US" dirty="0"/>
              <a:t> </a:t>
            </a:r>
            <a:r>
              <a:rPr lang="en-US" altLang="ko-KR" dirty="0"/>
              <a:t>of</a:t>
            </a:r>
            <a:r>
              <a:rPr lang="ko-KR" altLang="en-US" dirty="0"/>
              <a:t> </a:t>
            </a:r>
            <a:r>
              <a:rPr lang="en-US" altLang="ko-KR" dirty="0"/>
              <a:t>particles</a:t>
            </a:r>
            <a:r>
              <a:rPr lang="ko-KR" altLang="en-US" dirty="0"/>
              <a:t> </a:t>
            </a:r>
            <a:r>
              <a:rPr lang="en-US" altLang="ko-KR" dirty="0"/>
              <a:t>scattered</a:t>
            </a:r>
            <a:r>
              <a:rPr lang="ko-KR" altLang="en-US" dirty="0"/>
              <a:t> </a:t>
            </a:r>
            <a:r>
              <a:rPr lang="en-US" altLang="ko-KR" dirty="0"/>
              <a:t>in</a:t>
            </a:r>
            <a:r>
              <a:rPr lang="ko-KR" altLang="en-US" dirty="0"/>
              <a:t> </a:t>
            </a:r>
            <a:r>
              <a:rPr lang="en-US" altLang="ko-KR" dirty="0"/>
              <a:t>particular</a:t>
            </a:r>
            <a:r>
              <a:rPr lang="ko-KR" altLang="en-US" dirty="0"/>
              <a:t> </a:t>
            </a:r>
            <a:r>
              <a:rPr lang="en-US" altLang="ko-KR" dirty="0"/>
              <a:t>direction</a:t>
            </a:r>
          </a:p>
          <a:p>
            <a:r>
              <a:rPr lang="en-US" dirty="0"/>
              <a:t>~ </a:t>
            </a:r>
            <a:r>
              <a:rPr lang="en-US" dirty="0">
                <a:solidFill>
                  <a:srgbClr val="FF0000"/>
                </a:solidFill>
              </a:rPr>
              <a:t>differential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cross section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22BABB8-5B23-4AEA-97B5-08F876EF06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77271" y="1221340"/>
            <a:ext cx="4760269" cy="2241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687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Schrödinger equation for central potential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19" name="Picture 7">
            <a:extLst>
              <a:ext uri="{FF2B5EF4-FFF2-40B4-BE49-F238E27FC236}">
                <a16:creationId xmlns:a16="http://schemas.microsoft.com/office/drawing/2014/main" id="{BC6E24C8-FA67-4E9C-88E2-1269C986D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8159" y="3754528"/>
            <a:ext cx="2418450" cy="605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82905D64-3FAD-446D-846F-9FD39526C328}"/>
              </a:ext>
            </a:extLst>
          </p:cNvPr>
          <p:cNvGrpSpPr/>
          <p:nvPr/>
        </p:nvGrpSpPr>
        <p:grpSpPr>
          <a:xfrm>
            <a:off x="480779" y="1398729"/>
            <a:ext cx="4057284" cy="2222956"/>
            <a:chOff x="480779" y="1398729"/>
            <a:chExt cx="4057284" cy="2222956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1594B974-B013-4096-B3BF-C7E4EBA321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0779" y="1398729"/>
              <a:ext cx="4057284" cy="222295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6086AC0-230B-42FC-8E64-79644AF8CDCD}"/>
                </a:ext>
              </a:extLst>
            </p:cNvPr>
            <p:cNvSpPr txBox="1"/>
            <p:nvPr/>
          </p:nvSpPr>
          <p:spPr>
            <a:xfrm>
              <a:off x="603564" y="1662379"/>
              <a:ext cx="2160240" cy="36933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Measurement</a:t>
              </a:r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0FEC3129-2092-47D6-862D-822F84FC89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6288" y="1488710"/>
            <a:ext cx="1419423" cy="54300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5E23321-FAE3-448D-9436-7BA932B6B8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3903" y="1440048"/>
            <a:ext cx="2076740" cy="54300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82F1FEB-2A3D-4AD7-BD44-FD60C46342F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56662" y="2128994"/>
            <a:ext cx="4163006" cy="50489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B97921A-1324-4ECB-81DF-B39A36D314B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28057" y="2923777"/>
            <a:ext cx="2210108" cy="198147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319615E-59B2-4F75-B328-FADAA4F4C312}"/>
              </a:ext>
            </a:extLst>
          </p:cNvPr>
          <p:cNvSpPr txBox="1"/>
          <p:nvPr/>
        </p:nvSpPr>
        <p:spPr>
          <a:xfrm>
            <a:off x="340361" y="5994898"/>
            <a:ext cx="10091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Theoretical cross section </a:t>
            </a:r>
            <a:r>
              <a:rPr lang="en-US" dirty="0">
                <a:sym typeface="Wingdings" panose="05000000000000000000" pitchFamily="2" charset="2"/>
              </a:rPr>
              <a:t> 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Scattering amplitude</a:t>
            </a:r>
          </a:p>
          <a:p>
            <a:r>
              <a:rPr lang="en-US" dirty="0">
                <a:sym typeface="Wingdings" panose="05000000000000000000" pitchFamily="2" charset="2"/>
              </a:rPr>
              <a:t>                                              (contains all information about V ) </a:t>
            </a:r>
            <a:endParaRPr lang="en-US" dirty="0"/>
          </a:p>
        </p:txBody>
      </p:sp>
      <p:pic>
        <p:nvPicPr>
          <p:cNvPr id="23" name="Picture 2">
            <a:extLst>
              <a:ext uri="{FF2B5EF4-FFF2-40B4-BE49-F238E27FC236}">
                <a16:creationId xmlns:a16="http://schemas.microsoft.com/office/drawing/2014/main" id="{11E8B7C0-176A-41D0-B3ED-522226B58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779" y="5039488"/>
            <a:ext cx="7164288" cy="8395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491346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Partial Wave expansion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B63C71F-C948-410D-B67E-6E4D4B2EF4F7}"/>
              </a:ext>
            </a:extLst>
          </p:cNvPr>
          <p:cNvSpPr txBox="1"/>
          <p:nvPr/>
        </p:nvSpPr>
        <p:spPr>
          <a:xfrm>
            <a:off x="223024" y="1127455"/>
            <a:ext cx="7961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Central potential</a:t>
            </a:r>
            <a:r>
              <a:rPr lang="en-US" dirty="0">
                <a:sym typeface="Wingdings" panose="05000000000000000000" pitchFamily="2" charset="2"/>
              </a:rPr>
              <a:t> Partial Wave expansion of wave function</a:t>
            </a:r>
            <a:endParaRPr 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E2F059-198F-476B-8E0A-983765912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797" y="1809213"/>
            <a:ext cx="6011114" cy="77163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31063FC-FD22-43F9-B3C5-0F6A0E283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351" y="2810068"/>
            <a:ext cx="4553585" cy="80973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C53ECF1-0C70-4B92-9A1F-FB025E9305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534" y="4124001"/>
            <a:ext cx="4239217" cy="81926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ABF9B23-26FF-4431-B4E4-F3D3C23F1A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94015" y="4185922"/>
            <a:ext cx="1371791" cy="695422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FF0A5CAA-A373-424E-975F-C6711EE030B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36986" y="1809213"/>
            <a:ext cx="1991003" cy="94310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6DCF17E9-2DCF-4C29-B354-D20F716DAAE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534" y="5658793"/>
            <a:ext cx="6716062" cy="53347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A7E3AFA-9C06-4985-97D8-236BC6F45EDA}"/>
              </a:ext>
            </a:extLst>
          </p:cNvPr>
          <p:cNvSpPr txBox="1"/>
          <p:nvPr/>
        </p:nvSpPr>
        <p:spPr>
          <a:xfrm>
            <a:off x="648534" y="5218771"/>
            <a:ext cx="6558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Spherical Harmonics</a:t>
            </a:r>
          </a:p>
        </p:txBody>
      </p:sp>
    </p:spTree>
    <p:extLst>
      <p:ext uri="{BB962C8B-B14F-4D97-AF65-F5344CB8AC3E}">
        <p14:creationId xmlns:p14="http://schemas.microsoft.com/office/powerpoint/2010/main" val="3079061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Schrödinger equation for central potential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EDA0B76-B7CF-4BEA-AEA5-B677A6C80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71" y="1237355"/>
            <a:ext cx="6658904" cy="90500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707C8F3-FDC3-4AD0-8EE5-0E1B972E3B58}"/>
              </a:ext>
            </a:extLst>
          </p:cNvPr>
          <p:cNvSpPr txBox="1"/>
          <p:nvPr/>
        </p:nvSpPr>
        <p:spPr>
          <a:xfrm>
            <a:off x="1075624" y="4715645"/>
            <a:ext cx="650685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Radial equation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ß"/>
            </a:pPr>
            <a:r>
              <a:rPr lang="en-US" dirty="0">
                <a:sym typeface="Wingdings" panose="05000000000000000000" pitchFamily="2" charset="2"/>
              </a:rPr>
              <a:t>We changed 3-d equation into 1-d equation</a:t>
            </a:r>
          </a:p>
          <a:p>
            <a:pPr marL="285750" indent="-285750">
              <a:buFont typeface="Wingdings" panose="05000000000000000000" pitchFamily="2" charset="2"/>
              <a:buChar char="ß"/>
            </a:pPr>
            <a:endParaRPr lang="en-US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Full solution is a sum of different L solutions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Each L can be solved separately as 1-d equation.  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Easy !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9F7D0431-6C6F-4AE3-A961-A6736655C7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5624" y="2371356"/>
            <a:ext cx="3372321" cy="1047896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F01DFF34-E958-4E5A-9881-81B5BD4031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71" y="3509717"/>
            <a:ext cx="5144218" cy="1047896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B654251-3747-4709-A6EB-64BBFE5A5D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6924" y="3581008"/>
            <a:ext cx="1650735" cy="865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2644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Schrödinger equation for central potential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79D1A3B-30DE-4AB2-8F9B-D79AC6F0283F}"/>
              </a:ext>
            </a:extLst>
          </p:cNvPr>
          <p:cNvSpPr txBox="1"/>
          <p:nvPr/>
        </p:nvSpPr>
        <p:spPr>
          <a:xfrm>
            <a:off x="569581" y="1276800"/>
            <a:ext cx="956687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same S.E.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Bound State Solution ( E&lt; 0)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Discrete Energies : Not all E &lt;0 gives solution.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Wave function can be normalized : exponential decay of w.f.  at large distance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Scattering (unbound) State Solution ( E &gt; 0)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Continuous energies : All E &gt; 0 gives solutions.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Wave function is not normalized : no decay of w.f. at large distance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Same differential equation, but </a:t>
            </a:r>
            <a:r>
              <a:rPr lang="en-US" dirty="0">
                <a:solidFill>
                  <a:srgbClr val="FF0000"/>
                </a:solidFill>
              </a:rPr>
              <a:t>different boundary condition</a:t>
            </a:r>
            <a:r>
              <a:rPr lang="en-US" dirty="0"/>
              <a:t> !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452319FE-BB64-4C93-85A4-28DFAE362F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8799" y="1181506"/>
            <a:ext cx="4344006" cy="866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0778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Free wave (Spherical Bessel Function)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8798836-C6D2-4EDD-93FE-4982781AE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561" y="1801267"/>
            <a:ext cx="3820058" cy="102884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A67601F-A012-4DA3-8FDE-656F3C8D75DF}"/>
              </a:ext>
            </a:extLst>
          </p:cNvPr>
          <p:cNvSpPr txBox="1"/>
          <p:nvPr/>
        </p:nvSpPr>
        <p:spPr>
          <a:xfrm>
            <a:off x="557561" y="1220145"/>
            <a:ext cx="544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 interaction : V = 0 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C866160-60D3-409B-9854-3E0CB2112A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640" y="3034621"/>
            <a:ext cx="3219899" cy="36200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3224E54-0FB3-4194-AB9A-B13BCA8556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0579" y="1785130"/>
            <a:ext cx="4572638" cy="9907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60DA9C1-5CA9-4CD4-A9C3-0788F13982C2}"/>
              </a:ext>
            </a:extLst>
          </p:cNvPr>
          <p:cNvSpPr txBox="1"/>
          <p:nvPr/>
        </p:nvSpPr>
        <p:spPr>
          <a:xfrm>
            <a:off x="6397083" y="2830111"/>
            <a:ext cx="48396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Spherical Bessel equation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Solutions are 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spherical Bessel (Neuman) functions</a:t>
            </a:r>
            <a:r>
              <a:rPr lang="en-US" dirty="0">
                <a:sym typeface="Wingdings" panose="05000000000000000000" pitchFamily="2" charset="2"/>
              </a:rPr>
              <a:t>.</a:t>
            </a:r>
            <a:endParaRPr lang="en-US" dirty="0"/>
          </a:p>
        </p:txBody>
      </p:sp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9138E5D2-6D03-405A-9D72-13E0A3156DA3}"/>
              </a:ext>
            </a:extLst>
          </p:cNvPr>
          <p:cNvSpPr/>
          <p:nvPr/>
        </p:nvSpPr>
        <p:spPr>
          <a:xfrm>
            <a:off x="5044936" y="2196790"/>
            <a:ext cx="709093" cy="3693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51BA06F8-672E-4983-A055-06491D5B9F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0711" y="3977773"/>
            <a:ext cx="6842255" cy="260491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DE5E95B-ED0F-4BD9-A69B-2C70AD6706D6}"/>
              </a:ext>
            </a:extLst>
          </p:cNvPr>
          <p:cNvSpPr txBox="1"/>
          <p:nvPr/>
        </p:nvSpPr>
        <p:spPr>
          <a:xfrm>
            <a:off x="557561" y="4293220"/>
            <a:ext cx="356510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Any combination of </a:t>
            </a:r>
          </a:p>
          <a:p>
            <a:r>
              <a:rPr lang="en-US" dirty="0"/>
              <a:t>Spherical Bessel function </a:t>
            </a:r>
          </a:p>
          <a:p>
            <a:r>
              <a:rPr lang="en-US" dirty="0"/>
              <a:t>And Neuman function is </a:t>
            </a:r>
          </a:p>
          <a:p>
            <a:r>
              <a:rPr lang="en-US" dirty="0"/>
              <a:t>a solution of the equation</a:t>
            </a:r>
          </a:p>
          <a:p>
            <a:endParaRPr lang="en-US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Boundary condition</a:t>
            </a:r>
          </a:p>
          <a:p>
            <a:r>
              <a:rPr lang="en-US" dirty="0">
                <a:sym typeface="Wingdings" panose="05000000000000000000" pitchFamily="2" charset="2"/>
              </a:rPr>
              <a:t> determines the specific solution.</a:t>
            </a:r>
            <a:endParaRPr lang="en-US" dirty="0"/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0FB0E3BF-5399-4245-AB2D-1AA8AF02D993}"/>
              </a:ext>
            </a:extLst>
          </p:cNvPr>
          <p:cNvSpPr/>
          <p:nvPr/>
        </p:nvSpPr>
        <p:spPr>
          <a:xfrm rot="10800000">
            <a:off x="4122667" y="4708718"/>
            <a:ext cx="709093" cy="3693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1850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Phase Shift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7A475DF-2F5B-4322-84C5-9F1CFAD9EA27}"/>
              </a:ext>
            </a:extLst>
          </p:cNvPr>
          <p:cNvSpPr txBox="1"/>
          <p:nvPr/>
        </p:nvSpPr>
        <p:spPr>
          <a:xfrm>
            <a:off x="301083" y="1315844"/>
            <a:ext cx="101699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Nuclear interaction is short-range (finite range)</a:t>
            </a:r>
          </a:p>
          <a:p>
            <a:r>
              <a:rPr lang="en-US" dirty="0"/>
              <a:t>   </a:t>
            </a:r>
            <a:r>
              <a:rPr lang="en-US" dirty="0">
                <a:sym typeface="Wingdings" panose="05000000000000000000" pitchFamily="2" charset="2"/>
              </a:rPr>
              <a:t> Any solution with interaction behaves as like a free solution at large distance.</a:t>
            </a:r>
            <a:r>
              <a:rPr lang="en-US" dirty="0"/>
              <a:t> </a:t>
            </a:r>
          </a:p>
          <a:p>
            <a:r>
              <a:rPr lang="en-US" dirty="0"/>
              <a:t>   </a:t>
            </a:r>
            <a:r>
              <a:rPr lang="en-US" dirty="0">
                <a:sym typeface="Wingdings" panose="05000000000000000000" pitchFamily="2" charset="2"/>
              </a:rPr>
              <a:t> just shifted in phase. </a:t>
            </a:r>
            <a:endParaRPr lang="en-US" dirty="0"/>
          </a:p>
        </p:txBody>
      </p:sp>
      <p:pic>
        <p:nvPicPr>
          <p:cNvPr id="16" name="Picture 3">
            <a:extLst>
              <a:ext uri="{FF2B5EF4-FFF2-40B4-BE49-F238E27FC236}">
                <a16:creationId xmlns:a16="http://schemas.microsoft.com/office/drawing/2014/main" id="{A1993B74-DCF0-4977-9368-829708C782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85" y="2371576"/>
            <a:ext cx="5376389" cy="8592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F0E2C66-0AD0-40D9-AC25-B299572ED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8095" y="2267870"/>
            <a:ext cx="3562178" cy="90181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326641F-B5F0-451B-A46B-0FF7070DF5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711" y="3916953"/>
            <a:ext cx="6030167" cy="1133633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F88E1BF9-26AD-4501-BEDA-6FC84CDC6A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4936" y="5124465"/>
            <a:ext cx="3924848" cy="685896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37A1F7A1-4532-48C1-98A8-0FD9AF7A1CEE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32098"/>
          <a:stretch/>
        </p:blipFill>
        <p:spPr>
          <a:xfrm>
            <a:off x="394586" y="3640180"/>
            <a:ext cx="3448531" cy="2772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7968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Schrödinger equation for central potential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70DD197-E540-477D-B37A-12714217D1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20145"/>
            <a:ext cx="3648584" cy="484890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F31B323-7112-46A9-BA43-6CED96BFB2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4718" y="1283662"/>
            <a:ext cx="6172588" cy="400933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998C836-AD3B-4E52-9324-9900F140B80E}"/>
              </a:ext>
            </a:extLst>
          </p:cNvPr>
          <p:cNvSpPr txBox="1"/>
          <p:nvPr/>
        </p:nvSpPr>
        <p:spPr>
          <a:xfrm>
            <a:off x="3648584" y="5634506"/>
            <a:ext cx="78582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Phase shift contains all information</a:t>
            </a:r>
            <a:r>
              <a:rPr lang="en-US" dirty="0"/>
              <a:t> of the wave function at large distance.</a:t>
            </a:r>
          </a:p>
          <a:p>
            <a:endParaRPr lang="en-US" dirty="0"/>
          </a:p>
          <a:p>
            <a:r>
              <a:rPr lang="en-US" dirty="0"/>
              <a:t>How it is related to scattering amplitude? </a:t>
            </a:r>
          </a:p>
        </p:txBody>
      </p:sp>
    </p:spTree>
    <p:extLst>
      <p:ext uri="{BB962C8B-B14F-4D97-AF65-F5344CB8AC3E}">
        <p14:creationId xmlns:p14="http://schemas.microsoft.com/office/powerpoint/2010/main" val="38162955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Schrödinger equation for central potential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4" name="Picture 3">
            <a:extLst>
              <a:ext uri="{FF2B5EF4-FFF2-40B4-BE49-F238E27FC236}">
                <a16:creationId xmlns:a16="http://schemas.microsoft.com/office/drawing/2014/main" id="{28AF407C-6DB5-467D-96C9-31DE1AF8CC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3" y="1220145"/>
            <a:ext cx="3184990" cy="14449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4F30D847-606E-42C0-B2AA-245435CDC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553" y="2876931"/>
            <a:ext cx="3184990" cy="813483"/>
          </a:xfrm>
          <a:prstGeom prst="rect">
            <a:avLst/>
          </a:prstGeom>
        </p:spPr>
      </p:pic>
      <p:pic>
        <p:nvPicPr>
          <p:cNvPr id="31" name="Picture 2">
            <a:extLst>
              <a:ext uri="{FF2B5EF4-FFF2-40B4-BE49-F238E27FC236}">
                <a16:creationId xmlns:a16="http://schemas.microsoft.com/office/drawing/2014/main" id="{F9A8856A-E404-4809-9BF8-5A2D3EAEE2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1483" y="2455815"/>
            <a:ext cx="5813995" cy="19463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6EC19E80-CCFC-4A31-A3A0-50F0D2BD5B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553" y="4192860"/>
            <a:ext cx="4700127" cy="883594"/>
          </a:xfrm>
          <a:prstGeom prst="rect">
            <a:avLst/>
          </a:prstGeom>
        </p:spPr>
      </p:pic>
      <p:pic>
        <p:nvPicPr>
          <p:cNvPr id="34" name="Picture 4">
            <a:extLst>
              <a:ext uri="{FF2B5EF4-FFF2-40B4-BE49-F238E27FC236}">
                <a16:creationId xmlns:a16="http://schemas.microsoft.com/office/drawing/2014/main" id="{82BD33CC-96B4-4FDC-AC7A-8558CAF1B9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5584" y="5537258"/>
            <a:ext cx="5322348" cy="883593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F6FF1AF-E47C-4117-B935-10A5B55F347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9399" y="4844395"/>
            <a:ext cx="1638529" cy="62873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09F685-876F-4246-B218-CF446A9E247D}"/>
              </a:ext>
            </a:extLst>
          </p:cNvPr>
          <p:cNvSpPr txBox="1"/>
          <p:nvPr/>
        </p:nvSpPr>
        <p:spPr>
          <a:xfrm>
            <a:off x="8463776" y="5005954"/>
            <a:ext cx="1918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S-matrix</a:t>
            </a: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8469BA28-7D32-4399-A795-A81E1C31A51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199" y="5225856"/>
            <a:ext cx="2836127" cy="78346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8B7B46D3-44A0-4B5E-A3CD-BDA8E56E74C5}"/>
              </a:ext>
            </a:extLst>
          </p:cNvPr>
          <p:cNvSpPr/>
          <p:nvPr/>
        </p:nvSpPr>
        <p:spPr>
          <a:xfrm>
            <a:off x="4618261" y="3060441"/>
            <a:ext cx="479503" cy="29550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4550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Schrödinger equation for central potential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FFDDF26-C860-4ED0-86A0-5D69455954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652" y="2455742"/>
            <a:ext cx="5182323" cy="124794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C21BF10-5ADF-4E69-99FF-2B03200BDB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21" y="3738487"/>
            <a:ext cx="6220693" cy="1028844"/>
          </a:xfrm>
          <a:prstGeom prst="rect">
            <a:avLst/>
          </a:prstGeom>
        </p:spPr>
      </p:pic>
      <p:pic>
        <p:nvPicPr>
          <p:cNvPr id="15" name="Picture 4">
            <a:extLst>
              <a:ext uri="{FF2B5EF4-FFF2-40B4-BE49-F238E27FC236}">
                <a16:creationId xmlns:a16="http://schemas.microsoft.com/office/drawing/2014/main" id="{FD583EFE-A4BD-4709-9EAC-4EA23A809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652" y="1265823"/>
            <a:ext cx="5322348" cy="883593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59713B0-3BA0-4290-90F9-B4BC55DB21F1}"/>
              </a:ext>
            </a:extLst>
          </p:cNvPr>
          <p:cNvSpPr txBox="1"/>
          <p:nvPr/>
        </p:nvSpPr>
        <p:spPr>
          <a:xfrm>
            <a:off x="7426711" y="4068243"/>
            <a:ext cx="34791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Total (elastic) cross section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BBD0E235-3136-4930-9E35-5AB208F57C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5672" y="5022178"/>
            <a:ext cx="3115110" cy="1400370"/>
          </a:xfrm>
          <a:prstGeom prst="rect">
            <a:avLst/>
          </a:prstGeom>
        </p:spPr>
      </p:pic>
      <p:pic>
        <p:nvPicPr>
          <p:cNvPr id="19" name="Picture 3">
            <a:extLst>
              <a:ext uri="{FF2B5EF4-FFF2-40B4-BE49-F238E27FC236}">
                <a16:creationId xmlns:a16="http://schemas.microsoft.com/office/drawing/2014/main" id="{350B1813-52A7-4629-AB8F-AD9D843596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293" y="5292762"/>
            <a:ext cx="5376389" cy="8592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771863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Differential equation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23D7E9D9-8CAB-4803-813A-8C03CC0C00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825" y="1177114"/>
            <a:ext cx="3841478" cy="7575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3">
            <a:extLst>
              <a:ext uri="{FF2B5EF4-FFF2-40B4-BE49-F238E27FC236}">
                <a16:creationId xmlns:a16="http://schemas.microsoft.com/office/drawing/2014/main" id="{18002372-009B-4C82-B768-5756425B93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345" y="1906506"/>
            <a:ext cx="5291138" cy="8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F5F75EB3-71EF-4F6B-94AA-53BD1E6340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052" y="4125680"/>
            <a:ext cx="30099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" name="Picture 3">
            <a:extLst>
              <a:ext uri="{FF2B5EF4-FFF2-40B4-BE49-F238E27FC236}">
                <a16:creationId xmlns:a16="http://schemas.microsoft.com/office/drawing/2014/main" id="{D0BACE5F-B9E1-40F1-838D-C6329175CD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571" y="4835812"/>
            <a:ext cx="2247900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E53B0E-6AC5-4C8B-BDDF-8B91D6B65A33}"/>
              </a:ext>
            </a:extLst>
          </p:cNvPr>
          <p:cNvSpPr txBox="1"/>
          <p:nvPr/>
        </p:nvSpPr>
        <p:spPr>
          <a:xfrm>
            <a:off x="700345" y="2920843"/>
            <a:ext cx="77409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Numerical solution from </a:t>
            </a:r>
            <a:r>
              <a:rPr lang="en-US" dirty="0" err="1"/>
              <a:t>Numerov</a:t>
            </a:r>
            <a:r>
              <a:rPr lang="en-US" dirty="0"/>
              <a:t>, or RK4 methods. </a:t>
            </a:r>
          </a:p>
          <a:p>
            <a:endParaRPr lang="en-US" dirty="0"/>
          </a:p>
          <a:p>
            <a:r>
              <a:rPr lang="en-US" dirty="0"/>
              <a:t>Initial Value: one can use arbitrary values for scattering problem.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99888F8-002F-4E26-A97E-00352A0859C0}"/>
              </a:ext>
            </a:extLst>
          </p:cNvPr>
          <p:cNvSpPr txBox="1"/>
          <p:nvPr/>
        </p:nvSpPr>
        <p:spPr>
          <a:xfrm>
            <a:off x="3800984" y="4835812"/>
            <a:ext cx="24879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Internal solution </a:t>
            </a:r>
            <a:r>
              <a:rPr lang="en-US" dirty="0"/>
              <a:t>r &lt; a.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5AC7EA-FE33-4B11-ABDB-C3DC99EFE08F}"/>
              </a:ext>
            </a:extLst>
          </p:cNvPr>
          <p:cNvSpPr txBox="1"/>
          <p:nvPr/>
        </p:nvSpPr>
        <p:spPr>
          <a:xfrm>
            <a:off x="886540" y="5497315"/>
            <a:ext cx="80197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want to determine phase shift from the wave function solution. 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9A8A161E-A1A4-491B-87F6-B320FF3392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3052" y="6096076"/>
            <a:ext cx="4505954" cy="523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0487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Differential equation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1FF44291-3E41-466F-85D2-03FF9F113507}"/>
              </a:ext>
            </a:extLst>
          </p:cNvPr>
          <p:cNvSpPr txBox="1"/>
          <p:nvPr/>
        </p:nvSpPr>
        <p:spPr>
          <a:xfrm>
            <a:off x="602166" y="1154682"/>
            <a:ext cx="9746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Because of r, it can be convenient to define </a:t>
            </a:r>
            <a:r>
              <a:rPr lang="en-US" dirty="0" err="1"/>
              <a:t>Ricatti</a:t>
            </a:r>
            <a:r>
              <a:rPr lang="en-US" dirty="0"/>
              <a:t>-Bessel, </a:t>
            </a:r>
            <a:r>
              <a:rPr lang="en-US" dirty="0" err="1"/>
              <a:t>Ricatti</a:t>
            </a:r>
            <a:r>
              <a:rPr lang="en-US" dirty="0"/>
              <a:t>-Hankel functions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229D010B-0230-4599-AEFB-85AB6D93E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166" y="1524014"/>
            <a:ext cx="6039693" cy="981212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49866F57-DD41-4B6C-A0B8-8760E04883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849" y="2747867"/>
            <a:ext cx="7487695" cy="136226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3E6C31E-A25F-4AE7-8997-37F7CADADE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849" y="4211928"/>
            <a:ext cx="5048955" cy="140037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87345CDC-C5C1-4AA4-934C-D93549F922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5749" y="4912113"/>
            <a:ext cx="3334215" cy="562053"/>
          </a:xfrm>
          <a:prstGeom prst="rect">
            <a:avLst/>
          </a:prstGeom>
          <a:ln>
            <a:solidFill>
              <a:srgbClr val="004098"/>
            </a:solidFill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7EA0F4A-B629-4D77-A04F-F9433E781A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3287" y="5788840"/>
            <a:ext cx="5896798" cy="8573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38369D3-D433-4C68-9617-940F491DE926}"/>
              </a:ext>
            </a:extLst>
          </p:cNvPr>
          <p:cNvSpPr txBox="1"/>
          <p:nvPr/>
        </p:nvSpPr>
        <p:spPr>
          <a:xfrm>
            <a:off x="9252963" y="5518652"/>
            <a:ext cx="2216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Scipy</a:t>
            </a:r>
            <a:r>
              <a:rPr lang="en-US" dirty="0"/>
              <a:t> convention</a:t>
            </a:r>
          </a:p>
        </p:txBody>
      </p:sp>
    </p:spTree>
    <p:extLst>
      <p:ext uri="{BB962C8B-B14F-4D97-AF65-F5344CB8AC3E}">
        <p14:creationId xmlns:p14="http://schemas.microsoft.com/office/powerpoint/2010/main" val="17957265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Differential equation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229D010B-0230-4599-AEFB-85AB6D93E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51" y="1400964"/>
            <a:ext cx="6039693" cy="98121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73DAD3F-BD29-41C1-9D01-DB20ADA30C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477" y="2460146"/>
            <a:ext cx="5909368" cy="170129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24156B8-616B-4D04-A52B-7753E787CE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151" y="4423217"/>
            <a:ext cx="5724229" cy="9484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E0DB85-D035-4586-AB19-73858F03303D}"/>
              </a:ext>
            </a:extLst>
          </p:cNvPr>
          <p:cNvSpPr txBox="1"/>
          <p:nvPr/>
        </p:nvSpPr>
        <p:spPr>
          <a:xfrm>
            <a:off x="6537844" y="4533706"/>
            <a:ext cx="34280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S-matrix is unknown yet. </a:t>
            </a:r>
          </a:p>
          <a:p>
            <a:r>
              <a:rPr lang="en-US" dirty="0"/>
              <a:t>We want to get S-matrix from </a:t>
            </a:r>
          </a:p>
          <a:p>
            <a:r>
              <a:rPr lang="en-US" dirty="0"/>
              <a:t>Boundary matching condition.</a:t>
            </a:r>
          </a:p>
        </p:txBody>
      </p:sp>
    </p:spTree>
    <p:extLst>
      <p:ext uri="{BB962C8B-B14F-4D97-AF65-F5344CB8AC3E}">
        <p14:creationId xmlns:p14="http://schemas.microsoft.com/office/powerpoint/2010/main" val="31750315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Differential equation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C12C36C7-DB5C-4BD5-9B9C-AA5B9D1CF0E0}"/>
              </a:ext>
            </a:extLst>
          </p:cNvPr>
          <p:cNvSpPr/>
          <p:nvPr/>
        </p:nvSpPr>
        <p:spPr>
          <a:xfrm>
            <a:off x="704554" y="3383325"/>
            <a:ext cx="557561" cy="3693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C4C9D87-85A6-4E62-A9C3-108579C20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4036" y="3015464"/>
            <a:ext cx="5696745" cy="110505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625C130-633A-4924-99C6-5098037AFC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838" y="1220145"/>
            <a:ext cx="5909368" cy="170129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12F0B13-D19C-4492-BE44-F8FF59ECE2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70" y="4647117"/>
            <a:ext cx="3096057" cy="9907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707F722-D763-486A-AB0E-27A0382B89EE}"/>
              </a:ext>
            </a:extLst>
          </p:cNvPr>
          <p:cNvSpPr txBox="1"/>
          <p:nvPr/>
        </p:nvSpPr>
        <p:spPr>
          <a:xfrm>
            <a:off x="923571" y="4120518"/>
            <a:ext cx="2076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R-matrix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2D043D0-E0DB-4F8E-AF3E-DEE7875F8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1805" y="4305184"/>
            <a:ext cx="5830114" cy="2333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6420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Differential equation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C12C36C7-DB5C-4BD5-9B9C-AA5B9D1CF0E0}"/>
              </a:ext>
            </a:extLst>
          </p:cNvPr>
          <p:cNvSpPr/>
          <p:nvPr/>
        </p:nvSpPr>
        <p:spPr>
          <a:xfrm>
            <a:off x="923571" y="1664679"/>
            <a:ext cx="557561" cy="3693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8D5E56-A967-4EB2-90E3-542E1C046B8E}"/>
              </a:ext>
            </a:extLst>
          </p:cNvPr>
          <p:cNvSpPr txBox="1"/>
          <p:nvPr/>
        </p:nvSpPr>
        <p:spPr>
          <a:xfrm>
            <a:off x="1025912" y="2826167"/>
            <a:ext cx="81403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can get </a:t>
            </a:r>
            <a:r>
              <a:rPr lang="en-US" dirty="0" err="1"/>
              <a:t>gamma_l</a:t>
            </a:r>
            <a:r>
              <a:rPr lang="en-US" dirty="0"/>
              <a:t> from numerical solution.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562718A-E78D-4E77-8339-BCB3E70C1D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712" y="1127090"/>
            <a:ext cx="6554115" cy="160042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D93DA47-E98E-49E7-84D6-A66A93DE38C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38156" b="56796"/>
          <a:stretch/>
        </p:blipFill>
        <p:spPr>
          <a:xfrm>
            <a:off x="2159619" y="3429000"/>
            <a:ext cx="3605561" cy="1008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4355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Scattering problem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FDB940A-3D5B-44CE-A53B-C1978F8716F5}"/>
              </a:ext>
            </a:extLst>
          </p:cNvPr>
          <p:cNvSpPr txBox="1"/>
          <p:nvPr/>
        </p:nvSpPr>
        <p:spPr>
          <a:xfrm>
            <a:off x="923571" y="1558963"/>
            <a:ext cx="88672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solving radial Schrodinger equation for each L </a:t>
            </a:r>
          </a:p>
          <a:p>
            <a:r>
              <a:rPr lang="en-US" dirty="0">
                <a:sym typeface="Wingdings" panose="05000000000000000000" pitchFamily="2" charset="2"/>
              </a:rPr>
              <a:t>      numerical integration methods (</a:t>
            </a:r>
            <a:r>
              <a:rPr lang="en-US" dirty="0" err="1">
                <a:sym typeface="Wingdings" panose="05000000000000000000" pitchFamily="2" charset="2"/>
              </a:rPr>
              <a:t>Numerov</a:t>
            </a:r>
            <a:r>
              <a:rPr lang="en-US" dirty="0">
                <a:sym typeface="Wingdings" panose="05000000000000000000" pitchFamily="2" charset="2"/>
              </a:rPr>
              <a:t>, RK4 …) </a:t>
            </a:r>
          </a:p>
          <a:p>
            <a:pPr marL="342900" indent="-342900">
              <a:buAutoNum type="arabicPeriod"/>
            </a:pPr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2. Match boundary condition to determine phase shift for L</a:t>
            </a:r>
          </a:p>
          <a:p>
            <a:pPr marL="342900" indent="-342900">
              <a:buAutoNum type="arabicPeriod"/>
            </a:pPr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3. Compute cross section by summing each L contributions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7E4A837-40A3-4678-A331-E26304CD4BBF}"/>
              </a:ext>
            </a:extLst>
          </p:cNvPr>
          <p:cNvSpPr txBox="1"/>
          <p:nvPr/>
        </p:nvSpPr>
        <p:spPr>
          <a:xfrm>
            <a:off x="1025912" y="3863898"/>
            <a:ext cx="8296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Here, let us use RK4 method for ordinary differential equation. </a:t>
            </a:r>
          </a:p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144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Code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9CF1138-12A2-4AF4-8875-B8EEC7E4BC5B}"/>
              </a:ext>
            </a:extLst>
          </p:cNvPr>
          <p:cNvSpPr txBox="1"/>
          <p:nvPr/>
        </p:nvSpPr>
        <p:spPr>
          <a:xfrm>
            <a:off x="535259" y="1360449"/>
            <a:ext cx="947853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Here we do not focus on the </a:t>
            </a:r>
            <a:r>
              <a:rPr lang="en-US" dirty="0">
                <a:solidFill>
                  <a:srgbClr val="00B0F0"/>
                </a:solidFill>
              </a:rPr>
              <a:t>numerical algorithm</a:t>
            </a:r>
            <a:r>
              <a:rPr lang="en-US" dirty="0"/>
              <a:t>, </a:t>
            </a:r>
            <a:r>
              <a:rPr lang="en-US" altLang="ko-KR" dirty="0"/>
              <a:t>but</a:t>
            </a:r>
            <a:r>
              <a:rPr lang="ko-KR" altLang="en-US" dirty="0"/>
              <a:t> </a:t>
            </a:r>
            <a:r>
              <a:rPr lang="en-US" altLang="ko-KR" dirty="0"/>
              <a:t>develop a code to solve the scattering problem.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Let us use </a:t>
            </a:r>
            <a:r>
              <a:rPr lang="en-US" dirty="0">
                <a:solidFill>
                  <a:srgbClr val="FF0000"/>
                </a:solidFill>
              </a:rPr>
              <a:t>python and </a:t>
            </a:r>
            <a:r>
              <a:rPr lang="en-US" dirty="0" err="1">
                <a:solidFill>
                  <a:srgbClr val="FF0000"/>
                </a:solidFill>
              </a:rPr>
              <a:t>scipy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package.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Spherical</a:t>
            </a:r>
            <a:r>
              <a:rPr lang="ko-KR" altLang="en-US" dirty="0"/>
              <a:t> </a:t>
            </a:r>
            <a:r>
              <a:rPr lang="en-US" altLang="ko-KR" dirty="0"/>
              <a:t>Bessel</a:t>
            </a:r>
            <a:r>
              <a:rPr lang="ko-KR" altLang="en-US" dirty="0"/>
              <a:t> </a:t>
            </a:r>
            <a:r>
              <a:rPr lang="en-US" altLang="ko-KR" dirty="0"/>
              <a:t>Function</a:t>
            </a:r>
            <a:r>
              <a:rPr lang="ko-KR" altLang="en-US" dirty="0"/>
              <a:t> </a:t>
            </a:r>
            <a:r>
              <a:rPr lang="en-US" altLang="ko-KR" dirty="0"/>
              <a:t>is</a:t>
            </a:r>
            <a:r>
              <a:rPr lang="ko-KR" altLang="en-US" dirty="0"/>
              <a:t> </a:t>
            </a:r>
            <a:r>
              <a:rPr lang="en-US" altLang="ko-KR" dirty="0"/>
              <a:t>available</a:t>
            </a:r>
            <a:r>
              <a:rPr lang="ko-KR" altLang="en-US" dirty="0"/>
              <a:t> </a:t>
            </a:r>
            <a:r>
              <a:rPr lang="en-US" altLang="ko-KR" dirty="0"/>
              <a:t>in</a:t>
            </a:r>
            <a:r>
              <a:rPr lang="ko-KR" altLang="en-US" dirty="0"/>
              <a:t> </a:t>
            </a:r>
            <a:r>
              <a:rPr lang="en-US" altLang="ko-KR" dirty="0" err="1"/>
              <a:t>scipy.special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ODE solver is available in </a:t>
            </a:r>
            <a:r>
              <a:rPr lang="en-US" dirty="0" err="1"/>
              <a:t>scipy.integrate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Keep in mind of units : Let us use natural units and everything in fermi (and its powers).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1831240-944D-4FB8-841D-42667379A3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71" y="3535127"/>
            <a:ext cx="6324965" cy="2486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821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Code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2C1B66E-CE47-4673-9457-CCD25A2D19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1548" y="1499331"/>
            <a:ext cx="5332938" cy="3050772"/>
          </a:xfrm>
          <a:prstGeom prst="rect">
            <a:avLst/>
          </a:prstGeom>
        </p:spPr>
      </p:pic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C47A52BA-DD59-45DC-A6CC-E72D12A0B60C}"/>
              </a:ext>
            </a:extLst>
          </p:cNvPr>
          <p:cNvSpPr/>
          <p:nvPr/>
        </p:nvSpPr>
        <p:spPr>
          <a:xfrm>
            <a:off x="8084634" y="2341756"/>
            <a:ext cx="289932" cy="35683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0D7E8BF6-03F4-4691-8AE7-A01CC5D218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02" y="1220145"/>
            <a:ext cx="5089541" cy="180457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AF772156-B8E9-45E0-BDED-7B9B927300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302" y="3236507"/>
            <a:ext cx="6139246" cy="1510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3002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Code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266118C-8EE4-41C5-B588-9A79966883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072" y="1147662"/>
            <a:ext cx="6723650" cy="323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9874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Code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CA9C643-2009-4C1A-8B5B-C95CB48D0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242" y="1476622"/>
            <a:ext cx="6496957" cy="3534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1349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Code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AB8FC074-6C8F-4B70-893D-4B22757129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71" y="1268567"/>
            <a:ext cx="4595566" cy="537764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530FDAD9-8E18-4A5D-BF89-F3EBF028E3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4274" y="1754278"/>
            <a:ext cx="5858693" cy="2591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4588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Code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9D2A68C-5844-4472-B6CE-9F71233F354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344" b="71314"/>
          <a:stretch/>
        </p:blipFill>
        <p:spPr>
          <a:xfrm>
            <a:off x="5831683" y="1406325"/>
            <a:ext cx="5598317" cy="100835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1119269-9C07-4D0F-91D9-68DAAA4FAB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1483" y="3474883"/>
            <a:ext cx="2648320" cy="52394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91BA2D-905C-4715-AD71-6761178C8255}"/>
              </a:ext>
            </a:extLst>
          </p:cNvPr>
          <p:cNvSpPr txBox="1"/>
          <p:nvPr/>
        </p:nvSpPr>
        <p:spPr>
          <a:xfrm>
            <a:off x="5991483" y="2932771"/>
            <a:ext cx="2817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Initial condition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9DB561-34FA-49AE-9659-2DF843F4F436}"/>
              </a:ext>
            </a:extLst>
          </p:cNvPr>
          <p:cNvSpPr txBox="1"/>
          <p:nvPr/>
        </p:nvSpPr>
        <p:spPr>
          <a:xfrm>
            <a:off x="6177776" y="4248615"/>
            <a:ext cx="547524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Scattering</a:t>
            </a:r>
            <a:r>
              <a:rPr lang="en-US" dirty="0"/>
              <a:t> problem: one can</a:t>
            </a:r>
            <a:r>
              <a:rPr lang="ko-KR" altLang="en-US" dirty="0"/>
              <a:t> </a:t>
            </a:r>
            <a:r>
              <a:rPr lang="en-US" altLang="ko-KR" dirty="0"/>
              <a:t>choose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FF0000"/>
                </a:solidFill>
              </a:rPr>
              <a:t>arbitrary</a:t>
            </a:r>
            <a:r>
              <a:rPr lang="en-US" altLang="ko-KR" dirty="0"/>
              <a:t> values for initial condition.</a:t>
            </a:r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Bound state </a:t>
            </a:r>
            <a:r>
              <a:rPr lang="en-US" dirty="0"/>
              <a:t>problem: one have to search </a:t>
            </a:r>
          </a:p>
          <a:p>
            <a:r>
              <a:rPr lang="en-US" dirty="0">
                <a:solidFill>
                  <a:srgbClr val="FF0000"/>
                </a:solidFill>
              </a:rPr>
              <a:t>   correct</a:t>
            </a:r>
            <a:r>
              <a:rPr lang="en-US" dirty="0"/>
              <a:t> initial condition which gives bound state solution.  (shooting method.)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2074AED-E7FE-4BF2-8101-E9895D5313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531" y="1245444"/>
            <a:ext cx="5452507" cy="3743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452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Code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5449C98-91C0-44DF-A05C-F07135A543F4}"/>
              </a:ext>
            </a:extLst>
          </p:cNvPr>
          <p:cNvSpPr txBox="1"/>
          <p:nvPr/>
        </p:nvSpPr>
        <p:spPr>
          <a:xfrm>
            <a:off x="7125226" y="1377604"/>
            <a:ext cx="5066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Solve matching condition for S-matrix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4BBAE71-7A66-4607-BA16-F75DDDE275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001" y="1372412"/>
            <a:ext cx="4424752" cy="450694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7329D8F-E931-4BFC-B894-BA7168BF6E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4439" y="2035322"/>
            <a:ext cx="3096057" cy="99073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37E386B-C38E-418B-B675-CB1B238ADC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6885" y="3146445"/>
            <a:ext cx="5830114" cy="2333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8165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Code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9D4890F1-2DB7-47DC-84E7-8FC449AD9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383" y="1346222"/>
            <a:ext cx="5315692" cy="244826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62FADAE-3512-405B-BBE7-B743EC1A74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8960" y="1866363"/>
            <a:ext cx="4734684" cy="783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6179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Code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B4BBDE1-3E75-4B5C-82E0-4FE34ED596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88" y="1433855"/>
            <a:ext cx="4894951" cy="36206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CE000BD-DE1A-409F-98AA-6B3017B3B2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767976"/>
            <a:ext cx="5182323" cy="1247949"/>
          </a:xfrm>
          <a:prstGeom prst="rect">
            <a:avLst/>
          </a:prstGeom>
        </p:spPr>
      </p:pic>
      <p:pic>
        <p:nvPicPr>
          <p:cNvPr id="10" name="Picture 4">
            <a:extLst>
              <a:ext uri="{FF2B5EF4-FFF2-40B4-BE49-F238E27FC236}">
                <a16:creationId xmlns:a16="http://schemas.microsoft.com/office/drawing/2014/main" id="{0F09E03E-1E2D-4A7B-BBB0-C95ECBF0E8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578057"/>
            <a:ext cx="5322348" cy="883593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30098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Code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30F257A6-85C4-4179-A9D4-661B9BD1A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3503" y="2041599"/>
            <a:ext cx="9307593" cy="303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1686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빛, 우주, 스크린샷, 일렉트릭 블루이(가) 표시된 사진&#10;&#10;자동 생성된 설명">
            <a:extLst>
              <a:ext uri="{FF2B5EF4-FFF2-40B4-BE49-F238E27FC236}">
                <a16:creationId xmlns:a16="http://schemas.microsoft.com/office/drawing/2014/main" id="{D1E24FB7-B379-E35B-C045-142C05A3C77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4178" b="41771"/>
          <a:stretch/>
        </p:blipFill>
        <p:spPr>
          <a:xfrm>
            <a:off x="0" y="1"/>
            <a:ext cx="12192000" cy="1675616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BC0E2BE3-85A1-8B59-C7D1-646A89DD5721}"/>
              </a:ext>
            </a:extLst>
          </p:cNvPr>
          <p:cNvSpPr/>
          <p:nvPr/>
        </p:nvSpPr>
        <p:spPr>
          <a:xfrm>
            <a:off x="0" y="1675617"/>
            <a:ext cx="12192000" cy="5201634"/>
          </a:xfrm>
          <a:prstGeom prst="rect">
            <a:avLst/>
          </a:prstGeom>
          <a:solidFill>
            <a:srgbClr val="004098">
              <a:alpha val="89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6719FA-86E2-B139-2CAD-DDCBFF492781}"/>
              </a:ext>
            </a:extLst>
          </p:cNvPr>
          <p:cNvSpPr txBox="1"/>
          <p:nvPr/>
        </p:nvSpPr>
        <p:spPr>
          <a:xfrm>
            <a:off x="819830" y="2556417"/>
            <a:ext cx="1008606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Numerical</a:t>
            </a:r>
            <a:r>
              <a:rPr lang="ko-KR" altLang="en-US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Quantum</a:t>
            </a:r>
            <a:r>
              <a:rPr lang="ko-KR" altLang="en-US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Mechanics:</a:t>
            </a:r>
          </a:p>
          <a:p>
            <a:r>
              <a:rPr lang="en-US" altLang="ko-KR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Harmonic Oscillator</a:t>
            </a:r>
            <a:endParaRPr lang="ko-KR" altLang="en-US" sz="4400" dirty="0">
              <a:solidFill>
                <a:schemeClr val="bg1"/>
              </a:solidFill>
              <a:ea typeface="SUIT ExtraBold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786282-5402-7A3C-32C6-7A2741493667}"/>
              </a:ext>
            </a:extLst>
          </p:cNvPr>
          <p:cNvSpPr txBox="1"/>
          <p:nvPr/>
        </p:nvSpPr>
        <p:spPr>
          <a:xfrm>
            <a:off x="819829" y="4474497"/>
            <a:ext cx="104540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altLang="ko-KR" sz="2800" dirty="0">
                <a:solidFill>
                  <a:schemeClr val="bg1"/>
                </a:solidFill>
              </a:rPr>
              <a:t>Young-Ho Song (IRIS, IBS)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" name="그림 2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B4C5BB82-97A8-0197-3CE6-2D92FB4CC7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923" y="5936852"/>
            <a:ext cx="2340232" cy="4688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2786282-5402-7A3C-32C6-7A2741493667}"/>
              </a:ext>
            </a:extLst>
          </p:cNvPr>
          <p:cNvSpPr txBox="1"/>
          <p:nvPr/>
        </p:nvSpPr>
        <p:spPr>
          <a:xfrm>
            <a:off x="6490009" y="6171286"/>
            <a:ext cx="51072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dirty="0">
                <a:solidFill>
                  <a:schemeClr val="bg1"/>
                </a:solidFill>
              </a:rPr>
              <a:t>2026.03.31. Yonsei University</a:t>
            </a:r>
          </a:p>
        </p:txBody>
      </p:sp>
    </p:spTree>
    <p:extLst>
      <p:ext uri="{BB962C8B-B14F-4D97-AF65-F5344CB8AC3E}">
        <p14:creationId xmlns:p14="http://schemas.microsoft.com/office/powerpoint/2010/main" val="182254994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Basis expansion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66BC3F8-9142-4619-95A3-AE5F5D43DF3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344" b="71314"/>
          <a:stretch/>
        </p:blipFill>
        <p:spPr>
          <a:xfrm>
            <a:off x="497683" y="1339418"/>
            <a:ext cx="5598317" cy="100835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762954F-98D9-4545-9D91-05996B2EA392}"/>
              </a:ext>
            </a:extLst>
          </p:cNvPr>
          <p:cNvSpPr txBox="1"/>
          <p:nvPr/>
        </p:nvSpPr>
        <p:spPr>
          <a:xfrm>
            <a:off x="579863" y="2587083"/>
            <a:ext cx="820729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same radial equation describes both bound state and scattering state.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solved Sch. Eq. as differential equation for each (L, E).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Bound state : we search binding energy which satisfies boundary condition. </a:t>
            </a:r>
          </a:p>
          <a:p>
            <a:r>
              <a:rPr lang="en-US" dirty="0"/>
              <a:t>                   </a:t>
            </a:r>
            <a:r>
              <a:rPr lang="en-US" dirty="0">
                <a:sym typeface="Wingdings" panose="05000000000000000000" pitchFamily="2" charset="2"/>
              </a:rPr>
              <a:t> Shooting method.</a:t>
            </a:r>
            <a:endParaRPr lang="en-US" dirty="0"/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can solve the same problem as </a:t>
            </a:r>
            <a:r>
              <a:rPr lang="en-US" dirty="0">
                <a:solidFill>
                  <a:srgbClr val="FF0000"/>
                </a:solidFill>
              </a:rPr>
              <a:t>matrix eigenvalue problem </a:t>
            </a:r>
            <a:r>
              <a:rPr lang="en-US" altLang="ko-KR" dirty="0">
                <a:solidFill>
                  <a:srgbClr val="FF0000"/>
                </a:solidFill>
              </a:rPr>
              <a:t>or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variational method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8278823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Basis expansion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C3FB3B9F-74FB-4ED1-8918-CF6A71280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71" y="1270325"/>
            <a:ext cx="1991003" cy="5906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AFCF5BF-A857-4B0A-B59C-27DA59D842FB}"/>
              </a:ext>
            </a:extLst>
          </p:cNvPr>
          <p:cNvSpPr txBox="1"/>
          <p:nvPr/>
        </p:nvSpPr>
        <p:spPr>
          <a:xfrm>
            <a:off x="923571" y="2163337"/>
            <a:ext cx="6101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Suppose the </a:t>
            </a:r>
            <a:r>
              <a:rPr lang="en-US" dirty="0">
                <a:solidFill>
                  <a:srgbClr val="FF0000"/>
                </a:solidFill>
              </a:rPr>
              <a:t>ortho-normal basis </a:t>
            </a:r>
            <a:r>
              <a:rPr lang="en-US" dirty="0"/>
              <a:t>function exists,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16C57E2-DD30-4264-A1E7-96390749DE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71" y="2725492"/>
            <a:ext cx="4467849" cy="96215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D6388F7-D817-467C-B620-3B02290CDC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71" y="3693227"/>
            <a:ext cx="8135485" cy="9526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72C3A1A-E2D1-4280-A320-7EBCBDEF5D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71" y="4645860"/>
            <a:ext cx="2286319" cy="65731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0578D00-9F42-40D1-86E6-063E8507F5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939" y="5357927"/>
            <a:ext cx="4667901" cy="106694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7D5E44D-C667-4918-A943-7ED7F96E2572}"/>
              </a:ext>
            </a:extLst>
          </p:cNvPr>
          <p:cNvSpPr txBox="1"/>
          <p:nvPr/>
        </p:nvSpPr>
        <p:spPr>
          <a:xfrm>
            <a:off x="6096000" y="5653668"/>
            <a:ext cx="49325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Matrix eigenvalue problem</a:t>
            </a:r>
          </a:p>
        </p:txBody>
      </p:sp>
    </p:spTree>
    <p:extLst>
      <p:ext uri="{BB962C8B-B14F-4D97-AF65-F5344CB8AC3E}">
        <p14:creationId xmlns:p14="http://schemas.microsoft.com/office/powerpoint/2010/main" val="8371091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Variational theorem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FAB399-6E5A-48AD-952A-D3E039859D46}"/>
              </a:ext>
            </a:extLst>
          </p:cNvPr>
          <p:cNvSpPr txBox="1"/>
          <p:nvPr/>
        </p:nvSpPr>
        <p:spPr>
          <a:xfrm>
            <a:off x="602165" y="1226634"/>
            <a:ext cx="89544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Infinite number of basis function </a:t>
            </a:r>
            <a:r>
              <a:rPr lang="en-US" dirty="0">
                <a:sym typeface="Wingdings" panose="05000000000000000000" pitchFamily="2" charset="2"/>
              </a:rPr>
              <a:t> Exact, not practical </a:t>
            </a:r>
          </a:p>
          <a:p>
            <a:r>
              <a:rPr lang="en-US" dirty="0">
                <a:sym typeface="Wingdings" panose="05000000000000000000" pitchFamily="2" charset="2"/>
              </a:rPr>
              <a:t>Finite number of basis function    Approximation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Variational Theorem</a:t>
            </a:r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879D8C0-2DE4-4908-96CD-8B1BDB99D7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165" y="2747692"/>
            <a:ext cx="7030431" cy="221010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4CD9C75-53BC-4B05-96B6-E1268F069E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112" y="1217119"/>
            <a:ext cx="2353003" cy="1209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83680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1d Coordinate</a:t>
            </a:r>
            <a:r>
              <a:rPr lang="ko-KR" altLang="en-US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 </a:t>
            </a:r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basis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ADD775F-8DEF-462C-B4C2-01E3E76FF394}"/>
              </a:ext>
            </a:extLst>
          </p:cNvPr>
          <p:cNvSpPr txBox="1"/>
          <p:nvPr/>
        </p:nvSpPr>
        <p:spPr>
          <a:xfrm>
            <a:off x="814039" y="1326995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In</a:t>
            </a:r>
            <a:r>
              <a:rPr lang="ko-KR" altLang="en-US" dirty="0"/>
              <a:t> </a:t>
            </a:r>
            <a:r>
              <a:rPr lang="en-US" altLang="ko-KR" dirty="0"/>
              <a:t>fact,</a:t>
            </a:r>
            <a:r>
              <a:rPr lang="ko-KR" altLang="en-US" dirty="0"/>
              <a:t> </a:t>
            </a:r>
            <a:r>
              <a:rPr lang="en-US" altLang="ko-KR" dirty="0"/>
              <a:t>coordinate</a:t>
            </a:r>
            <a:r>
              <a:rPr lang="ko-KR" altLang="en-US" dirty="0"/>
              <a:t> </a:t>
            </a:r>
            <a:r>
              <a:rPr lang="en-US" altLang="ko-KR" dirty="0"/>
              <a:t>space wave function can be </a:t>
            </a:r>
          </a:p>
          <a:p>
            <a:r>
              <a:rPr lang="en-US" altLang="ko-KR" dirty="0"/>
              <a:t>Considered as a kind of basis expansion.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ABDA04E-2A93-4779-8636-EF87E806D6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952" y="2185908"/>
            <a:ext cx="4391638" cy="111458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69726467-2927-40E5-8F59-ECAA48AFB8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3426" y="3513071"/>
            <a:ext cx="7078063" cy="100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8928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1d Coordinate</a:t>
            </a:r>
            <a:r>
              <a:rPr lang="ko-KR" altLang="en-US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 </a:t>
            </a:r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basis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9FF5BAC7-BC57-4FF2-B97D-22481D7E3F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274800"/>
            <a:ext cx="5344271" cy="100979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832DB39-D2E3-4999-9B12-23680BB2A5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1483" y="2676348"/>
            <a:ext cx="5801535" cy="100026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7E379EE-F45C-47C7-9084-B84E9B9889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0054" y="4311813"/>
            <a:ext cx="6401693" cy="12193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13A90CC-8080-4A81-805E-7F3DBEC5B794}"/>
              </a:ext>
            </a:extLst>
          </p:cNvPr>
          <p:cNvSpPr txBox="1"/>
          <p:nvPr/>
        </p:nvSpPr>
        <p:spPr>
          <a:xfrm>
            <a:off x="1103971" y="1449659"/>
            <a:ext cx="39586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Matrix elements of kinetic term: </a:t>
            </a:r>
          </a:p>
          <a:p>
            <a:r>
              <a:rPr lang="en-US" dirty="0"/>
              <a:t>   finite difference approximation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847F99-375D-4B3E-B664-F0876752E771}"/>
              </a:ext>
            </a:extLst>
          </p:cNvPr>
          <p:cNvSpPr txBox="1"/>
          <p:nvPr/>
        </p:nvSpPr>
        <p:spPr>
          <a:xfrm>
            <a:off x="836341" y="4694663"/>
            <a:ext cx="42263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Matrix elements of potential term:</a:t>
            </a:r>
          </a:p>
          <a:p>
            <a:r>
              <a:rPr lang="en-US" dirty="0"/>
              <a:t>   local potential case</a:t>
            </a:r>
          </a:p>
        </p:txBody>
      </p:sp>
    </p:spTree>
    <p:extLst>
      <p:ext uri="{BB962C8B-B14F-4D97-AF65-F5344CB8AC3E}">
        <p14:creationId xmlns:p14="http://schemas.microsoft.com/office/powerpoint/2010/main" val="111546929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1d Coordinate</a:t>
            </a:r>
            <a:r>
              <a:rPr lang="ko-KR" altLang="en-US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 </a:t>
            </a:r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basis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C0ADB60A-CC61-45E1-AF6E-A555E58350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528" y="1933528"/>
            <a:ext cx="10347653" cy="217273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C72229EC-2658-4679-A92C-843FD76FDE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71" y="1220145"/>
            <a:ext cx="3982006" cy="37152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F61E27C-67F3-48FB-84E4-832BE7D8DC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528" y="4389906"/>
            <a:ext cx="3600953" cy="124794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30D7FE6-EC02-4C01-88C7-919DF356BB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4402" y="4340788"/>
            <a:ext cx="2391109" cy="83831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89A6C5A2-033F-435F-854A-FE0BC19797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64402" y="5247275"/>
            <a:ext cx="3124636" cy="781159"/>
          </a:xfrm>
          <a:prstGeom prst="rect">
            <a:avLst/>
          </a:prstGeom>
        </p:spPr>
      </p:pic>
      <p:sp>
        <p:nvSpPr>
          <p:cNvPr id="14" name="화살표: 오른쪽 13">
            <a:extLst>
              <a:ext uri="{FF2B5EF4-FFF2-40B4-BE49-F238E27FC236}">
                <a16:creationId xmlns:a16="http://schemas.microsoft.com/office/drawing/2014/main" id="{0823CEFF-0BE4-4008-BEFE-3FD2862DC1D9}"/>
              </a:ext>
            </a:extLst>
          </p:cNvPr>
          <p:cNvSpPr/>
          <p:nvPr/>
        </p:nvSpPr>
        <p:spPr>
          <a:xfrm>
            <a:off x="5274526" y="1300214"/>
            <a:ext cx="468351" cy="18576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2396A7-46EA-445A-9650-B11C6B026AAA}"/>
              </a:ext>
            </a:extLst>
          </p:cNvPr>
          <p:cNvSpPr txBox="1"/>
          <p:nvPr/>
        </p:nvSpPr>
        <p:spPr>
          <a:xfrm>
            <a:off x="5991483" y="1160095"/>
            <a:ext cx="44126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Bound state problem case. </a:t>
            </a:r>
          </a:p>
          <a:p>
            <a:r>
              <a:rPr lang="en-US" dirty="0"/>
              <a:t>Scattering problem is more complicate.</a:t>
            </a:r>
          </a:p>
        </p:txBody>
      </p:sp>
    </p:spTree>
    <p:extLst>
      <p:ext uri="{BB962C8B-B14F-4D97-AF65-F5344CB8AC3E}">
        <p14:creationId xmlns:p14="http://schemas.microsoft.com/office/powerpoint/2010/main" val="622193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1d Coordinate</a:t>
            </a:r>
            <a:r>
              <a:rPr lang="ko-KR" altLang="en-US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 </a:t>
            </a:r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basis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30D7FE6-EC02-4C01-88C7-919DF356B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836" y="1715386"/>
            <a:ext cx="2391109" cy="83831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9F96CB-DEE2-4623-BDA2-036A7760B738}"/>
              </a:ext>
            </a:extLst>
          </p:cNvPr>
          <p:cNvSpPr txBox="1"/>
          <p:nvPr/>
        </p:nvSpPr>
        <p:spPr>
          <a:xfrm>
            <a:off x="635620" y="1220145"/>
            <a:ext cx="7069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to solve matrix eigenvalue problem?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030BE0-42DF-43FA-B92D-647BD9F677CD}"/>
              </a:ext>
            </a:extLst>
          </p:cNvPr>
          <p:cNvSpPr txBox="1"/>
          <p:nvPr/>
        </p:nvSpPr>
        <p:spPr>
          <a:xfrm>
            <a:off x="775836" y="2832410"/>
            <a:ext cx="426451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There are many numerical algorithm </a:t>
            </a:r>
          </a:p>
          <a:p>
            <a:r>
              <a:rPr lang="en-US" dirty="0"/>
              <a:t>to solve the matrix eigenvalue problem</a:t>
            </a:r>
          </a:p>
          <a:p>
            <a:endParaRPr lang="en-US" dirty="0"/>
          </a:p>
          <a:p>
            <a:r>
              <a:rPr lang="en-US" dirty="0"/>
              <a:t>We are not going into details of each algorithm, but use </a:t>
            </a:r>
            <a:r>
              <a:rPr lang="en-US" dirty="0" err="1"/>
              <a:t>scipy</a:t>
            </a:r>
            <a:r>
              <a:rPr lang="en-US" dirty="0"/>
              <a:t> packages to solve the problem. </a:t>
            </a:r>
          </a:p>
          <a:p>
            <a:r>
              <a:rPr lang="en-US" dirty="0"/>
              <a:t> 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D46FB40-3024-45EE-9DC1-05D6956079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4642" y="1283662"/>
            <a:ext cx="6268325" cy="522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2717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1d Coordinate</a:t>
            </a:r>
            <a:r>
              <a:rPr lang="ko-KR" altLang="en-US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 </a:t>
            </a:r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basis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C423957B-6CBC-44CE-8124-181085D574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818" y="1321765"/>
            <a:ext cx="5728388" cy="377780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E33B8D7E-EF49-4238-AED6-AACB87818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401" y="2013461"/>
            <a:ext cx="5049458" cy="283107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1835648-1867-48F7-A71B-5DDF1A7C36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2123" y="4961103"/>
            <a:ext cx="5168357" cy="1621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0664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H.O. wave function 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8A4CD7E-4160-4BFC-9866-BA2C41FC1B7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64352"/>
          <a:stretch/>
        </p:blipFill>
        <p:spPr>
          <a:xfrm>
            <a:off x="1079689" y="2239714"/>
            <a:ext cx="2377190" cy="78115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DBB6E2-514F-482E-985F-9233389A2A46}"/>
              </a:ext>
            </a:extLst>
          </p:cNvPr>
          <p:cNvSpPr txBox="1"/>
          <p:nvPr/>
        </p:nvSpPr>
        <p:spPr>
          <a:xfrm>
            <a:off x="923571" y="1220145"/>
            <a:ext cx="58320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Consider  Harmonic Oscillator Hamiltonian.</a:t>
            </a:r>
          </a:p>
          <a:p>
            <a:endParaRPr lang="en-US" dirty="0"/>
          </a:p>
          <a:p>
            <a:r>
              <a:rPr lang="en-US" dirty="0"/>
              <a:t>For simplicity, let us use natural units and set m=1, w=1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4BAAE51-5791-402A-85C3-6EE753E86C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71" y="3330581"/>
            <a:ext cx="4308434" cy="59704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554C95C-57DB-42ED-98E2-A1EEC56DC2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5796" y="3121234"/>
            <a:ext cx="4947171" cy="261698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9AFD20-158E-429E-BDE9-F2CE943498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71" y="4329364"/>
            <a:ext cx="5298810" cy="597049"/>
          </a:xfrm>
          <a:prstGeom prst="rect">
            <a:avLst/>
          </a:prstGeom>
        </p:spPr>
      </p:pic>
      <p:sp>
        <p:nvSpPr>
          <p:cNvPr id="2" name="화살표: 오른쪽 1">
            <a:extLst>
              <a:ext uri="{FF2B5EF4-FFF2-40B4-BE49-F238E27FC236}">
                <a16:creationId xmlns:a16="http://schemas.microsoft.com/office/drawing/2014/main" id="{12A3C316-F20F-4493-BB6F-2F1CBD393FBC}"/>
              </a:ext>
            </a:extLst>
          </p:cNvPr>
          <p:cNvSpPr/>
          <p:nvPr/>
        </p:nvSpPr>
        <p:spPr>
          <a:xfrm rot="10800000">
            <a:off x="6397260" y="4427021"/>
            <a:ext cx="421766" cy="40173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7078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H.O. wave function 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FE6308F4-23FA-4A9E-A97E-65C5A525F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204" y="1478478"/>
            <a:ext cx="5584065" cy="195052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282F28C-2017-46B3-A4D7-B5DBAE2FCD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3838" y="1207500"/>
            <a:ext cx="4676900" cy="342025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CA47573-F57A-485B-8A66-643848D6C71E}"/>
              </a:ext>
            </a:extLst>
          </p:cNvPr>
          <p:cNvSpPr txBox="1"/>
          <p:nvPr/>
        </p:nvSpPr>
        <p:spPr>
          <a:xfrm>
            <a:off x="790204" y="4047893"/>
            <a:ext cx="57890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could get the correct results for (L=0, N=400).</a:t>
            </a:r>
          </a:p>
          <a:p>
            <a:endParaRPr lang="en-US" dirty="0"/>
          </a:p>
          <a:p>
            <a:r>
              <a:rPr lang="en-US" dirty="0"/>
              <a:t>However, coordinate basis expansion is not practical </a:t>
            </a:r>
          </a:p>
          <a:p>
            <a:r>
              <a:rPr lang="en-US" dirty="0"/>
              <a:t>because the matrix size can be very large.</a:t>
            </a:r>
          </a:p>
          <a:p>
            <a:endParaRPr lang="en-US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Better basis function which reduce the size of matrix 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H.O. basis is commonly used.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482410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HO</a:t>
            </a:r>
            <a:r>
              <a:rPr lang="ko-KR" altLang="en-US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 </a:t>
            </a:r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basis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06F31E8-1B64-4948-A9B4-4EA0B6FC40C2}"/>
              </a:ext>
            </a:extLst>
          </p:cNvPr>
          <p:cNvSpPr txBox="1"/>
          <p:nvPr/>
        </p:nvSpPr>
        <p:spPr>
          <a:xfrm>
            <a:off x="535259" y="1393902"/>
            <a:ext cx="8999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Harmonic Oscillator wave functions are used in many cases,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F1E7062-BC3F-4ED6-90E8-99B8C148F6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662" y="2022677"/>
            <a:ext cx="6668431" cy="781159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F5F6B9C3-E787-4A6A-B643-B7BE4CF0D6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8122" y="2028375"/>
            <a:ext cx="3057952" cy="75258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02CB48B-23B3-44DB-A0C8-B41C1A89E1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45" y="3378768"/>
            <a:ext cx="3801005" cy="65731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718A6D2-DE66-4423-AD3C-6E68E985E7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6302" y="3328511"/>
            <a:ext cx="6106377" cy="79068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89B1936-74B0-458F-8C1B-BE5725E96A3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50866" y="4121651"/>
            <a:ext cx="6563641" cy="208626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3FB8871-9097-4AF3-98FD-80191F75ECC5}"/>
              </a:ext>
            </a:extLst>
          </p:cNvPr>
          <p:cNvSpPr txBox="1"/>
          <p:nvPr/>
        </p:nvSpPr>
        <p:spPr>
          <a:xfrm>
            <a:off x="603545" y="2855579"/>
            <a:ext cx="34903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 wave function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3B1BC4-1D98-4777-9894-87C5AA1FAAD4}"/>
              </a:ext>
            </a:extLst>
          </p:cNvPr>
          <p:cNvSpPr txBox="1"/>
          <p:nvPr/>
        </p:nvSpPr>
        <p:spPr>
          <a:xfrm>
            <a:off x="157228" y="4263769"/>
            <a:ext cx="46936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1d</a:t>
            </a:r>
            <a:r>
              <a:rPr lang="ko-KR" altLang="en-US" dirty="0"/>
              <a:t> </a:t>
            </a:r>
            <a:r>
              <a:rPr lang="en-US" altLang="ko-KR" dirty="0"/>
              <a:t>H.O. ~ Hermite polynomial </a:t>
            </a:r>
          </a:p>
          <a:p>
            <a:r>
              <a:rPr lang="en-US" dirty="0"/>
              <a:t>3d H.O. ~ 3 Cartesian </a:t>
            </a:r>
            <a:r>
              <a:rPr lang="en-US" altLang="ko-KR" dirty="0"/>
              <a:t>1d</a:t>
            </a:r>
            <a:r>
              <a:rPr lang="ko-KR" altLang="en-US" dirty="0"/>
              <a:t> </a:t>
            </a:r>
            <a:r>
              <a:rPr lang="en-US" altLang="ko-KR" dirty="0"/>
              <a:t>H.O. or </a:t>
            </a:r>
            <a:endParaRPr lang="en-US" dirty="0"/>
          </a:p>
          <a:p>
            <a:r>
              <a:rPr lang="en-US" dirty="0"/>
              <a:t>              ~(Associate Laguerre polynomial)</a:t>
            </a:r>
          </a:p>
          <a:p>
            <a:r>
              <a:rPr lang="en-US" dirty="0"/>
              <a:t>                *(Spherical Harmonics) </a:t>
            </a:r>
          </a:p>
        </p:txBody>
      </p:sp>
    </p:spTree>
    <p:extLst>
      <p:ext uri="{BB962C8B-B14F-4D97-AF65-F5344CB8AC3E}">
        <p14:creationId xmlns:p14="http://schemas.microsoft.com/office/powerpoint/2010/main" val="1073202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HO</a:t>
            </a:r>
            <a:r>
              <a:rPr lang="ko-KR" altLang="en-US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 </a:t>
            </a:r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basis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06F31E8-1B64-4948-A9B4-4EA0B6FC40C2}"/>
              </a:ext>
            </a:extLst>
          </p:cNvPr>
          <p:cNvSpPr txBox="1"/>
          <p:nvPr/>
        </p:nvSpPr>
        <p:spPr>
          <a:xfrm>
            <a:off x="535259" y="1393902"/>
            <a:ext cx="586554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H.O. basis is </a:t>
            </a:r>
            <a:r>
              <a:rPr lang="en-US" dirty="0">
                <a:solidFill>
                  <a:srgbClr val="FF0000"/>
                </a:solidFill>
              </a:rPr>
              <a:t>ortho-normal</a:t>
            </a:r>
            <a:r>
              <a:rPr lang="en-US" dirty="0"/>
              <a:t>/ </a:t>
            </a:r>
            <a:r>
              <a:rPr lang="en-US" dirty="0">
                <a:solidFill>
                  <a:srgbClr val="FF0000"/>
                </a:solidFill>
              </a:rPr>
              <a:t>complete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Good basis for bound state wave function: </a:t>
            </a:r>
          </a:p>
          <a:p>
            <a:r>
              <a:rPr lang="en-US" dirty="0"/>
              <a:t>             exponential fall off at large r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 good for continuum wave function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Analytic matrix elements available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Exact separation of C.M. motion in many-body w.f.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026" name="Picture 2" descr="https://upload.wikimedia.org/wikipedia/commons/thumb/9/9e/HarmOsziFunktionen.png/250px-HarmOsziFunktionen.png">
            <a:extLst>
              <a:ext uri="{FF2B5EF4-FFF2-40B4-BE49-F238E27FC236}">
                <a16:creationId xmlns:a16="http://schemas.microsoft.com/office/drawing/2014/main" id="{8F0A6C0B-B68B-4CE9-AC94-9D74FFD40C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1453" y="1718915"/>
            <a:ext cx="4765287" cy="3221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516FB9DB-9B86-4107-9C25-AD1F99ED47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194" y="3329582"/>
            <a:ext cx="4601217" cy="75258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5F91C5E-0470-49B9-95E8-4E0CE0D9D9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194" y="4343534"/>
            <a:ext cx="3134162" cy="628738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74327DA4-3F1D-46BF-A490-B5D2A6A3B7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654" y="5233644"/>
            <a:ext cx="6106377" cy="79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19325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HO</a:t>
            </a:r>
            <a:r>
              <a:rPr lang="ko-KR" altLang="en-US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 </a:t>
            </a:r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basis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C44413B-ECCA-43E8-8229-AEECCE9EE6F7}"/>
              </a:ext>
            </a:extLst>
          </p:cNvPr>
          <p:cNvSpPr txBox="1"/>
          <p:nvPr/>
        </p:nvSpPr>
        <p:spPr>
          <a:xfrm>
            <a:off x="923571" y="1322009"/>
            <a:ext cx="68599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Matrix elements for HO radial functions: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 can construct matrix elements in (radial) H.O. basis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Keep in mind of angular part (spherical harmonics).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A29C6E11-3E07-4A5F-A18C-7299F772D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234" y="2508845"/>
            <a:ext cx="3238952" cy="75258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B4D06B4-1022-48AB-95A0-8FBDD6B101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233" y="4328535"/>
            <a:ext cx="3829584" cy="122889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B8A53A8-B72B-4239-A583-6A45BC06B1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3416" y="4209455"/>
            <a:ext cx="4620270" cy="146705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60E4ED4-6F04-4AA8-A95A-8CF021DC4B7E}"/>
              </a:ext>
            </a:extLst>
          </p:cNvPr>
          <p:cNvSpPr txBox="1"/>
          <p:nvPr/>
        </p:nvSpPr>
        <p:spPr>
          <a:xfrm>
            <a:off x="1046233" y="3429000"/>
            <a:ext cx="7796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Examples of matrix elements : Not going to prove these relations</a:t>
            </a:r>
          </a:p>
        </p:txBody>
      </p:sp>
    </p:spTree>
    <p:extLst>
      <p:ext uri="{BB962C8B-B14F-4D97-AF65-F5344CB8AC3E}">
        <p14:creationId xmlns:p14="http://schemas.microsoft.com/office/powerpoint/2010/main" val="87750690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HO</a:t>
            </a:r>
            <a:r>
              <a:rPr lang="ko-KR" altLang="en-US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 </a:t>
            </a:r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basis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C44413B-ECCA-43E8-8229-AEECCE9EE6F7}"/>
              </a:ext>
            </a:extLst>
          </p:cNvPr>
          <p:cNvSpPr txBox="1"/>
          <p:nvPr/>
        </p:nvSpPr>
        <p:spPr>
          <a:xfrm>
            <a:off x="845512" y="1220145"/>
            <a:ext cx="5967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Matrix elements for HO radial functions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B6FAB5D-C458-4D8D-8D47-26CE032C51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551" y="1688437"/>
            <a:ext cx="4991797" cy="227679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93A582A-C0A0-444E-ABCF-202106A600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9035" y="1985219"/>
            <a:ext cx="4534533" cy="65731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7FF4E255-8A7A-4EFE-82A8-44C368D019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341" y="4120010"/>
            <a:ext cx="5711518" cy="2099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5234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Woods-Saxon potential example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1FE1690D-2821-4AD0-B432-2AC57ADF4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560" y="3429000"/>
            <a:ext cx="5210902" cy="238158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3F3C820-61A3-43D7-A2AC-C7DC24AAE65D}"/>
              </a:ext>
            </a:extLst>
          </p:cNvPr>
          <p:cNvSpPr txBox="1"/>
          <p:nvPr/>
        </p:nvSpPr>
        <p:spPr>
          <a:xfrm>
            <a:off x="557560" y="1293541"/>
            <a:ext cx="102368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Let</a:t>
            </a:r>
            <a:r>
              <a:rPr lang="ko-KR" altLang="en-US" dirty="0"/>
              <a:t> </a:t>
            </a:r>
            <a:r>
              <a:rPr lang="en-US" altLang="ko-KR" dirty="0"/>
              <a:t>us</a:t>
            </a:r>
            <a:r>
              <a:rPr lang="ko-KR" altLang="en-US" dirty="0"/>
              <a:t> </a:t>
            </a:r>
            <a:r>
              <a:rPr lang="en-US" altLang="ko-KR" dirty="0"/>
              <a:t>consider Woods-Saxon potential. </a:t>
            </a:r>
          </a:p>
          <a:p>
            <a:endParaRPr lang="en-US" dirty="0"/>
          </a:p>
          <a:p>
            <a:r>
              <a:rPr lang="en-US" dirty="0"/>
              <a:t>For simplicity, let us compute potential matrix elements by simple trapezoidal integration.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3E00344-2AB0-4456-9907-35AAF5AC8D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527" y="2502057"/>
            <a:ext cx="3238952" cy="75258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E7E33DCF-56AD-4FFA-B36A-2DE234071E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9983" y="4996185"/>
            <a:ext cx="4572638" cy="9812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ED7EB33-7E67-4FD3-BD4F-AF02F553601E}"/>
              </a:ext>
            </a:extLst>
          </p:cNvPr>
          <p:cNvSpPr txBox="1"/>
          <p:nvPr/>
        </p:nvSpPr>
        <p:spPr>
          <a:xfrm>
            <a:off x="6958361" y="4138064"/>
            <a:ext cx="41371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Because we already know </a:t>
            </a:r>
          </a:p>
          <a:p>
            <a:r>
              <a:rPr lang="en-US" dirty="0"/>
              <a:t>exact solution for HO basis,</a:t>
            </a:r>
          </a:p>
        </p:txBody>
      </p:sp>
    </p:spTree>
    <p:extLst>
      <p:ext uri="{BB962C8B-B14F-4D97-AF65-F5344CB8AC3E}">
        <p14:creationId xmlns:p14="http://schemas.microsoft.com/office/powerpoint/2010/main" val="16168177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Woods-Saxon potential example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E7E33DCF-56AD-4FFA-B36A-2DE234071E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44" y="1220145"/>
            <a:ext cx="4572638" cy="98121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9742793-6903-4FCD-95D0-5E9CE699E9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544" y="2437009"/>
            <a:ext cx="5614866" cy="2413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1155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Woods-Saxon potential example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E668F55-4852-49C2-8747-43A0CB43CB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2605" y="1478443"/>
            <a:ext cx="4319982" cy="345598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FDCF990-0FFC-4821-A5B6-9983E2AD92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754" y="1807405"/>
            <a:ext cx="5800477" cy="239660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1C68A8F-64C4-4FB8-BBDE-0B09E2D2EEBC}"/>
              </a:ext>
            </a:extLst>
          </p:cNvPr>
          <p:cNvSpPr txBox="1"/>
          <p:nvPr/>
        </p:nvSpPr>
        <p:spPr>
          <a:xfrm>
            <a:off x="607581" y="4444744"/>
            <a:ext cx="42374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can see a good convergence</a:t>
            </a:r>
          </a:p>
          <a:p>
            <a:r>
              <a:rPr lang="en-US" dirty="0"/>
              <a:t> with small number of basis (N~ 20)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8A5E64-6AB2-42FD-AF23-501DB5CF93DB}"/>
              </a:ext>
            </a:extLst>
          </p:cNvPr>
          <p:cNvSpPr txBox="1"/>
          <p:nvPr/>
        </p:nvSpPr>
        <p:spPr>
          <a:xfrm>
            <a:off x="668754" y="1197338"/>
            <a:ext cx="21187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V=50; R=5; a=0.5 </a:t>
            </a:r>
          </a:p>
        </p:txBody>
      </p:sp>
    </p:spTree>
    <p:extLst>
      <p:ext uri="{BB962C8B-B14F-4D97-AF65-F5344CB8AC3E}">
        <p14:creationId xmlns:p14="http://schemas.microsoft.com/office/powerpoint/2010/main" val="40466288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5071</TotalTime>
  <Words>1496</Words>
  <Application>Microsoft Office PowerPoint</Application>
  <PresentationFormat>와이드스크린</PresentationFormat>
  <Paragraphs>248</Paragraphs>
  <Slides>53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53</vt:i4>
      </vt:variant>
    </vt:vector>
  </HeadingPairs>
  <TitlesOfParts>
    <vt:vector size="63" baseType="lpstr">
      <vt:lpstr>Pretendard ExtraBold</vt:lpstr>
      <vt:lpstr>Pretendard Medium</vt:lpstr>
      <vt:lpstr>SUIT ExtraBold</vt:lpstr>
      <vt:lpstr>SUIT SemiBold</vt:lpstr>
      <vt:lpstr>굴림</vt:lpstr>
      <vt:lpstr>돋움</vt:lpstr>
      <vt:lpstr>Arial</vt:lpstr>
      <vt:lpstr>Arial Black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Office</dc:creator>
  <cp:lastModifiedBy>User</cp:lastModifiedBy>
  <cp:revision>96</cp:revision>
  <dcterms:created xsi:type="dcterms:W3CDTF">2024-06-24T06:18:32Z</dcterms:created>
  <dcterms:modified xsi:type="dcterms:W3CDTF">2026-03-24T08:07:04Z</dcterms:modified>
</cp:coreProperties>
</file>