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306" r:id="rId3"/>
    <p:sldId id="291" r:id="rId4"/>
    <p:sldId id="290" r:id="rId5"/>
    <p:sldId id="296" r:id="rId6"/>
    <p:sldId id="308" r:id="rId7"/>
    <p:sldId id="292" r:id="rId8"/>
    <p:sldId id="309" r:id="rId9"/>
    <p:sldId id="303" r:id="rId10"/>
    <p:sldId id="297" r:id="rId11"/>
    <p:sldId id="311" r:id="rId12"/>
    <p:sldId id="310" r:id="rId13"/>
    <p:sldId id="293" r:id="rId14"/>
    <p:sldId id="294" r:id="rId15"/>
    <p:sldId id="312" r:id="rId16"/>
    <p:sldId id="313" r:id="rId17"/>
    <p:sldId id="295" r:id="rId18"/>
    <p:sldId id="298" r:id="rId19"/>
    <p:sldId id="300" r:id="rId20"/>
    <p:sldId id="304" r:id="rId21"/>
    <p:sldId id="314" r:id="rId22"/>
    <p:sldId id="323" r:id="rId23"/>
    <p:sldId id="321" r:id="rId24"/>
    <p:sldId id="324" r:id="rId25"/>
    <p:sldId id="302" r:id="rId26"/>
    <p:sldId id="315" r:id="rId27"/>
    <p:sldId id="316" r:id="rId28"/>
    <p:sldId id="317" r:id="rId29"/>
    <p:sldId id="319" r:id="rId30"/>
    <p:sldId id="338" r:id="rId31"/>
    <p:sldId id="325" r:id="rId32"/>
    <p:sldId id="318" r:id="rId33"/>
    <p:sldId id="326" r:id="rId34"/>
    <p:sldId id="327" r:id="rId35"/>
    <p:sldId id="328" r:id="rId36"/>
    <p:sldId id="329" r:id="rId37"/>
    <p:sldId id="330" r:id="rId38"/>
    <p:sldId id="340" r:id="rId39"/>
    <p:sldId id="331" r:id="rId40"/>
    <p:sldId id="334" r:id="rId41"/>
    <p:sldId id="341" r:id="rId42"/>
    <p:sldId id="342" r:id="rId43"/>
    <p:sldId id="343" r:id="rId44"/>
    <p:sldId id="344" r:id="rId45"/>
    <p:sldId id="345" r:id="rId46"/>
    <p:sldId id="346" r:id="rId47"/>
    <p:sldId id="333" r:id="rId48"/>
    <p:sldId id="339" r:id="rId49"/>
    <p:sldId id="335" r:id="rId50"/>
    <p:sldId id="336" r:id="rId51"/>
    <p:sldId id="337" r:id="rId52"/>
    <p:sldId id="347" r:id="rId53"/>
    <p:sldId id="348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98"/>
    <a:srgbClr val="0075C2"/>
    <a:srgbClr val="005391"/>
    <a:srgbClr val="9FDFFF"/>
    <a:srgbClr val="0097E0"/>
    <a:srgbClr val="0079C0"/>
    <a:srgbClr val="002642"/>
    <a:srgbClr val="D9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9" autoAdjust="0"/>
    <p:restoredTop sz="94660"/>
  </p:normalViewPr>
  <p:slideViewPr>
    <p:cSldViewPr snapToGrid="0">
      <p:cViewPr varScale="1">
        <p:scale>
          <a:sx n="86" d="100"/>
          <a:sy n="86" d="100"/>
        </p:scale>
        <p:origin x="17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62F6E-ADD2-9366-B113-2DC17C241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E63DFE-D7AA-AC13-F7A4-9329D5BFA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0B87F-A1F1-79EF-E2BF-4CF0E388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FC42A-09BF-8419-71AF-D8BCA030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6C858-E83D-8393-1C93-A134EC9C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87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82D7D-6770-00F1-0627-3F8644DEA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D5AB5B-07F8-EFE8-E488-AECA1C1F3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F9378-3F43-8409-C03A-73DEDCCC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B3C137-FEE2-FC2C-0D8F-278FA872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2C4276-70B8-86B8-C9F2-52724C6E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165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483C8-F5C9-9685-48E2-372D0D58D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8AFBA1-893B-0288-6791-FAB4BC20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50A90D-A578-4DD6-2870-40DB3C9FD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9E5CDB-7074-A4A8-4E57-6ADBB8097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CC5E56-B9B5-8E63-2A5F-2791DCDB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21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92575-567D-4F07-18E1-F2EFEE398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701245-7821-FA70-B19E-FF8BAE8D4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896413-0E6D-7EFE-1E16-67EAB3CE6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7C802B-FCE9-BAC3-3C8A-F94A7CB6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50B6BB-66E6-A1AF-DCA7-22C6149D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A1F9CD-514A-5009-2295-248E7798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98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889E2-A9B0-E7F4-2EFC-1F6ABCEC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79192E-DC40-E249-FA5A-224DCAD5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A3964F-049F-B41F-99D2-C5E643342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4D5AEB-41E4-AB2A-A361-AD50934E6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31327A-522C-B45B-23A7-FE45D6020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58EAE2-3DE3-9A45-A577-F2C7F49AC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EB2941-CF8A-0F2B-A17B-BA569B44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7A8847A-4A32-BB3B-8011-3BD2B1D17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923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AFE61-F2CC-2520-2C79-0A4181EE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75A781-E381-CFC1-56F8-631733D9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7733B07-5393-1069-8F86-A6CED16C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3A0F87-68C5-E2FB-D9A5-9E7212FB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60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F554A2-1944-7322-6170-F4E5A0AC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EB92C6-8A54-6C9C-A148-78F94CA7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DC03EA-1180-5060-1C14-7892402C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9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6F0D0-AECA-9305-628D-D368E464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33A91-9DAD-3250-899A-E2586BA3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A713F4-58A1-8194-7C0F-43EED8FD6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1C4796-320D-3598-CD92-C720F928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FC7862-B3EE-E0CE-F567-C690840A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FAD1A5-F188-DF17-93F6-B612F02A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3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D4E4E-4AA1-0A45-E636-CD90C3BD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1229B5-E851-E7F8-C243-BFDF21519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ABDEDD-50E7-048D-7DE7-9895AEFE2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4F004A-50F1-59C5-7058-2F0A28EA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0BF5E8-594F-D436-2A8A-EE513939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C82157-6230-F235-4D52-AB9CE445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20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D3C61-C3FC-C5EE-8BC4-F2BACFB4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BD343A-9526-ED91-60B6-846FCA616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E58B21-EBE2-D6D6-5571-62B56C38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1D3BC-3B94-657F-B4F3-15E17BFE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C3595-51D2-4BE0-FC5B-65FC1361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01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184896-448B-F6ED-6999-3544E8D0A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37D462-0928-6FAF-9175-2C9DD593F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6272F0-1958-1F3E-24B8-9DFAE755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E1C8E-52B1-1C28-79CB-87C0D5AF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86BFB5-04B2-2318-55C4-563D5B02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9868-F4C7-48E4-A91F-515FCC583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71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150AF9-B02A-831F-D625-2823059F2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6F7CBD-C5B4-6970-50BD-1F730ADD5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302B4-4D1A-9D80-C727-EB5E97CCA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6B85E3-3F26-4931-9378-98579BCCDB13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F288A1-9CBB-4C3A-3728-7910B1B63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DEACB1-5581-917D-9A1E-150C4099F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A9868-F4C7-48E4-A91F-515FCC583EA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844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5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5.png"/><Relationship Id="rId4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2.png"/><Relationship Id="rId4" Type="http://schemas.openxmlformats.org/officeDocument/2006/relationships/image" Target="../media/image13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빛, 우주, 스크린샷, 일렉트릭 블루이(가) 표시된 사진&#10;&#10;자동 생성된 설명">
            <a:extLst>
              <a:ext uri="{FF2B5EF4-FFF2-40B4-BE49-F238E27FC236}">
                <a16:creationId xmlns:a16="http://schemas.microsoft.com/office/drawing/2014/main" id="{D1E24FB7-B379-E35B-C045-142C05A3C7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178" b="41771"/>
          <a:stretch/>
        </p:blipFill>
        <p:spPr>
          <a:xfrm>
            <a:off x="0" y="1"/>
            <a:ext cx="12192000" cy="167561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C0E2BE3-85A1-8B59-C7D1-646A89DD5721}"/>
              </a:ext>
            </a:extLst>
          </p:cNvPr>
          <p:cNvSpPr/>
          <p:nvPr/>
        </p:nvSpPr>
        <p:spPr>
          <a:xfrm>
            <a:off x="0" y="1675617"/>
            <a:ext cx="12192000" cy="5201634"/>
          </a:xfrm>
          <a:prstGeom prst="rect">
            <a:avLst/>
          </a:prstGeom>
          <a:solidFill>
            <a:srgbClr val="004098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719FA-86E2-B139-2CAD-DDCBFF492781}"/>
              </a:ext>
            </a:extLst>
          </p:cNvPr>
          <p:cNvSpPr txBox="1"/>
          <p:nvPr/>
        </p:nvSpPr>
        <p:spPr>
          <a:xfrm>
            <a:off x="819830" y="2556417"/>
            <a:ext cx="100860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Numerical</a:t>
            </a:r>
            <a:r>
              <a:rPr lang="ko-KR" altLang="en-US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Quantum</a:t>
            </a:r>
            <a:r>
              <a:rPr lang="ko-KR" altLang="en-US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Mechanics:</a:t>
            </a:r>
          </a:p>
          <a:p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Scattering problem</a:t>
            </a:r>
            <a:endParaRPr lang="ko-KR" altLang="en-US" sz="4400" dirty="0">
              <a:solidFill>
                <a:schemeClr val="bg1"/>
              </a:solidFill>
              <a:ea typeface="SUIT ExtraBold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86282-5402-7A3C-32C6-7A2741493667}"/>
              </a:ext>
            </a:extLst>
          </p:cNvPr>
          <p:cNvSpPr txBox="1"/>
          <p:nvPr/>
        </p:nvSpPr>
        <p:spPr>
          <a:xfrm>
            <a:off x="819829" y="4474497"/>
            <a:ext cx="10454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800" dirty="0">
                <a:solidFill>
                  <a:schemeClr val="bg1"/>
                </a:solidFill>
              </a:rPr>
              <a:t>Young-Ho Song (IRIS, IBS)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그림 2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B4C5BB82-97A8-0197-3CE6-2D92FB4CC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23" y="5936852"/>
            <a:ext cx="2340232" cy="468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786282-5402-7A3C-32C6-7A2741493667}"/>
              </a:ext>
            </a:extLst>
          </p:cNvPr>
          <p:cNvSpPr txBox="1"/>
          <p:nvPr/>
        </p:nvSpPr>
        <p:spPr>
          <a:xfrm>
            <a:off x="6490009" y="6171286"/>
            <a:ext cx="510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2026.03.31. Yonsei University</a:t>
            </a:r>
          </a:p>
        </p:txBody>
      </p:sp>
    </p:spTree>
    <p:extLst>
      <p:ext uri="{BB962C8B-B14F-4D97-AF65-F5344CB8AC3E}">
        <p14:creationId xmlns:p14="http://schemas.microsoft.com/office/powerpoint/2010/main" val="3091287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Introduction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27462" y="1220145"/>
            <a:ext cx="11764538" cy="4450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</a:rPr>
              <a:t>Why Scattering(Reaction)?</a:t>
            </a: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We cannot directly observe quantum particles, nuclei, atoms</a:t>
            </a: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To get information on the </a:t>
            </a:r>
            <a:r>
              <a:rPr lang="en-US" altLang="ko-KR" sz="2400" dirty="0">
                <a:solidFill>
                  <a:srgbClr val="FF0000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interaction</a:t>
            </a: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 between </a:t>
            </a:r>
            <a:r>
              <a:rPr lang="en-US" altLang="ko-KR" sz="2400" dirty="0">
                <a:solidFill>
                  <a:srgbClr val="292934"/>
                </a:solidFill>
                <a:ea typeface="돋움" panose="020B0600000101010101" pitchFamily="50" charset="-127"/>
                <a:sym typeface="Wingdings" panose="05000000000000000000" pitchFamily="2" charset="2"/>
              </a:rPr>
              <a:t>quantum particles, nuclei, atoms.</a:t>
            </a:r>
            <a:endParaRPr lang="en-US" altLang="ko-KR" sz="2400" dirty="0">
              <a:solidFill>
                <a:srgbClr val="292934"/>
              </a:solidFill>
              <a:latin typeface="Arial"/>
              <a:ea typeface="돋움" panose="020B0600000101010101" pitchFamily="50" charset="-127"/>
              <a:sym typeface="Wingdings" panose="05000000000000000000" pitchFamily="2" charset="2"/>
            </a:endParaRP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To</a:t>
            </a:r>
            <a:r>
              <a:rPr lang="ko-KR" altLang="en-US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get information on the </a:t>
            </a:r>
            <a:r>
              <a:rPr lang="en-US" altLang="ko-KR" sz="2400" dirty="0">
                <a:solidFill>
                  <a:srgbClr val="FF0000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structure</a:t>
            </a: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 of </a:t>
            </a:r>
            <a:r>
              <a:rPr lang="en-US" altLang="ko-KR" sz="2400" dirty="0">
                <a:solidFill>
                  <a:srgbClr val="292934"/>
                </a:solidFill>
                <a:ea typeface="돋움" panose="020B0600000101010101" pitchFamily="50" charset="-127"/>
                <a:sym typeface="Wingdings" panose="05000000000000000000" pitchFamily="2" charset="2"/>
              </a:rPr>
              <a:t>quantum particles, nuclei, atoms.</a:t>
            </a: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To measure </a:t>
            </a:r>
            <a:r>
              <a:rPr lang="en-US" altLang="ko-KR" sz="2400" dirty="0">
                <a:solidFill>
                  <a:srgbClr val="FF0000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reaction rates </a:t>
            </a: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of particular interest.</a:t>
            </a:r>
          </a:p>
          <a:p>
            <a:pPr lvl="1" latinLnBrk="0">
              <a:spcBef>
                <a:spcPct val="20000"/>
              </a:spcBef>
              <a:buClr>
                <a:srgbClr val="93A299"/>
              </a:buClr>
              <a:buSzPct val="85000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     ( stars, nuclear reactors, production of radioactive isotopes)</a:t>
            </a: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endParaRPr lang="en-US" altLang="ko-KR" sz="2400" dirty="0">
              <a:solidFill>
                <a:srgbClr val="292934"/>
              </a:solidFill>
              <a:latin typeface="Arial"/>
              <a:ea typeface="돋움" panose="020B0600000101010101" pitchFamily="50" charset="-127"/>
              <a:sym typeface="Wingdings" panose="05000000000000000000" pitchFamily="2" charset="2"/>
            </a:endParaRP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How experiments are done?</a:t>
            </a: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 Measure the distribution of products.</a:t>
            </a: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 At far away from the reaction spot.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EA36EF-8B9E-4817-A85C-A9049684B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48" y="4327708"/>
            <a:ext cx="4057284" cy="222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4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Types of Nuclear Reactions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27462" y="1220144"/>
            <a:ext cx="5668538" cy="393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</a:rPr>
              <a:t>Types of nuclear reaction</a:t>
            </a: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  <a:latin typeface="Arial"/>
                <a:ea typeface="돋움" panose="020B0600000101010101" pitchFamily="50" charset="-127"/>
              </a:rPr>
              <a:t>Elastic scattering</a:t>
            </a:r>
          </a:p>
          <a:p>
            <a:pPr marL="640080" lvl="1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</a:rPr>
              <a:t>Non-Elastic scattering</a:t>
            </a:r>
          </a:p>
          <a:p>
            <a:pPr marL="1097280" lvl="2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</a:rPr>
              <a:t>Inelastic scattering</a:t>
            </a:r>
          </a:p>
          <a:p>
            <a:pPr marL="1097280" lvl="2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</a:rPr>
              <a:t>Rearrangement reactions</a:t>
            </a:r>
          </a:p>
          <a:p>
            <a:pPr lvl="2" latinLnBrk="0">
              <a:spcBef>
                <a:spcPct val="20000"/>
              </a:spcBef>
              <a:buClr>
                <a:srgbClr val="93A299"/>
              </a:buClr>
              <a:buSzPct val="85000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</a:rPr>
              <a:t>   (transfer, knock out, fusion, fission …)</a:t>
            </a:r>
          </a:p>
          <a:p>
            <a:pPr marL="1097280" lvl="2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endParaRPr lang="en-US" altLang="ko-KR" sz="2400" dirty="0">
              <a:solidFill>
                <a:srgbClr val="292934"/>
              </a:solidFill>
              <a:latin typeface="Arial"/>
              <a:ea typeface="돋움" panose="020B0600000101010101" pitchFamily="50" charset="-127"/>
            </a:endParaRP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FF0000"/>
                </a:solidFill>
                <a:ea typeface="돋움" panose="020B0600000101010101" pitchFamily="50" charset="-127"/>
                <a:sym typeface="Wingdings" panose="05000000000000000000" pitchFamily="2" charset="2"/>
              </a:rPr>
              <a:t> we focus on elastic scattering here. </a:t>
            </a:r>
            <a:endParaRPr lang="en-US" altLang="ko-KR" sz="2400" dirty="0">
              <a:solidFill>
                <a:srgbClr val="292934"/>
              </a:solidFill>
              <a:latin typeface="Arial"/>
              <a:ea typeface="돋움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07920B-F1CA-49E9-AA7E-922112FBA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483" y="1520040"/>
            <a:ext cx="5806322" cy="368758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40F7BC3-EA65-4615-8648-3E9EE41DD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259" y="5139442"/>
            <a:ext cx="4134030" cy="145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10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644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Introduction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27462" y="1220145"/>
            <a:ext cx="11764538" cy="179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How to relate it with quantum theory? </a:t>
            </a: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 The distribution of the products will be determined from the wave function</a:t>
            </a: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r>
              <a:rPr lang="en-US" altLang="ko-KR" sz="2400" dirty="0">
                <a:solidFill>
                  <a:srgbClr val="292934"/>
                </a:solidFill>
                <a:latin typeface="Arial"/>
                <a:ea typeface="돋움" panose="020B0600000101010101" pitchFamily="50" charset="-127"/>
                <a:sym typeface="Wingdings" panose="05000000000000000000" pitchFamily="2" charset="2"/>
              </a:rPr>
              <a:t> Solve Schrödinger equation </a:t>
            </a:r>
            <a:endParaRPr lang="en-US" altLang="ko-KR" sz="2400" dirty="0">
              <a:solidFill>
                <a:srgbClr val="292934"/>
              </a:solidFill>
              <a:latin typeface="Arial"/>
              <a:ea typeface="돋움" panose="020B0600000101010101" pitchFamily="50" charset="-127"/>
            </a:endParaRPr>
          </a:p>
          <a:p>
            <a:pPr marL="182880" lvl="0" indent="-182880" latinLnBrk="0">
              <a:spcBef>
                <a:spcPct val="20000"/>
              </a:spcBef>
              <a:buClr>
                <a:srgbClr val="93A299"/>
              </a:buClr>
              <a:buSzPct val="85000"/>
              <a:buFont typeface="Arial" pitchFamily="34" charset="0"/>
              <a:buChar char="•"/>
            </a:pPr>
            <a:endParaRPr lang="en-US" altLang="ko-KR" sz="2400" dirty="0">
              <a:solidFill>
                <a:srgbClr val="292934"/>
              </a:solidFill>
              <a:latin typeface="Arial"/>
              <a:ea typeface="돋움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EA36EF-8B9E-4817-A85C-A9049684B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731" y="2111717"/>
            <a:ext cx="4057284" cy="222295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743E98F-D255-419E-A584-F7B5CD801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923" y="3223195"/>
            <a:ext cx="4344006" cy="8668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A95C2C-5026-4851-9C43-D7402446C999}"/>
              </a:ext>
            </a:extLst>
          </p:cNvPr>
          <p:cNvSpPr txBox="1"/>
          <p:nvPr/>
        </p:nvSpPr>
        <p:spPr>
          <a:xfrm>
            <a:off x="923570" y="4958074"/>
            <a:ext cx="9201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Compare with experiments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What kind of interaction and states(structure) describes the experiments best?</a:t>
            </a:r>
          </a:p>
        </p:txBody>
      </p:sp>
    </p:spTree>
    <p:extLst>
      <p:ext uri="{BB962C8B-B14F-4D97-AF65-F5344CB8AC3E}">
        <p14:creationId xmlns:p14="http://schemas.microsoft.com/office/powerpoint/2010/main" val="2305429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Cross section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045569-7BC7-4C70-92B9-EBA8C15C3774}"/>
              </a:ext>
            </a:extLst>
          </p:cNvPr>
          <p:cNvSpPr txBox="1"/>
          <p:nvPr/>
        </p:nvSpPr>
        <p:spPr>
          <a:xfrm>
            <a:off x="683568" y="1052736"/>
            <a:ext cx="6783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Reaction Theory and Experiments can be compared with </a:t>
            </a:r>
            <a:r>
              <a:rPr lang="en-US" altLang="ko-KR" dirty="0">
                <a:solidFill>
                  <a:srgbClr val="FF0000"/>
                </a:solidFill>
              </a:rPr>
              <a:t>Cross Section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6752F5-1187-41F3-B3DE-75E1833C2A5F}"/>
              </a:ext>
            </a:extLst>
          </p:cNvPr>
          <p:cNvSpPr txBox="1"/>
          <p:nvPr/>
        </p:nvSpPr>
        <p:spPr>
          <a:xfrm>
            <a:off x="611808" y="3717032"/>
            <a:ext cx="8064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(Number of particles detected in solid angle/sec)</a:t>
            </a:r>
          </a:p>
          <a:p>
            <a:r>
              <a:rPr lang="en-US" altLang="ko-KR" dirty="0"/>
              <a:t>= (Number of incident particles/sec)*(effective area)/(incident area)</a:t>
            </a:r>
          </a:p>
          <a:p>
            <a:r>
              <a:rPr lang="en-US" altLang="ko-KR" dirty="0"/>
              <a:t>= (Number of incident particles/sec)</a:t>
            </a:r>
          </a:p>
          <a:p>
            <a:r>
              <a:rPr lang="en-US" altLang="ko-KR" dirty="0"/>
              <a:t>    *</a:t>
            </a:r>
            <a:r>
              <a:rPr lang="en-US" altLang="ko-KR" dirty="0">
                <a:solidFill>
                  <a:srgbClr val="FF0000"/>
                </a:solidFill>
              </a:rPr>
              <a:t>(effective area per target)</a:t>
            </a:r>
            <a:r>
              <a:rPr lang="en-US" altLang="ko-KR" dirty="0"/>
              <a:t>*(number of target particle in area)/(incident area)</a:t>
            </a:r>
          </a:p>
          <a:p>
            <a:r>
              <a:rPr lang="en-US" altLang="ko-KR" dirty="0"/>
              <a:t>= (Number of incident particles/sec)</a:t>
            </a:r>
          </a:p>
          <a:p>
            <a:r>
              <a:rPr lang="en-US" altLang="ko-KR" dirty="0"/>
              <a:t>    *</a:t>
            </a:r>
            <a:r>
              <a:rPr lang="en-US" altLang="ko-KR" dirty="0">
                <a:solidFill>
                  <a:srgbClr val="FF0000"/>
                </a:solidFill>
              </a:rPr>
              <a:t>(effective area per target)</a:t>
            </a:r>
            <a:r>
              <a:rPr lang="en-US" altLang="ko-KR" dirty="0"/>
              <a:t>*(target particle number density)*(target thickness)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53E729-EFE1-406C-911B-F52340AF96AC}"/>
              </a:ext>
            </a:extLst>
          </p:cNvPr>
          <p:cNvSpPr txBox="1"/>
          <p:nvPr/>
        </p:nvSpPr>
        <p:spPr>
          <a:xfrm>
            <a:off x="603564" y="5916649"/>
            <a:ext cx="7692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(Cross section) </a:t>
            </a:r>
            <a:r>
              <a:rPr lang="en-US" altLang="ko-KR" dirty="0"/>
              <a:t>= </a:t>
            </a:r>
            <a:r>
              <a:rPr lang="en-US" altLang="ko-KR" dirty="0">
                <a:solidFill>
                  <a:srgbClr val="FF0000"/>
                </a:solidFill>
              </a:rPr>
              <a:t>(effective area per reaction) </a:t>
            </a:r>
          </a:p>
          <a:p>
            <a:r>
              <a:rPr lang="en-US" altLang="ko-KR" dirty="0"/>
              <a:t>does not depends on the experimental condition ( target thickness, beam size…)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1EC21FC-5BB1-478B-89CB-9FA2C91D00D5}"/>
              </a:ext>
            </a:extLst>
          </p:cNvPr>
          <p:cNvGrpSpPr/>
          <p:nvPr/>
        </p:nvGrpSpPr>
        <p:grpSpPr>
          <a:xfrm>
            <a:off x="480779" y="1398729"/>
            <a:ext cx="4057284" cy="2222956"/>
            <a:chOff x="480779" y="1398729"/>
            <a:chExt cx="4057284" cy="222295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A003CB3-AAE7-4F5A-B693-BBEBBE03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779" y="1398729"/>
              <a:ext cx="4057284" cy="222295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2EE0207-253F-43E4-A854-87CAA82FE9B5}"/>
                </a:ext>
              </a:extLst>
            </p:cNvPr>
            <p:cNvSpPr txBox="1"/>
            <p:nvPr/>
          </p:nvSpPr>
          <p:spPr>
            <a:xfrm>
              <a:off x="603564" y="1662379"/>
              <a:ext cx="2160240" cy="36933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Measurement</a:t>
              </a: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97125A1-6FD2-4D3A-A690-80F20ED30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644" y="1583213"/>
            <a:ext cx="2123406" cy="192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5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Cross section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045569-7BC7-4C70-92B9-EBA8C15C3774}"/>
              </a:ext>
            </a:extLst>
          </p:cNvPr>
          <p:cNvSpPr txBox="1"/>
          <p:nvPr/>
        </p:nvSpPr>
        <p:spPr>
          <a:xfrm>
            <a:off x="683568" y="1052736"/>
            <a:ext cx="6783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Reaction Theory and Experiments can be compared with </a:t>
            </a:r>
            <a:r>
              <a:rPr lang="en-US" altLang="ko-KR" dirty="0">
                <a:solidFill>
                  <a:srgbClr val="FF0000"/>
                </a:solidFill>
              </a:rPr>
              <a:t>Cross Section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C755845-A24E-426D-83E8-F3C69E4BA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502810"/>
            <a:ext cx="4820323" cy="210531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4C63610-DF9C-456B-9866-03638A008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200" y="4677950"/>
            <a:ext cx="2000529" cy="6001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F14E39B-7727-42BD-9BAD-DCE8E653F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71" y="5534324"/>
            <a:ext cx="3381847" cy="8478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571947-8205-45FD-99F6-EB3BE9667906}"/>
              </a:ext>
            </a:extLst>
          </p:cNvPr>
          <p:cNvSpPr txBox="1"/>
          <p:nvPr/>
        </p:nvSpPr>
        <p:spPr>
          <a:xfrm>
            <a:off x="4756109" y="5715165"/>
            <a:ext cx="3568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Differential cross section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6A36DCA-977D-47EC-971A-CB4070429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879450"/>
            <a:ext cx="5191850" cy="40963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BA97082-7A71-4387-8457-FA15FF73A1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24" y="3828035"/>
            <a:ext cx="8202170" cy="77163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8FC56BB-1DC5-4BAE-930B-CBF0CA1CD2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6109" y="4880986"/>
            <a:ext cx="5287113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37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Schrödinger equation for central potential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DDA047F-7A70-45B6-A25B-6B5B2961C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273" y="1767552"/>
            <a:ext cx="4344006" cy="8668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DBEAB6-425C-4FE4-B363-BD4521D55AB5}"/>
              </a:ext>
            </a:extLst>
          </p:cNvPr>
          <p:cNvSpPr txBox="1"/>
          <p:nvPr/>
        </p:nvSpPr>
        <p:spPr>
          <a:xfrm>
            <a:off x="780584" y="1260088"/>
            <a:ext cx="8084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Schrödinger </a:t>
            </a:r>
            <a:r>
              <a:rPr lang="en-US" altLang="ko-KR" dirty="0"/>
              <a:t>equation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one-body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spherical symmetric potential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5BAB5-7FD8-4D58-822C-31C99A1A7A6E}"/>
              </a:ext>
            </a:extLst>
          </p:cNvPr>
          <p:cNvSpPr txBox="1"/>
          <p:nvPr/>
        </p:nvSpPr>
        <p:spPr>
          <a:xfrm>
            <a:off x="999871" y="2798709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Two-body problem </a:t>
            </a:r>
            <a:r>
              <a:rPr lang="en-US" dirty="0">
                <a:sym typeface="Wingdings" panose="05000000000000000000" pitchFamily="2" charset="2"/>
              </a:rPr>
              <a:t> One-body problem</a:t>
            </a:r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DB65593-EC2A-4425-A943-0482050DD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692" y="3367083"/>
            <a:ext cx="2562583" cy="57158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C188330-2947-4B95-AC0E-47E1115C6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718" y="3995429"/>
            <a:ext cx="2724530" cy="169568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7ABC259-C665-4CB3-A4ED-A410AD455B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6692" y="6008068"/>
            <a:ext cx="1343212" cy="42868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FB1D1C1-44D9-4D9A-993B-A1B16CEAF6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938" y="5840028"/>
            <a:ext cx="3353268" cy="86689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4996E1F-85D5-4BD3-AFFB-DBBD9510E5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575" y="4184938"/>
            <a:ext cx="1619476" cy="43821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51877D2-ECC0-4538-8BD1-387F46B015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4095" y="4950656"/>
            <a:ext cx="1571844" cy="3810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A86415-2409-440B-BB30-8BCFA67B0B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2938" y="3812168"/>
            <a:ext cx="3153215" cy="1933845"/>
          </a:xfrm>
          <a:prstGeom prst="rect">
            <a:avLst/>
          </a:prstGeom>
        </p:spPr>
      </p:pic>
      <p:sp>
        <p:nvSpPr>
          <p:cNvPr id="21" name="화살표: 왼쪽/오른쪽 20">
            <a:extLst>
              <a:ext uri="{FF2B5EF4-FFF2-40B4-BE49-F238E27FC236}">
                <a16:creationId xmlns:a16="http://schemas.microsoft.com/office/drawing/2014/main" id="{0006D792-27BB-43CA-8D82-6DCDDC844196}"/>
              </a:ext>
            </a:extLst>
          </p:cNvPr>
          <p:cNvSpPr/>
          <p:nvPr/>
        </p:nvSpPr>
        <p:spPr>
          <a:xfrm>
            <a:off x="4579254" y="4349842"/>
            <a:ext cx="1051064" cy="54661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8518717-7996-4FA3-8BA4-1D115A9B40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2938" y="3241837"/>
            <a:ext cx="3486637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25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Schrödinger equation for central potential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6AC64E-B973-4338-8EA1-444E619E2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54" y="1760984"/>
            <a:ext cx="1962424" cy="5430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D8D80A-BE60-41E2-A898-B57433BC7759}"/>
              </a:ext>
            </a:extLst>
          </p:cNvPr>
          <p:cNvSpPr txBox="1"/>
          <p:nvPr/>
        </p:nvSpPr>
        <p:spPr>
          <a:xfrm>
            <a:off x="529642" y="1250872"/>
            <a:ext cx="356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Stationary scattering States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91A103A-3773-4624-ABE7-E760A0D8A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041" y="1777711"/>
            <a:ext cx="1800476" cy="457264"/>
          </a:xfrm>
          <a:prstGeom prst="rect">
            <a:avLst/>
          </a:prstGeom>
        </p:spPr>
      </p:pic>
      <p:pic>
        <p:nvPicPr>
          <p:cNvPr id="21" name="Picture 3">
            <a:extLst>
              <a:ext uri="{FF2B5EF4-FFF2-40B4-BE49-F238E27FC236}">
                <a16:creationId xmlns:a16="http://schemas.microsoft.com/office/drawing/2014/main" id="{3A62CEC4-6F52-4494-963C-DCF3C36FE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83" y="2703011"/>
            <a:ext cx="4032448" cy="2774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92C832-C271-4270-875D-3BC1E8080694}"/>
              </a:ext>
            </a:extLst>
          </p:cNvPr>
          <p:cNvSpPr txBox="1"/>
          <p:nvPr/>
        </p:nvSpPr>
        <p:spPr>
          <a:xfrm>
            <a:off x="5985084" y="4534583"/>
            <a:ext cx="31096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Incident wave + scattered wave</a:t>
            </a:r>
          </a:p>
          <a:p>
            <a:endParaRPr lang="en-US" altLang="ko-KR" dirty="0"/>
          </a:p>
          <a:p>
            <a:r>
              <a:rPr lang="en-US" altLang="ko-KR" dirty="0"/>
              <a:t>f : </a:t>
            </a:r>
            <a:r>
              <a:rPr lang="en-US" altLang="ko-KR" dirty="0">
                <a:solidFill>
                  <a:srgbClr val="FF0000"/>
                </a:solidFill>
              </a:rPr>
              <a:t>Scattering amplitude</a:t>
            </a:r>
          </a:p>
          <a:p>
            <a:r>
              <a:rPr lang="en-US" altLang="ko-KR" dirty="0"/>
              <a:t>    f=0 , if there is no potential</a:t>
            </a:r>
            <a:endParaRPr lang="ko-KR" altLang="en-US" dirty="0"/>
          </a:p>
        </p:txBody>
      </p:sp>
      <p:pic>
        <p:nvPicPr>
          <p:cNvPr id="23" name="Picture 5">
            <a:extLst>
              <a:ext uri="{FF2B5EF4-FFF2-40B4-BE49-F238E27FC236}">
                <a16:creationId xmlns:a16="http://schemas.microsoft.com/office/drawing/2014/main" id="{05D22BD5-CCFD-408D-9D92-9C2290E80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474" y="3702926"/>
            <a:ext cx="4152503" cy="85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5EF61CD-3022-405E-BA13-0DA6AB999F02}"/>
              </a:ext>
            </a:extLst>
          </p:cNvPr>
          <p:cNvSpPr txBox="1"/>
          <p:nvPr/>
        </p:nvSpPr>
        <p:spPr>
          <a:xfrm>
            <a:off x="5970159" y="3064842"/>
            <a:ext cx="3187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If interaction have finite range,</a:t>
            </a:r>
          </a:p>
          <a:p>
            <a:r>
              <a:rPr lang="en-US" altLang="ko-KR" dirty="0"/>
              <a:t>Asymptotic boundary condition </a:t>
            </a:r>
          </a:p>
        </p:txBody>
      </p:sp>
    </p:spTree>
    <p:extLst>
      <p:ext uri="{BB962C8B-B14F-4D97-AF65-F5344CB8AC3E}">
        <p14:creationId xmlns:p14="http://schemas.microsoft.com/office/powerpoint/2010/main" val="381521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Schrödinger equation for central potential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2" name="Picture 14">
            <a:extLst>
              <a:ext uri="{FF2B5EF4-FFF2-40B4-BE49-F238E27FC236}">
                <a16:creationId xmlns:a16="http://schemas.microsoft.com/office/drawing/2014/main" id="{427AFC0A-4EFB-4405-9033-8E7C7B3CB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14" y="1765933"/>
            <a:ext cx="2528361" cy="63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15">
            <a:extLst>
              <a:ext uri="{FF2B5EF4-FFF2-40B4-BE49-F238E27FC236}">
                <a16:creationId xmlns:a16="http://schemas.microsoft.com/office/drawing/2014/main" id="{EF5C69B2-4332-43B2-85A2-990359263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761" y="1765933"/>
            <a:ext cx="2049928" cy="638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B14A02D8-4DE6-42BC-A61A-27A3738CE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14" y="2545766"/>
            <a:ext cx="2362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3">
            <a:extLst>
              <a:ext uri="{FF2B5EF4-FFF2-40B4-BE49-F238E27FC236}">
                <a16:creationId xmlns:a16="http://schemas.microsoft.com/office/drawing/2014/main" id="{7BAE1E4E-FD33-421D-94BC-22825C5F7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72" y="3126372"/>
            <a:ext cx="6937885" cy="86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F69D8B85-57B1-4C90-8E29-A7719E1C6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14" y="5441599"/>
            <a:ext cx="7473368" cy="663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3F6ED64-42D8-4ED6-BE58-ED686F0BF820}"/>
              </a:ext>
            </a:extLst>
          </p:cNvPr>
          <p:cNvSpPr txBox="1"/>
          <p:nvPr/>
        </p:nvSpPr>
        <p:spPr>
          <a:xfrm>
            <a:off x="3308573" y="6372036"/>
            <a:ext cx="370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Plane wave Case :  (density)*(velocity)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B88D2D-8138-44A6-80A1-B7BB5ACFF0E9}"/>
              </a:ext>
            </a:extLst>
          </p:cNvPr>
          <p:cNvSpPr txBox="1"/>
          <p:nvPr/>
        </p:nvSpPr>
        <p:spPr>
          <a:xfrm>
            <a:off x="601101" y="5002992"/>
            <a:ext cx="2041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Free Current density</a:t>
            </a:r>
            <a:endParaRPr lang="ko-KR" altLang="en-US" dirty="0"/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25F25713-85C2-4EAD-9FB2-E7D2E5DA5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72" y="3942640"/>
            <a:ext cx="59912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20D82BE-0575-4CC7-9528-355D00A1A171}"/>
              </a:ext>
            </a:extLst>
          </p:cNvPr>
          <p:cNvSpPr txBox="1"/>
          <p:nvPr/>
        </p:nvSpPr>
        <p:spPr>
          <a:xfrm>
            <a:off x="5645484" y="4685834"/>
            <a:ext cx="5185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The last term vanishes for local Hermitian interaction.</a:t>
            </a:r>
          </a:p>
          <a:p>
            <a:r>
              <a:rPr lang="en-US" altLang="ko-KR" dirty="0">
                <a:solidFill>
                  <a:srgbClr val="00B050"/>
                </a:solidFill>
              </a:rPr>
              <a:t>In general, interactions are non-local. 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12AF1A-597A-4F29-BFCE-1D3FE90B3099}"/>
              </a:ext>
            </a:extLst>
          </p:cNvPr>
          <p:cNvSpPr txBox="1"/>
          <p:nvPr/>
        </p:nvSpPr>
        <p:spPr>
          <a:xfrm>
            <a:off x="442427" y="1136376"/>
            <a:ext cx="3831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From continuity eq. and Schrodinger eq.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872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Schrödinger equation for central potential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6CA1844-C09F-4052-AB8E-0F3ADB66F855}"/>
              </a:ext>
            </a:extLst>
          </p:cNvPr>
          <p:cNvSpPr txBox="1"/>
          <p:nvPr/>
        </p:nvSpPr>
        <p:spPr>
          <a:xfrm>
            <a:off x="1331640" y="3845899"/>
            <a:ext cx="5202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Then incident flux and scattered flux at large distance </a:t>
            </a:r>
            <a:endParaRPr lang="ko-KR" altLang="en-US" dirty="0"/>
          </a:p>
        </p:txBody>
      </p:sp>
      <p:pic>
        <p:nvPicPr>
          <p:cNvPr id="19" name="Picture 7">
            <a:extLst>
              <a:ext uri="{FF2B5EF4-FFF2-40B4-BE49-F238E27FC236}">
                <a16:creationId xmlns:a16="http://schemas.microsoft.com/office/drawing/2014/main" id="{BC6E24C8-FA67-4E9C-88E2-1269C986D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7272" y="4498629"/>
            <a:ext cx="3933262" cy="98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0F65B1C-B4CD-4318-8491-E64EF6386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392" y="4266880"/>
            <a:ext cx="3089718" cy="985369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45B79FB9-C3A8-47B1-8C05-3ED8F74F98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035"/>
          <a:stretch/>
        </p:blipFill>
        <p:spPr bwMode="auto">
          <a:xfrm>
            <a:off x="923571" y="2339224"/>
            <a:ext cx="3281787" cy="742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5">
            <a:extLst>
              <a:ext uri="{FF2B5EF4-FFF2-40B4-BE49-F238E27FC236}">
                <a16:creationId xmlns:a16="http://schemas.microsoft.com/office/drawing/2014/main" id="{5D54C77D-3E4F-4588-9208-9BAEC564E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28" y="1325800"/>
            <a:ext cx="4152503" cy="85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77D7BB-9A68-49C5-A560-DBF5201128A0}"/>
              </a:ext>
            </a:extLst>
          </p:cNvPr>
          <p:cNvSpPr txBox="1"/>
          <p:nvPr/>
        </p:nvSpPr>
        <p:spPr>
          <a:xfrm>
            <a:off x="5562935" y="5750884"/>
            <a:ext cx="561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</a:t>
            </a:r>
            <a:r>
              <a:rPr lang="ko-KR" altLang="en-US" dirty="0"/>
              <a:t> </a:t>
            </a:r>
            <a:r>
              <a:rPr lang="en-US" altLang="ko-KR" dirty="0"/>
              <a:t>number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particles</a:t>
            </a:r>
            <a:r>
              <a:rPr lang="ko-KR" altLang="en-US" dirty="0"/>
              <a:t> </a:t>
            </a:r>
            <a:r>
              <a:rPr lang="en-US" altLang="ko-KR" dirty="0"/>
              <a:t>scattered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particular</a:t>
            </a:r>
            <a:r>
              <a:rPr lang="ko-KR" altLang="en-US" dirty="0"/>
              <a:t> </a:t>
            </a:r>
            <a:r>
              <a:rPr lang="en-US" altLang="ko-KR" dirty="0"/>
              <a:t>direction</a:t>
            </a:r>
          </a:p>
          <a:p>
            <a:r>
              <a:rPr lang="en-US" dirty="0"/>
              <a:t>~ </a:t>
            </a:r>
            <a:r>
              <a:rPr lang="en-US" dirty="0">
                <a:solidFill>
                  <a:srgbClr val="FF0000"/>
                </a:solidFill>
              </a:rPr>
              <a:t>differential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cross section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2BABB8-5B23-4AEA-97B5-08F876EF06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7271" y="1221340"/>
            <a:ext cx="4760269" cy="22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68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Schrödinger equation for central potential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19" name="Picture 7">
            <a:extLst>
              <a:ext uri="{FF2B5EF4-FFF2-40B4-BE49-F238E27FC236}">
                <a16:creationId xmlns:a16="http://schemas.microsoft.com/office/drawing/2014/main" id="{BC6E24C8-FA67-4E9C-88E2-1269C986D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159" y="3754528"/>
            <a:ext cx="2418450" cy="60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82905D64-3FAD-446D-846F-9FD39526C328}"/>
              </a:ext>
            </a:extLst>
          </p:cNvPr>
          <p:cNvGrpSpPr/>
          <p:nvPr/>
        </p:nvGrpSpPr>
        <p:grpSpPr>
          <a:xfrm>
            <a:off x="480779" y="1398729"/>
            <a:ext cx="4057284" cy="2222956"/>
            <a:chOff x="480779" y="1398729"/>
            <a:chExt cx="4057284" cy="222295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594B974-B013-4096-B3BF-C7E4EBA32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779" y="1398729"/>
              <a:ext cx="4057284" cy="222295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086AC0-230B-42FC-8E64-79644AF8CDCD}"/>
                </a:ext>
              </a:extLst>
            </p:cNvPr>
            <p:cNvSpPr txBox="1"/>
            <p:nvPr/>
          </p:nvSpPr>
          <p:spPr>
            <a:xfrm>
              <a:off x="603564" y="1662379"/>
              <a:ext cx="2160240" cy="36933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Measurement</a:t>
              </a: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0FEC3129-2092-47D6-862D-822F84FC8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288" y="1488710"/>
            <a:ext cx="1419423" cy="5430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E23321-FAE3-448D-9436-7BA932B6B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3903" y="1440048"/>
            <a:ext cx="2076740" cy="5430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82F1FEB-2A3D-4AD7-BD44-FD60C46342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6662" y="2128994"/>
            <a:ext cx="4163006" cy="5048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97921A-1324-4ECB-81DF-B39A36D314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8057" y="2923777"/>
            <a:ext cx="2210108" cy="19814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19615E-59B2-4F75-B328-FADAA4F4C312}"/>
              </a:ext>
            </a:extLst>
          </p:cNvPr>
          <p:cNvSpPr txBox="1"/>
          <p:nvPr/>
        </p:nvSpPr>
        <p:spPr>
          <a:xfrm>
            <a:off x="340361" y="5994898"/>
            <a:ext cx="10091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Theoretical cross section </a:t>
            </a:r>
            <a:r>
              <a:rPr lang="en-US" dirty="0">
                <a:sym typeface="Wingdings" panose="05000000000000000000" pitchFamily="2" charset="2"/>
              </a:rPr>
              <a:t>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Scattering amplitude</a:t>
            </a:r>
          </a:p>
          <a:p>
            <a:r>
              <a:rPr lang="en-US" dirty="0">
                <a:sym typeface="Wingdings" panose="05000000000000000000" pitchFamily="2" charset="2"/>
              </a:rPr>
              <a:t>                                              (contains all information about V ) </a:t>
            </a:r>
            <a:endParaRPr lang="en-US" dirty="0"/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11E8B7C0-176A-41D0-B3ED-522226B58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79" y="5039488"/>
            <a:ext cx="7164288" cy="839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9134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Partial Wave expansion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63C71F-C948-410D-B67E-6E4D4B2EF4F7}"/>
              </a:ext>
            </a:extLst>
          </p:cNvPr>
          <p:cNvSpPr txBox="1"/>
          <p:nvPr/>
        </p:nvSpPr>
        <p:spPr>
          <a:xfrm>
            <a:off x="223024" y="1127455"/>
            <a:ext cx="7961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Central potential</a:t>
            </a:r>
            <a:r>
              <a:rPr lang="en-US" dirty="0">
                <a:sym typeface="Wingdings" panose="05000000000000000000" pitchFamily="2" charset="2"/>
              </a:rPr>
              <a:t> Partial Wave expansion of wave function</a:t>
            </a:r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E2F059-198F-476B-8E0A-983765912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97" y="1809213"/>
            <a:ext cx="6011114" cy="7716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1063FC-FD22-43F9-B3C5-0F6A0E283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51" y="2810068"/>
            <a:ext cx="4553585" cy="8097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53ECF1-0C70-4B92-9A1F-FB025E930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34" y="4124001"/>
            <a:ext cx="4239217" cy="8192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ABF9B23-26FF-4431-B4E4-F3D3C23F1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4015" y="4185922"/>
            <a:ext cx="1371791" cy="69542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F0A5CAA-A373-424E-975F-C6711EE030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6986" y="1809213"/>
            <a:ext cx="1991003" cy="94310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DCF17E9-2DCF-4C29-B354-D20F716DAA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534" y="5658793"/>
            <a:ext cx="6716062" cy="5334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A7E3AFA-9C06-4985-97D8-236BC6F45EDA}"/>
              </a:ext>
            </a:extLst>
          </p:cNvPr>
          <p:cNvSpPr txBox="1"/>
          <p:nvPr/>
        </p:nvSpPr>
        <p:spPr>
          <a:xfrm>
            <a:off x="648534" y="5218771"/>
            <a:ext cx="6558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Spherical Harmonics</a:t>
            </a:r>
          </a:p>
        </p:txBody>
      </p:sp>
    </p:spTree>
    <p:extLst>
      <p:ext uri="{BB962C8B-B14F-4D97-AF65-F5344CB8AC3E}">
        <p14:creationId xmlns:p14="http://schemas.microsoft.com/office/powerpoint/2010/main" val="3079061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Schrödinger equation for central potential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EDA0B76-B7CF-4BEA-AEA5-B677A6C80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71" y="1237355"/>
            <a:ext cx="6658904" cy="90500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07C8F3-FDC3-4AD0-8EE5-0E1B972E3B58}"/>
              </a:ext>
            </a:extLst>
          </p:cNvPr>
          <p:cNvSpPr txBox="1"/>
          <p:nvPr/>
        </p:nvSpPr>
        <p:spPr>
          <a:xfrm>
            <a:off x="1075624" y="4715645"/>
            <a:ext cx="65068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Radial equation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ß"/>
            </a:pPr>
            <a:r>
              <a:rPr lang="en-US" dirty="0">
                <a:sym typeface="Wingdings" panose="05000000000000000000" pitchFamily="2" charset="2"/>
              </a:rPr>
              <a:t>We changed 3-d equation into 1-d equation</a:t>
            </a:r>
          </a:p>
          <a:p>
            <a:pPr marL="285750" indent="-285750">
              <a:buFont typeface="Wingdings" panose="05000000000000000000" pitchFamily="2" charset="2"/>
              <a:buChar char="ß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Full solution is a sum of different L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Each L can be solved separately as 1-d equation. 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Easy !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F7D0431-6C6F-4AE3-A961-A6736655C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24" y="2371356"/>
            <a:ext cx="3372321" cy="104789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01DFF34-E958-4E5A-9881-81B5BD403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71" y="3509717"/>
            <a:ext cx="5144218" cy="104789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B654251-3747-4709-A6EB-64BBFE5A5D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924" y="3581008"/>
            <a:ext cx="1650735" cy="8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64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Schrödinger equation for central potential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9D1A3B-30DE-4AB2-8F9B-D79AC6F0283F}"/>
              </a:ext>
            </a:extLst>
          </p:cNvPr>
          <p:cNvSpPr txBox="1"/>
          <p:nvPr/>
        </p:nvSpPr>
        <p:spPr>
          <a:xfrm>
            <a:off x="569581" y="1276800"/>
            <a:ext cx="95668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same S.E.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Bound State Solution ( E&lt; 0)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Discrete Energies : Not all E &lt;0 gives solution.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Wave function can be normalized : exponential decay of w.f.  at large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Scattering (unbound) State Solution ( E &gt; 0)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Continuous energies : All E &gt; 0 gives solutions.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Wave function is not normalized : no decay of w.f. at large distance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differential equation, but </a:t>
            </a:r>
            <a:r>
              <a:rPr lang="en-US" dirty="0">
                <a:solidFill>
                  <a:srgbClr val="FF0000"/>
                </a:solidFill>
              </a:rPr>
              <a:t>different boundary condition</a:t>
            </a:r>
            <a:r>
              <a:rPr lang="en-US" dirty="0"/>
              <a:t> 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52319FE-BB64-4C93-85A4-28DFAE362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799" y="1181506"/>
            <a:ext cx="4344006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Free wave (Spherical Bessel Function)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8798836-C6D2-4EDD-93FE-4982781AE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61" y="1801267"/>
            <a:ext cx="3820058" cy="1028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67601F-A012-4DA3-8FDE-656F3C8D75DF}"/>
              </a:ext>
            </a:extLst>
          </p:cNvPr>
          <p:cNvSpPr txBox="1"/>
          <p:nvPr/>
        </p:nvSpPr>
        <p:spPr>
          <a:xfrm>
            <a:off x="557561" y="1220145"/>
            <a:ext cx="5449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interaction : V = 0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866160-60D3-409B-9854-3E0CB2112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40" y="3034621"/>
            <a:ext cx="3219899" cy="3620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3224E54-0FB3-4194-AB9A-B13BCA855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579" y="1785130"/>
            <a:ext cx="4572638" cy="9907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0DA9C1-5CA9-4CD4-A9C3-0788F13982C2}"/>
              </a:ext>
            </a:extLst>
          </p:cNvPr>
          <p:cNvSpPr txBox="1"/>
          <p:nvPr/>
        </p:nvSpPr>
        <p:spPr>
          <a:xfrm>
            <a:off x="6397083" y="2830111"/>
            <a:ext cx="4839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Spherical Bessel equation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Solutions are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spherical Bessel (Neuman) functions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dirty="0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138E5D2-6D03-405A-9D72-13E0A3156DA3}"/>
              </a:ext>
            </a:extLst>
          </p:cNvPr>
          <p:cNvSpPr/>
          <p:nvPr/>
        </p:nvSpPr>
        <p:spPr>
          <a:xfrm>
            <a:off x="5044936" y="2196790"/>
            <a:ext cx="709093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1BA06F8-672E-4983-A055-06491D5B9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0711" y="3977773"/>
            <a:ext cx="6842255" cy="26049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E5E95B-ED0F-4BD9-A69B-2C70AD6706D6}"/>
              </a:ext>
            </a:extLst>
          </p:cNvPr>
          <p:cNvSpPr txBox="1"/>
          <p:nvPr/>
        </p:nvSpPr>
        <p:spPr>
          <a:xfrm>
            <a:off x="557561" y="4293220"/>
            <a:ext cx="35651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combination of </a:t>
            </a:r>
          </a:p>
          <a:p>
            <a:r>
              <a:rPr lang="en-US" dirty="0"/>
              <a:t>Spherical Bessel function </a:t>
            </a:r>
          </a:p>
          <a:p>
            <a:r>
              <a:rPr lang="en-US" dirty="0"/>
              <a:t>And Neuman function is </a:t>
            </a:r>
          </a:p>
          <a:p>
            <a:r>
              <a:rPr lang="en-US" dirty="0"/>
              <a:t>a solution of the equation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Boundary condition</a:t>
            </a:r>
          </a:p>
          <a:p>
            <a:r>
              <a:rPr lang="en-US" dirty="0">
                <a:sym typeface="Wingdings" panose="05000000000000000000" pitchFamily="2" charset="2"/>
              </a:rPr>
              <a:t> determines the specific solution.</a:t>
            </a:r>
            <a:endParaRPr lang="en-US" dirty="0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0FB0E3BF-5399-4245-AB2D-1AA8AF02D993}"/>
              </a:ext>
            </a:extLst>
          </p:cNvPr>
          <p:cNvSpPr/>
          <p:nvPr/>
        </p:nvSpPr>
        <p:spPr>
          <a:xfrm rot="10800000">
            <a:off x="4122667" y="4708718"/>
            <a:ext cx="709093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5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Phase Shift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A475DF-2F5B-4322-84C5-9F1CFAD9EA27}"/>
              </a:ext>
            </a:extLst>
          </p:cNvPr>
          <p:cNvSpPr txBox="1"/>
          <p:nvPr/>
        </p:nvSpPr>
        <p:spPr>
          <a:xfrm>
            <a:off x="301083" y="1315844"/>
            <a:ext cx="10169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Nuclear interaction is short-range (finite range)</a:t>
            </a:r>
          </a:p>
          <a:p>
            <a:r>
              <a:rPr lang="en-US" dirty="0"/>
              <a:t>   </a:t>
            </a:r>
            <a:r>
              <a:rPr lang="en-US" dirty="0">
                <a:sym typeface="Wingdings" panose="05000000000000000000" pitchFamily="2" charset="2"/>
              </a:rPr>
              <a:t> Any solution with interaction behaves as like a free solution at large distance.</a:t>
            </a:r>
            <a:r>
              <a:rPr lang="en-US" dirty="0"/>
              <a:t> </a:t>
            </a:r>
          </a:p>
          <a:p>
            <a:r>
              <a:rPr lang="en-US" dirty="0"/>
              <a:t>   </a:t>
            </a:r>
            <a:r>
              <a:rPr lang="en-US" dirty="0">
                <a:sym typeface="Wingdings" panose="05000000000000000000" pitchFamily="2" charset="2"/>
              </a:rPr>
              <a:t> just shifted in phase. </a:t>
            </a:r>
            <a:endParaRPr lang="en-US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A1993B74-DCF0-4977-9368-829708C78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85" y="2371576"/>
            <a:ext cx="5376389" cy="859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F0E2C66-0AD0-40D9-AC25-B299572ED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95" y="2267870"/>
            <a:ext cx="3562178" cy="90181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326641F-B5F0-451B-A46B-0FF7070DF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711" y="3916953"/>
            <a:ext cx="6030167" cy="113363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88E1BF9-26AD-4501-BEDA-6FC84CDC6A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936" y="5124465"/>
            <a:ext cx="3924848" cy="68589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7A1F7A1-4532-48C1-98A8-0FD9AF7A1CE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098"/>
          <a:stretch/>
        </p:blipFill>
        <p:spPr>
          <a:xfrm>
            <a:off x="394586" y="3640180"/>
            <a:ext cx="3448531" cy="277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96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Schrödinger equation for central potential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70DD197-E540-477D-B37A-12714217D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0145"/>
            <a:ext cx="3648584" cy="484890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F31B323-7112-46A9-BA43-6CED96BFB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718" y="1283662"/>
            <a:ext cx="6172588" cy="40093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98C836-AD3B-4E52-9324-9900F140B80E}"/>
              </a:ext>
            </a:extLst>
          </p:cNvPr>
          <p:cNvSpPr txBox="1"/>
          <p:nvPr/>
        </p:nvSpPr>
        <p:spPr>
          <a:xfrm>
            <a:off x="3648584" y="5634506"/>
            <a:ext cx="7858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Phase shift contains all information</a:t>
            </a:r>
            <a:r>
              <a:rPr lang="en-US" dirty="0"/>
              <a:t> of the wave function at large distance.</a:t>
            </a:r>
          </a:p>
          <a:p>
            <a:endParaRPr lang="en-US" dirty="0"/>
          </a:p>
          <a:p>
            <a:r>
              <a:rPr lang="en-US" dirty="0"/>
              <a:t>How it is related to scattering amplitude? </a:t>
            </a:r>
          </a:p>
        </p:txBody>
      </p:sp>
    </p:spTree>
    <p:extLst>
      <p:ext uri="{BB962C8B-B14F-4D97-AF65-F5344CB8AC3E}">
        <p14:creationId xmlns:p14="http://schemas.microsoft.com/office/powerpoint/2010/main" val="3816295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Schrödinger equation for central potential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4" name="Picture 3">
            <a:extLst>
              <a:ext uri="{FF2B5EF4-FFF2-40B4-BE49-F238E27FC236}">
                <a16:creationId xmlns:a16="http://schemas.microsoft.com/office/drawing/2014/main" id="{28AF407C-6DB5-467D-96C9-31DE1AF8C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3" y="1220145"/>
            <a:ext cx="3184990" cy="1444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F30D847-606E-42C0-B2AA-245435CDC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3" y="2876931"/>
            <a:ext cx="3184990" cy="813483"/>
          </a:xfrm>
          <a:prstGeom prst="rect">
            <a:avLst/>
          </a:prstGeom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F9A8856A-E404-4809-9BF8-5A2D3EAEE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483" y="2455815"/>
            <a:ext cx="5813995" cy="1946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EC19E80-CCFC-4A31-A3A0-50F0D2BD5B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53" y="4192860"/>
            <a:ext cx="4700127" cy="883594"/>
          </a:xfrm>
          <a:prstGeom prst="rect">
            <a:avLst/>
          </a:prstGeom>
        </p:spPr>
      </p:pic>
      <p:pic>
        <p:nvPicPr>
          <p:cNvPr id="34" name="Picture 4">
            <a:extLst>
              <a:ext uri="{FF2B5EF4-FFF2-40B4-BE49-F238E27FC236}">
                <a16:creationId xmlns:a16="http://schemas.microsoft.com/office/drawing/2014/main" id="{82BD33CC-96B4-4FDC-AC7A-8558CAF1B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584" y="5537258"/>
            <a:ext cx="5322348" cy="88359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F6FF1AF-E47C-4117-B935-10A5B55F34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399" y="4844395"/>
            <a:ext cx="1638529" cy="6287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09F685-876F-4246-B218-CF446A9E247D}"/>
              </a:ext>
            </a:extLst>
          </p:cNvPr>
          <p:cNvSpPr txBox="1"/>
          <p:nvPr/>
        </p:nvSpPr>
        <p:spPr>
          <a:xfrm>
            <a:off x="8463776" y="5005954"/>
            <a:ext cx="191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S-matrix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8469BA28-7D32-4399-A795-A81E1C31A5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199" y="5225856"/>
            <a:ext cx="2836127" cy="783461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8B7B46D3-44A0-4B5E-A3CD-BDA8E56E74C5}"/>
              </a:ext>
            </a:extLst>
          </p:cNvPr>
          <p:cNvSpPr/>
          <p:nvPr/>
        </p:nvSpPr>
        <p:spPr>
          <a:xfrm>
            <a:off x="4618261" y="3060441"/>
            <a:ext cx="479503" cy="2955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55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Schrödinger equation for central potential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FFDDF26-C860-4ED0-86A0-5D6945595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52" y="2455742"/>
            <a:ext cx="5182323" cy="124794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C21BF10-5ADF-4E69-99FF-2B03200BD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21" y="3738487"/>
            <a:ext cx="6220693" cy="1028844"/>
          </a:xfrm>
          <a:prstGeom prst="rect">
            <a:avLst/>
          </a:prstGeom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FD583EFE-A4BD-4709-9EAC-4EA23A809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52" y="1265823"/>
            <a:ext cx="5322348" cy="88359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9713B0-3BA0-4290-90F9-B4BC55DB21F1}"/>
              </a:ext>
            </a:extLst>
          </p:cNvPr>
          <p:cNvSpPr txBox="1"/>
          <p:nvPr/>
        </p:nvSpPr>
        <p:spPr>
          <a:xfrm>
            <a:off x="7426711" y="4068243"/>
            <a:ext cx="3479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(elastic) cross section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BD0E235-3136-4930-9E35-5AB208F57C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672" y="5022178"/>
            <a:ext cx="3115110" cy="1400370"/>
          </a:xfrm>
          <a:prstGeom prst="rect">
            <a:avLst/>
          </a:prstGeom>
        </p:spPr>
      </p:pic>
      <p:pic>
        <p:nvPicPr>
          <p:cNvPr id="19" name="Picture 3">
            <a:extLst>
              <a:ext uri="{FF2B5EF4-FFF2-40B4-BE49-F238E27FC236}">
                <a16:creationId xmlns:a16="http://schemas.microsoft.com/office/drawing/2014/main" id="{350B1813-52A7-4629-AB8F-AD9D84359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93" y="5292762"/>
            <a:ext cx="5376389" cy="859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7186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Differential equation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23D7E9D9-8CAB-4803-813A-8C03CC0C0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25" y="1177114"/>
            <a:ext cx="3841478" cy="757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18002372-009B-4C82-B768-5756425B9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45" y="1906506"/>
            <a:ext cx="5291138" cy="8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F5F75EB3-71EF-4F6B-94AA-53BD1E634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52" y="4125680"/>
            <a:ext cx="30099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D0BACE5F-B9E1-40F1-838D-C6329175C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71" y="4835812"/>
            <a:ext cx="22479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E53B0E-6AC5-4C8B-BDDF-8B91D6B65A33}"/>
              </a:ext>
            </a:extLst>
          </p:cNvPr>
          <p:cNvSpPr txBox="1"/>
          <p:nvPr/>
        </p:nvSpPr>
        <p:spPr>
          <a:xfrm>
            <a:off x="700345" y="2920843"/>
            <a:ext cx="7740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Numerical solution from </a:t>
            </a:r>
            <a:r>
              <a:rPr lang="en-US" dirty="0" err="1"/>
              <a:t>Numerov</a:t>
            </a:r>
            <a:r>
              <a:rPr lang="en-US" dirty="0"/>
              <a:t>, or RK4 methods. </a:t>
            </a:r>
          </a:p>
          <a:p>
            <a:endParaRPr lang="en-US" dirty="0"/>
          </a:p>
          <a:p>
            <a:r>
              <a:rPr lang="en-US" dirty="0"/>
              <a:t>Initial Value: one can use arbitrary values for scattering problem.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9888F8-002F-4E26-A97E-00352A0859C0}"/>
              </a:ext>
            </a:extLst>
          </p:cNvPr>
          <p:cNvSpPr txBox="1"/>
          <p:nvPr/>
        </p:nvSpPr>
        <p:spPr>
          <a:xfrm>
            <a:off x="3800984" y="4835812"/>
            <a:ext cx="2487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Internal solution </a:t>
            </a:r>
            <a:r>
              <a:rPr lang="en-US" dirty="0"/>
              <a:t>r &lt; 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5AC7EA-FE33-4B11-ABDB-C3DC99EFE08F}"/>
              </a:ext>
            </a:extLst>
          </p:cNvPr>
          <p:cNvSpPr txBox="1"/>
          <p:nvPr/>
        </p:nvSpPr>
        <p:spPr>
          <a:xfrm>
            <a:off x="886540" y="5497315"/>
            <a:ext cx="8019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want to determine phase shift from the wave function solution. 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A8A161E-A1A4-491B-87F6-B320FF3392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052" y="6096076"/>
            <a:ext cx="4505954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48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Differential equation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FF44291-3E41-466F-85D2-03FF9F113507}"/>
              </a:ext>
            </a:extLst>
          </p:cNvPr>
          <p:cNvSpPr txBox="1"/>
          <p:nvPr/>
        </p:nvSpPr>
        <p:spPr>
          <a:xfrm>
            <a:off x="602166" y="1154682"/>
            <a:ext cx="9746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of r, it can be convenient to define </a:t>
            </a:r>
            <a:r>
              <a:rPr lang="en-US" dirty="0" err="1"/>
              <a:t>Ricatti</a:t>
            </a:r>
            <a:r>
              <a:rPr lang="en-US" dirty="0"/>
              <a:t>-Bessel, </a:t>
            </a:r>
            <a:r>
              <a:rPr lang="en-US" dirty="0" err="1"/>
              <a:t>Ricatti</a:t>
            </a:r>
            <a:r>
              <a:rPr lang="en-US" dirty="0"/>
              <a:t>-Hankel functions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229D010B-0230-4599-AEFB-85AB6D93E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6" y="1524014"/>
            <a:ext cx="6039693" cy="98121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9866F57-DD41-4B6C-A0B8-8760E0488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849" y="2747867"/>
            <a:ext cx="7487695" cy="136226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3E6C31E-A25F-4AE7-8997-37F7CADAD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849" y="4211928"/>
            <a:ext cx="5048955" cy="14003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7345CDC-C5C1-4AA4-934C-D93549F92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5749" y="4912113"/>
            <a:ext cx="3334215" cy="562053"/>
          </a:xfrm>
          <a:prstGeom prst="rect">
            <a:avLst/>
          </a:prstGeom>
          <a:ln>
            <a:solidFill>
              <a:srgbClr val="004098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7EA0F4A-B629-4D77-A04F-F9433E781A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287" y="5788840"/>
            <a:ext cx="5896798" cy="8573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8369D3-D433-4C68-9617-940F491DE926}"/>
              </a:ext>
            </a:extLst>
          </p:cNvPr>
          <p:cNvSpPr txBox="1"/>
          <p:nvPr/>
        </p:nvSpPr>
        <p:spPr>
          <a:xfrm>
            <a:off x="9252963" y="5518652"/>
            <a:ext cx="221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Scipy</a:t>
            </a:r>
            <a:r>
              <a:rPr lang="en-US" dirty="0"/>
              <a:t> convention</a:t>
            </a:r>
          </a:p>
        </p:txBody>
      </p:sp>
    </p:spTree>
    <p:extLst>
      <p:ext uri="{BB962C8B-B14F-4D97-AF65-F5344CB8AC3E}">
        <p14:creationId xmlns:p14="http://schemas.microsoft.com/office/powerpoint/2010/main" val="1795726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Differential equation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229D010B-0230-4599-AEFB-85AB6D93E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1" y="1400964"/>
            <a:ext cx="6039693" cy="98121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73DAD3F-BD29-41C1-9D01-DB20ADA30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77" y="2460146"/>
            <a:ext cx="5909368" cy="17012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24156B8-616B-4D04-A52B-7753E787C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51" y="4423217"/>
            <a:ext cx="5724229" cy="9484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E0DB85-D035-4586-AB19-73858F03303D}"/>
              </a:ext>
            </a:extLst>
          </p:cNvPr>
          <p:cNvSpPr txBox="1"/>
          <p:nvPr/>
        </p:nvSpPr>
        <p:spPr>
          <a:xfrm>
            <a:off x="6537844" y="4533706"/>
            <a:ext cx="3428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S-matrix is unknown yet. </a:t>
            </a:r>
          </a:p>
          <a:p>
            <a:r>
              <a:rPr lang="en-US" dirty="0"/>
              <a:t>We want to get S-matrix from </a:t>
            </a:r>
          </a:p>
          <a:p>
            <a:r>
              <a:rPr lang="en-US" dirty="0"/>
              <a:t>Boundary matching condition.</a:t>
            </a:r>
          </a:p>
        </p:txBody>
      </p:sp>
    </p:spTree>
    <p:extLst>
      <p:ext uri="{BB962C8B-B14F-4D97-AF65-F5344CB8AC3E}">
        <p14:creationId xmlns:p14="http://schemas.microsoft.com/office/powerpoint/2010/main" val="3175031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Differential equation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C12C36C7-DB5C-4BD5-9B9C-AA5B9D1CF0E0}"/>
              </a:ext>
            </a:extLst>
          </p:cNvPr>
          <p:cNvSpPr/>
          <p:nvPr/>
        </p:nvSpPr>
        <p:spPr>
          <a:xfrm>
            <a:off x="704554" y="3383325"/>
            <a:ext cx="55756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4C9D87-85A6-4E62-A9C3-108579C20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036" y="3015464"/>
            <a:ext cx="5696745" cy="11050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625C130-633A-4924-99C6-5098037AF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838" y="1220145"/>
            <a:ext cx="5909368" cy="17012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2F0B13-D19C-4492-BE44-F8FF59ECE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70" y="4647117"/>
            <a:ext cx="3096057" cy="9907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07F722-D763-486A-AB0E-27A0382B89EE}"/>
              </a:ext>
            </a:extLst>
          </p:cNvPr>
          <p:cNvSpPr txBox="1"/>
          <p:nvPr/>
        </p:nvSpPr>
        <p:spPr>
          <a:xfrm>
            <a:off x="923571" y="4120518"/>
            <a:ext cx="2076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R-matrix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2D043D0-E0DB-4F8E-AF3E-DEE7875F8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1805" y="4305184"/>
            <a:ext cx="5830114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42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Differential equation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C12C36C7-DB5C-4BD5-9B9C-AA5B9D1CF0E0}"/>
              </a:ext>
            </a:extLst>
          </p:cNvPr>
          <p:cNvSpPr/>
          <p:nvPr/>
        </p:nvSpPr>
        <p:spPr>
          <a:xfrm>
            <a:off x="923571" y="1664679"/>
            <a:ext cx="557561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D5E56-A967-4EB2-90E3-542E1C046B8E}"/>
              </a:ext>
            </a:extLst>
          </p:cNvPr>
          <p:cNvSpPr txBox="1"/>
          <p:nvPr/>
        </p:nvSpPr>
        <p:spPr>
          <a:xfrm>
            <a:off x="1025912" y="2826167"/>
            <a:ext cx="814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get </a:t>
            </a:r>
            <a:r>
              <a:rPr lang="en-US" dirty="0" err="1"/>
              <a:t>gamma_l</a:t>
            </a:r>
            <a:r>
              <a:rPr lang="en-US" dirty="0"/>
              <a:t> from numerical solution.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62718A-E78D-4E77-8339-BCB3E70C1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712" y="1127090"/>
            <a:ext cx="6554115" cy="16004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D93DA47-E98E-49E7-84D6-A66A93DE38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8156" b="56796"/>
          <a:stretch/>
        </p:blipFill>
        <p:spPr>
          <a:xfrm>
            <a:off x="2159619" y="3429000"/>
            <a:ext cx="3605561" cy="100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35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Scattering problem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DB940A-3D5B-44CE-A53B-C1978F8716F5}"/>
              </a:ext>
            </a:extLst>
          </p:cNvPr>
          <p:cNvSpPr txBox="1"/>
          <p:nvPr/>
        </p:nvSpPr>
        <p:spPr>
          <a:xfrm>
            <a:off x="923571" y="1558963"/>
            <a:ext cx="8867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solving radial Schrodinger equation for each L </a:t>
            </a:r>
          </a:p>
          <a:p>
            <a:r>
              <a:rPr lang="en-US" dirty="0">
                <a:sym typeface="Wingdings" panose="05000000000000000000" pitchFamily="2" charset="2"/>
              </a:rPr>
              <a:t>      numerical integration methods (</a:t>
            </a:r>
            <a:r>
              <a:rPr lang="en-US" dirty="0" err="1">
                <a:sym typeface="Wingdings" panose="05000000000000000000" pitchFamily="2" charset="2"/>
              </a:rPr>
              <a:t>Numerov</a:t>
            </a:r>
            <a:r>
              <a:rPr lang="en-US" dirty="0">
                <a:sym typeface="Wingdings" panose="05000000000000000000" pitchFamily="2" charset="2"/>
              </a:rPr>
              <a:t>, RK4 …) </a:t>
            </a:r>
          </a:p>
          <a:p>
            <a:pPr marL="342900" indent="-342900"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2. Match boundary condition to determine phase shift for L</a:t>
            </a:r>
          </a:p>
          <a:p>
            <a:pPr marL="342900" indent="-342900"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3. Compute cross section by summing each L contributions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E4A837-40A3-4678-A331-E26304CD4BBF}"/>
              </a:ext>
            </a:extLst>
          </p:cNvPr>
          <p:cNvSpPr txBox="1"/>
          <p:nvPr/>
        </p:nvSpPr>
        <p:spPr>
          <a:xfrm>
            <a:off x="1025912" y="3863898"/>
            <a:ext cx="8296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Here, let us use RK4 method for ordinary differential equation. 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4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Code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CF1138-12A2-4AF4-8875-B8EEC7E4BC5B}"/>
              </a:ext>
            </a:extLst>
          </p:cNvPr>
          <p:cNvSpPr txBox="1"/>
          <p:nvPr/>
        </p:nvSpPr>
        <p:spPr>
          <a:xfrm>
            <a:off x="535259" y="1360449"/>
            <a:ext cx="94785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we do not focus on the </a:t>
            </a:r>
            <a:r>
              <a:rPr lang="en-US" dirty="0">
                <a:solidFill>
                  <a:srgbClr val="00B0F0"/>
                </a:solidFill>
              </a:rPr>
              <a:t>numerical algorithm</a:t>
            </a:r>
            <a:r>
              <a:rPr lang="en-US" dirty="0"/>
              <a:t>, </a:t>
            </a:r>
            <a:r>
              <a:rPr lang="en-US" altLang="ko-KR" dirty="0"/>
              <a:t>but</a:t>
            </a:r>
            <a:r>
              <a:rPr lang="ko-KR" altLang="en-US" dirty="0"/>
              <a:t> </a:t>
            </a:r>
            <a:r>
              <a:rPr lang="en-US" altLang="ko-KR" dirty="0"/>
              <a:t>develop a code to solve the scattering problem.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 us use </a:t>
            </a:r>
            <a:r>
              <a:rPr lang="en-US" dirty="0">
                <a:solidFill>
                  <a:srgbClr val="FF0000"/>
                </a:solidFill>
              </a:rPr>
              <a:t>python and </a:t>
            </a:r>
            <a:r>
              <a:rPr lang="en-US" dirty="0" err="1">
                <a:solidFill>
                  <a:srgbClr val="FF0000"/>
                </a:solidFill>
              </a:rPr>
              <a:t>scipy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package.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Spherical</a:t>
            </a:r>
            <a:r>
              <a:rPr lang="ko-KR" altLang="en-US" dirty="0"/>
              <a:t> </a:t>
            </a:r>
            <a:r>
              <a:rPr lang="en-US" altLang="ko-KR" dirty="0"/>
              <a:t>Bessel</a:t>
            </a:r>
            <a:r>
              <a:rPr lang="ko-KR" altLang="en-US" dirty="0"/>
              <a:t> </a:t>
            </a:r>
            <a:r>
              <a:rPr lang="en-US" altLang="ko-KR" dirty="0"/>
              <a:t>Function</a:t>
            </a:r>
            <a:r>
              <a:rPr lang="ko-KR" altLang="en-US" dirty="0"/>
              <a:t> </a:t>
            </a:r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altLang="ko-KR" dirty="0"/>
              <a:t>available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 err="1"/>
              <a:t>scipy.special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ODE solver is available in </a:t>
            </a:r>
            <a:r>
              <a:rPr lang="en-US" dirty="0" err="1"/>
              <a:t>scipy.integrate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in mind of units : Let us use natural units and everything in fermi (and its powers).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1831240-944D-4FB8-841D-42667379A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71" y="3535127"/>
            <a:ext cx="6324965" cy="248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82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Code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2C1B66E-CE47-4673-9457-CCD25A2D1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548" y="1499331"/>
            <a:ext cx="5332938" cy="3050772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C47A52BA-DD59-45DC-A6CC-E72D12A0B60C}"/>
              </a:ext>
            </a:extLst>
          </p:cNvPr>
          <p:cNvSpPr/>
          <p:nvPr/>
        </p:nvSpPr>
        <p:spPr>
          <a:xfrm>
            <a:off x="8084634" y="2341756"/>
            <a:ext cx="289932" cy="3568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D7E8BF6-03F4-4691-8AE7-A01CC5D21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02" y="1220145"/>
            <a:ext cx="5089541" cy="180457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F772156-B8E9-45E0-BDED-7B9B927300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02" y="3236507"/>
            <a:ext cx="6139246" cy="151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00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Code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266118C-8EE4-41C5-B588-9A7996688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72" y="1147662"/>
            <a:ext cx="6723650" cy="32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87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Code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CA9C643-2009-4C1A-8B5B-C95CB48D0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42" y="1476622"/>
            <a:ext cx="6496957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34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Code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B8FC074-6C8F-4B70-893D-4B2275712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71" y="1268567"/>
            <a:ext cx="4595566" cy="537764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30FDAD9-8E18-4A5D-BF89-F3EBF028E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274" y="1754278"/>
            <a:ext cx="5858693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58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Code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9D2A68C-5844-4472-B6CE-9F71233F35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44" b="71314"/>
          <a:stretch/>
        </p:blipFill>
        <p:spPr>
          <a:xfrm>
            <a:off x="5831683" y="1406325"/>
            <a:ext cx="5598317" cy="100835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119269-9C07-4D0F-91D9-68DAAA4FA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483" y="3474883"/>
            <a:ext cx="2648320" cy="5239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91BA2D-905C-4715-AD71-6761178C8255}"/>
              </a:ext>
            </a:extLst>
          </p:cNvPr>
          <p:cNvSpPr txBox="1"/>
          <p:nvPr/>
        </p:nvSpPr>
        <p:spPr>
          <a:xfrm>
            <a:off x="5991483" y="2932771"/>
            <a:ext cx="2817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condition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DB561-34FA-49AE-9659-2DF843F4F436}"/>
              </a:ext>
            </a:extLst>
          </p:cNvPr>
          <p:cNvSpPr txBox="1"/>
          <p:nvPr/>
        </p:nvSpPr>
        <p:spPr>
          <a:xfrm>
            <a:off x="6177776" y="4248615"/>
            <a:ext cx="5475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Scattering</a:t>
            </a:r>
            <a:r>
              <a:rPr lang="en-US" dirty="0"/>
              <a:t> problem: one can</a:t>
            </a:r>
            <a:r>
              <a:rPr lang="ko-KR" altLang="en-US" dirty="0"/>
              <a:t> </a:t>
            </a:r>
            <a:r>
              <a:rPr lang="en-US" altLang="ko-KR" dirty="0"/>
              <a:t>choose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arbitrary</a:t>
            </a:r>
            <a:r>
              <a:rPr lang="en-US" altLang="ko-KR" dirty="0"/>
              <a:t> values for initial condition.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Bound state </a:t>
            </a:r>
            <a:r>
              <a:rPr lang="en-US" dirty="0"/>
              <a:t>problem: one have to search </a:t>
            </a:r>
          </a:p>
          <a:p>
            <a:r>
              <a:rPr lang="en-US" dirty="0">
                <a:solidFill>
                  <a:srgbClr val="FF0000"/>
                </a:solidFill>
              </a:rPr>
              <a:t>   correct</a:t>
            </a:r>
            <a:r>
              <a:rPr lang="en-US" dirty="0"/>
              <a:t> initial condition which gives bound state solution.  (shooting method.)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074AED-E7FE-4BF2-8101-E9895D531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31" y="1245444"/>
            <a:ext cx="5452507" cy="374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5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Code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449C98-91C0-44DF-A05C-F07135A543F4}"/>
              </a:ext>
            </a:extLst>
          </p:cNvPr>
          <p:cNvSpPr txBox="1"/>
          <p:nvPr/>
        </p:nvSpPr>
        <p:spPr>
          <a:xfrm>
            <a:off x="7125226" y="1377604"/>
            <a:ext cx="5066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Solve matching condition for S-matrix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4BBAE71-7A66-4607-BA16-F75DDDE27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01" y="1372412"/>
            <a:ext cx="4424752" cy="45069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329D8F-E931-4BFC-B894-BA7168BF6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439" y="2035322"/>
            <a:ext cx="3096057" cy="9907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37E386B-C38E-418B-B675-CB1B238AD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885" y="3146445"/>
            <a:ext cx="5830114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16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Code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4890F1-2DB7-47DC-84E7-8FC449AD9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83" y="1346222"/>
            <a:ext cx="5315692" cy="24482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62FADAE-3512-405B-BBE7-B743EC1A7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960" y="1866363"/>
            <a:ext cx="4734684" cy="7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179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Code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B4BBDE1-3E75-4B5C-82E0-4FE34ED59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88" y="1433855"/>
            <a:ext cx="4894951" cy="36206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CE000BD-DE1A-409F-98AA-6B3017B3B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67976"/>
            <a:ext cx="5182323" cy="1247949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0F09E03E-1E2D-4A7B-BBB0-C95ECBF0E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78057"/>
            <a:ext cx="5322348" cy="88359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009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Code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0F257A6-85C4-4179-A9D4-661B9BD1A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503" y="2041599"/>
            <a:ext cx="9307593" cy="30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68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빛, 우주, 스크린샷, 일렉트릭 블루이(가) 표시된 사진&#10;&#10;자동 생성된 설명">
            <a:extLst>
              <a:ext uri="{FF2B5EF4-FFF2-40B4-BE49-F238E27FC236}">
                <a16:creationId xmlns:a16="http://schemas.microsoft.com/office/drawing/2014/main" id="{D1E24FB7-B379-E35B-C045-142C05A3C7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178" b="41771"/>
          <a:stretch/>
        </p:blipFill>
        <p:spPr>
          <a:xfrm>
            <a:off x="0" y="1"/>
            <a:ext cx="12192000" cy="167561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C0E2BE3-85A1-8B59-C7D1-646A89DD5721}"/>
              </a:ext>
            </a:extLst>
          </p:cNvPr>
          <p:cNvSpPr/>
          <p:nvPr/>
        </p:nvSpPr>
        <p:spPr>
          <a:xfrm>
            <a:off x="0" y="1675617"/>
            <a:ext cx="12192000" cy="5201634"/>
          </a:xfrm>
          <a:prstGeom prst="rect">
            <a:avLst/>
          </a:prstGeom>
          <a:solidFill>
            <a:srgbClr val="004098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719FA-86E2-B139-2CAD-DDCBFF492781}"/>
              </a:ext>
            </a:extLst>
          </p:cNvPr>
          <p:cNvSpPr txBox="1"/>
          <p:nvPr/>
        </p:nvSpPr>
        <p:spPr>
          <a:xfrm>
            <a:off x="819830" y="2556417"/>
            <a:ext cx="100860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Numerical</a:t>
            </a:r>
            <a:r>
              <a:rPr lang="ko-KR" altLang="en-US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Quantum</a:t>
            </a:r>
            <a:r>
              <a:rPr lang="ko-KR" altLang="en-US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Mechanics:</a:t>
            </a:r>
          </a:p>
          <a:p>
            <a:r>
              <a:rPr lang="en-US" altLang="ko-KR" sz="4400" dirty="0">
                <a:solidFill>
                  <a:schemeClr val="bg1"/>
                </a:solidFill>
                <a:ea typeface="SUIT ExtraBold" pitchFamily="50" charset="-127"/>
                <a:cs typeface="Pretendard ExtraBold" panose="02000903000000020004" pitchFamily="50" charset="-127"/>
              </a:rPr>
              <a:t>Harmonic Oscillator</a:t>
            </a:r>
            <a:endParaRPr lang="ko-KR" altLang="en-US" sz="4400" dirty="0">
              <a:solidFill>
                <a:schemeClr val="bg1"/>
              </a:solidFill>
              <a:ea typeface="SUIT ExtraBold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86282-5402-7A3C-32C6-7A2741493667}"/>
              </a:ext>
            </a:extLst>
          </p:cNvPr>
          <p:cNvSpPr txBox="1"/>
          <p:nvPr/>
        </p:nvSpPr>
        <p:spPr>
          <a:xfrm>
            <a:off x="819829" y="4474497"/>
            <a:ext cx="10454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2800" dirty="0">
                <a:solidFill>
                  <a:schemeClr val="bg1"/>
                </a:solidFill>
              </a:rPr>
              <a:t>Young-Ho Song (IRIS, IBS)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그림 2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B4C5BB82-97A8-0197-3CE6-2D92FB4CC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23" y="5936852"/>
            <a:ext cx="2340232" cy="468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786282-5402-7A3C-32C6-7A2741493667}"/>
              </a:ext>
            </a:extLst>
          </p:cNvPr>
          <p:cNvSpPr txBox="1"/>
          <p:nvPr/>
        </p:nvSpPr>
        <p:spPr>
          <a:xfrm>
            <a:off x="6490009" y="6171286"/>
            <a:ext cx="510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2026.03.31. Yonsei University</a:t>
            </a:r>
          </a:p>
        </p:txBody>
      </p:sp>
    </p:spTree>
    <p:extLst>
      <p:ext uri="{BB962C8B-B14F-4D97-AF65-F5344CB8AC3E}">
        <p14:creationId xmlns:p14="http://schemas.microsoft.com/office/powerpoint/2010/main" val="1822549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 expansion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66BC3F8-9142-4619-95A3-AE5F5D43DF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44" b="71314"/>
          <a:stretch/>
        </p:blipFill>
        <p:spPr>
          <a:xfrm>
            <a:off x="497683" y="1339418"/>
            <a:ext cx="5598317" cy="1008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62954F-98D9-4545-9D91-05996B2EA392}"/>
              </a:ext>
            </a:extLst>
          </p:cNvPr>
          <p:cNvSpPr txBox="1"/>
          <p:nvPr/>
        </p:nvSpPr>
        <p:spPr>
          <a:xfrm>
            <a:off x="579863" y="2587083"/>
            <a:ext cx="82072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same radial equation describes both bound state and scattering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solved Sch. Eq. as differential equation for each (L, E).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Bound state : we search binding energy which satisfies boundary condition. </a:t>
            </a:r>
          </a:p>
          <a:p>
            <a:r>
              <a:rPr lang="en-US" dirty="0"/>
              <a:t>                   </a:t>
            </a:r>
            <a:r>
              <a:rPr lang="en-US" dirty="0">
                <a:sym typeface="Wingdings" panose="05000000000000000000" pitchFamily="2" charset="2"/>
              </a:rPr>
              <a:t> Shooting method.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solve the same problem as </a:t>
            </a:r>
            <a:r>
              <a:rPr lang="en-US" dirty="0">
                <a:solidFill>
                  <a:srgbClr val="FF0000"/>
                </a:solidFill>
              </a:rPr>
              <a:t>matrix eigenvalue problem </a:t>
            </a:r>
            <a:r>
              <a:rPr lang="en-US" altLang="ko-KR" dirty="0">
                <a:solidFill>
                  <a:srgbClr val="FF0000"/>
                </a:solidFill>
              </a:rPr>
              <a:t>or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variational method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27882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 expansion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3FB3B9F-74FB-4ED1-8918-CF6A71280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71" y="1270325"/>
            <a:ext cx="1991003" cy="5906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FCF5BF-A857-4B0A-B59C-27DA59D842FB}"/>
              </a:ext>
            </a:extLst>
          </p:cNvPr>
          <p:cNvSpPr txBox="1"/>
          <p:nvPr/>
        </p:nvSpPr>
        <p:spPr>
          <a:xfrm>
            <a:off x="923571" y="2163337"/>
            <a:ext cx="6101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Suppose the </a:t>
            </a:r>
            <a:r>
              <a:rPr lang="en-US" dirty="0">
                <a:solidFill>
                  <a:srgbClr val="FF0000"/>
                </a:solidFill>
              </a:rPr>
              <a:t>ortho-normal basis </a:t>
            </a:r>
            <a:r>
              <a:rPr lang="en-US" dirty="0"/>
              <a:t>function exists,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6C57E2-DD30-4264-A1E7-96390749D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71" y="2725492"/>
            <a:ext cx="4467849" cy="9621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D6388F7-D817-467C-B620-3B02290CD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71" y="3693227"/>
            <a:ext cx="8135485" cy="9526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72C3A1A-E2D1-4280-A320-7EBCBDEF5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71" y="4645860"/>
            <a:ext cx="2286319" cy="6573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578D00-9F42-40D1-86E6-063E8507F5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939" y="5357927"/>
            <a:ext cx="4667901" cy="10669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D5E44D-C667-4918-A943-7ED7F96E2572}"/>
              </a:ext>
            </a:extLst>
          </p:cNvPr>
          <p:cNvSpPr txBox="1"/>
          <p:nvPr/>
        </p:nvSpPr>
        <p:spPr>
          <a:xfrm>
            <a:off x="6096000" y="5653668"/>
            <a:ext cx="493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Matrix eigenvalue problem</a:t>
            </a:r>
          </a:p>
        </p:txBody>
      </p:sp>
    </p:spTree>
    <p:extLst>
      <p:ext uri="{BB962C8B-B14F-4D97-AF65-F5344CB8AC3E}">
        <p14:creationId xmlns:p14="http://schemas.microsoft.com/office/powerpoint/2010/main" val="8371091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Variational theorem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FAB399-6E5A-48AD-952A-D3E039859D46}"/>
              </a:ext>
            </a:extLst>
          </p:cNvPr>
          <p:cNvSpPr txBox="1"/>
          <p:nvPr/>
        </p:nvSpPr>
        <p:spPr>
          <a:xfrm>
            <a:off x="602165" y="1226634"/>
            <a:ext cx="8954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Infinite number of basis function </a:t>
            </a:r>
            <a:r>
              <a:rPr lang="en-US" dirty="0">
                <a:sym typeface="Wingdings" panose="05000000000000000000" pitchFamily="2" charset="2"/>
              </a:rPr>
              <a:t> Exact, not practical </a:t>
            </a:r>
          </a:p>
          <a:p>
            <a:r>
              <a:rPr lang="en-US" dirty="0">
                <a:sym typeface="Wingdings" panose="05000000000000000000" pitchFamily="2" charset="2"/>
              </a:rPr>
              <a:t>Finite number of basis function    Approximation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Variational Theorem</a:t>
            </a: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79D8C0-2DE4-4908-96CD-8B1BDB99D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5" y="2747692"/>
            <a:ext cx="7030431" cy="22101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4CD9C75-53BC-4B05-96B6-E1268F069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112" y="1217119"/>
            <a:ext cx="2353003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368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1d Coordinate</a:t>
            </a:r>
            <a:r>
              <a:rPr lang="ko-KR" altLang="en-US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DD775F-8DEF-462C-B4C2-01E3E76FF394}"/>
              </a:ext>
            </a:extLst>
          </p:cNvPr>
          <p:cNvSpPr txBox="1"/>
          <p:nvPr/>
        </p:nvSpPr>
        <p:spPr>
          <a:xfrm>
            <a:off x="814039" y="1326995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fact,</a:t>
            </a:r>
            <a:r>
              <a:rPr lang="ko-KR" altLang="en-US" dirty="0"/>
              <a:t> </a:t>
            </a:r>
            <a:r>
              <a:rPr lang="en-US" altLang="ko-KR" dirty="0"/>
              <a:t>coordinate</a:t>
            </a:r>
            <a:r>
              <a:rPr lang="ko-KR" altLang="en-US" dirty="0"/>
              <a:t> </a:t>
            </a:r>
            <a:r>
              <a:rPr lang="en-US" altLang="ko-KR" dirty="0"/>
              <a:t>space wave function can be </a:t>
            </a:r>
          </a:p>
          <a:p>
            <a:r>
              <a:rPr lang="en-US" altLang="ko-KR" dirty="0"/>
              <a:t>Considered as a kind of basis expansion.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BDA04E-2A93-4779-8636-EF87E806D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952" y="2185908"/>
            <a:ext cx="4391638" cy="11145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9726467-2927-40E5-8F59-ECAA48AFB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426" y="3513071"/>
            <a:ext cx="7078063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928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1d Coordinate</a:t>
            </a:r>
            <a:r>
              <a:rPr lang="ko-KR" altLang="en-US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FF5BAC7-BC57-4FF2-B97D-22481D7E3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74800"/>
            <a:ext cx="5344271" cy="10097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832DB39-D2E3-4999-9B12-23680BB2A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483" y="2676348"/>
            <a:ext cx="5801535" cy="10002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7E379EE-F45C-47C7-9084-B84E9B988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054" y="4311813"/>
            <a:ext cx="6401693" cy="12193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3A90CC-8080-4A81-805E-7F3DBEC5B794}"/>
              </a:ext>
            </a:extLst>
          </p:cNvPr>
          <p:cNvSpPr txBox="1"/>
          <p:nvPr/>
        </p:nvSpPr>
        <p:spPr>
          <a:xfrm>
            <a:off x="1103971" y="1449659"/>
            <a:ext cx="3958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Matrix elements of kinetic term: </a:t>
            </a:r>
          </a:p>
          <a:p>
            <a:r>
              <a:rPr lang="en-US" dirty="0"/>
              <a:t>   finite difference approximation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47F99-375D-4B3E-B664-F0876752E771}"/>
              </a:ext>
            </a:extLst>
          </p:cNvPr>
          <p:cNvSpPr txBox="1"/>
          <p:nvPr/>
        </p:nvSpPr>
        <p:spPr>
          <a:xfrm>
            <a:off x="836341" y="4694663"/>
            <a:ext cx="4226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Matrix elements of potential term:</a:t>
            </a:r>
          </a:p>
          <a:p>
            <a:r>
              <a:rPr lang="en-US" dirty="0"/>
              <a:t>   local potential case</a:t>
            </a:r>
          </a:p>
        </p:txBody>
      </p:sp>
    </p:spTree>
    <p:extLst>
      <p:ext uri="{BB962C8B-B14F-4D97-AF65-F5344CB8AC3E}">
        <p14:creationId xmlns:p14="http://schemas.microsoft.com/office/powerpoint/2010/main" val="11154692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1d Coordinate</a:t>
            </a:r>
            <a:r>
              <a:rPr lang="ko-KR" altLang="en-US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0ADB60A-CC61-45E1-AF6E-A555E5835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8" y="1933528"/>
            <a:ext cx="10347653" cy="217273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72229EC-2658-4679-A92C-843FD76FD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71" y="1220145"/>
            <a:ext cx="3982006" cy="3715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F61E27C-67F3-48FB-84E4-832BE7D8D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528" y="4389906"/>
            <a:ext cx="3600953" cy="12479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30D7FE6-EC02-4C01-88C7-919DF356BB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4402" y="4340788"/>
            <a:ext cx="2391109" cy="83831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9A6C5A2-033F-435F-854A-FE0BC19797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4402" y="5247275"/>
            <a:ext cx="3124636" cy="781159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823CEFF-0BE4-4008-BEFE-3FD2862DC1D9}"/>
              </a:ext>
            </a:extLst>
          </p:cNvPr>
          <p:cNvSpPr/>
          <p:nvPr/>
        </p:nvSpPr>
        <p:spPr>
          <a:xfrm>
            <a:off x="5274526" y="1300214"/>
            <a:ext cx="468351" cy="1857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2396A7-46EA-445A-9650-B11C6B026AAA}"/>
              </a:ext>
            </a:extLst>
          </p:cNvPr>
          <p:cNvSpPr txBox="1"/>
          <p:nvPr/>
        </p:nvSpPr>
        <p:spPr>
          <a:xfrm>
            <a:off x="5991483" y="1160095"/>
            <a:ext cx="4412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Bound state problem case. </a:t>
            </a:r>
          </a:p>
          <a:p>
            <a:r>
              <a:rPr lang="en-US" dirty="0"/>
              <a:t>Scattering problem is more complicate.</a:t>
            </a:r>
          </a:p>
        </p:txBody>
      </p:sp>
    </p:spTree>
    <p:extLst>
      <p:ext uri="{BB962C8B-B14F-4D97-AF65-F5344CB8AC3E}">
        <p14:creationId xmlns:p14="http://schemas.microsoft.com/office/powerpoint/2010/main" val="622193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1d Coordinate</a:t>
            </a:r>
            <a:r>
              <a:rPr lang="ko-KR" altLang="en-US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30D7FE6-EC02-4C01-88C7-919DF356B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36" y="1715386"/>
            <a:ext cx="2391109" cy="8383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9F96CB-DEE2-4623-BDA2-036A7760B738}"/>
              </a:ext>
            </a:extLst>
          </p:cNvPr>
          <p:cNvSpPr txBox="1"/>
          <p:nvPr/>
        </p:nvSpPr>
        <p:spPr>
          <a:xfrm>
            <a:off x="635620" y="1220145"/>
            <a:ext cx="7069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solve matrix eigenvalue problem?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30BE0-42DF-43FA-B92D-647BD9F677CD}"/>
              </a:ext>
            </a:extLst>
          </p:cNvPr>
          <p:cNvSpPr txBox="1"/>
          <p:nvPr/>
        </p:nvSpPr>
        <p:spPr>
          <a:xfrm>
            <a:off x="775836" y="2832410"/>
            <a:ext cx="42645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many numerical algorithm </a:t>
            </a:r>
          </a:p>
          <a:p>
            <a:r>
              <a:rPr lang="en-US" dirty="0"/>
              <a:t>to solve the matrix eigenvalue problem</a:t>
            </a:r>
          </a:p>
          <a:p>
            <a:endParaRPr lang="en-US" dirty="0"/>
          </a:p>
          <a:p>
            <a:r>
              <a:rPr lang="en-US" dirty="0"/>
              <a:t>We are not going into details of each algorithm, but use </a:t>
            </a:r>
            <a:r>
              <a:rPr lang="en-US" dirty="0" err="1"/>
              <a:t>scipy</a:t>
            </a:r>
            <a:r>
              <a:rPr lang="en-US" dirty="0"/>
              <a:t> packages to solve the problem. </a:t>
            </a:r>
          </a:p>
          <a:p>
            <a:r>
              <a:rPr lang="en-US" dirty="0"/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D46FB40-3024-45EE-9DC1-05D695607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642" y="1283662"/>
            <a:ext cx="6268325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71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1d Coordinate</a:t>
            </a:r>
            <a:r>
              <a:rPr lang="ko-KR" altLang="en-US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423957B-6CBC-44CE-8124-181085D57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18" y="1321765"/>
            <a:ext cx="5728388" cy="37778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33B8D7E-EF49-4238-AED6-AACB87818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401" y="2013461"/>
            <a:ext cx="5049458" cy="283107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1835648-1867-48F7-A71B-5DDF1A7C3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123" y="4961103"/>
            <a:ext cx="5168357" cy="162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664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H.O. wave function 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8A4CD7E-4160-4BFC-9866-BA2C41FC1B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4352"/>
          <a:stretch/>
        </p:blipFill>
        <p:spPr>
          <a:xfrm>
            <a:off x="1079689" y="2239714"/>
            <a:ext cx="2377190" cy="7811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DBB6E2-514F-482E-985F-9233389A2A46}"/>
              </a:ext>
            </a:extLst>
          </p:cNvPr>
          <p:cNvSpPr txBox="1"/>
          <p:nvPr/>
        </p:nvSpPr>
        <p:spPr>
          <a:xfrm>
            <a:off x="923571" y="1220145"/>
            <a:ext cx="583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 Harmonic Oscillator Hamiltonian.</a:t>
            </a:r>
          </a:p>
          <a:p>
            <a:endParaRPr lang="en-US" dirty="0"/>
          </a:p>
          <a:p>
            <a:r>
              <a:rPr lang="en-US" dirty="0"/>
              <a:t>For simplicity, let us use natural units and set m=1, w=1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BAAE51-5791-402A-85C3-6EE753E86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71" y="3330581"/>
            <a:ext cx="4308434" cy="5970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554C95C-57DB-42ED-98E2-A1EEC56DC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5796" y="3121234"/>
            <a:ext cx="4947171" cy="26169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9AFD20-158E-429E-BDE9-F2CE94349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71" y="4329364"/>
            <a:ext cx="5298810" cy="597049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2A3C316-F20F-4493-BB6F-2F1CBD393FBC}"/>
              </a:ext>
            </a:extLst>
          </p:cNvPr>
          <p:cNvSpPr/>
          <p:nvPr/>
        </p:nvSpPr>
        <p:spPr>
          <a:xfrm rot="10800000">
            <a:off x="6397260" y="4427021"/>
            <a:ext cx="421766" cy="4017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078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H.O. wave function 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6308F4-23FA-4A9E-A97E-65C5A525F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04" y="1478478"/>
            <a:ext cx="5584065" cy="195052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282F28C-2017-46B3-A4D7-B5DBAE2FC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838" y="1207500"/>
            <a:ext cx="4676900" cy="34202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A47573-F57A-485B-8A66-643848D6C71E}"/>
              </a:ext>
            </a:extLst>
          </p:cNvPr>
          <p:cNvSpPr txBox="1"/>
          <p:nvPr/>
        </p:nvSpPr>
        <p:spPr>
          <a:xfrm>
            <a:off x="790204" y="4047893"/>
            <a:ext cx="57890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could get the correct results for (L=0, N=400).</a:t>
            </a:r>
          </a:p>
          <a:p>
            <a:endParaRPr lang="en-US" dirty="0"/>
          </a:p>
          <a:p>
            <a:r>
              <a:rPr lang="en-US" dirty="0"/>
              <a:t>However, coordinate basis expansion is not practical </a:t>
            </a:r>
          </a:p>
          <a:p>
            <a:r>
              <a:rPr lang="en-US" dirty="0"/>
              <a:t>because the matrix size can be very large.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Better basis function which reduce the size of matrix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H.O. basis is commonly used.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24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HO</a:t>
            </a:r>
            <a:r>
              <a:rPr lang="ko-KR" altLang="en-US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6F31E8-1B64-4948-A9B4-4EA0B6FC40C2}"/>
              </a:ext>
            </a:extLst>
          </p:cNvPr>
          <p:cNvSpPr txBox="1"/>
          <p:nvPr/>
        </p:nvSpPr>
        <p:spPr>
          <a:xfrm>
            <a:off x="535259" y="1393902"/>
            <a:ext cx="8999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Harmonic Oscillator wave functions are used in many cases,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1E7062-BC3F-4ED6-90E8-99B8C148F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62" y="2022677"/>
            <a:ext cx="6668431" cy="7811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5F6B9C3-E787-4A6A-B643-B7BE4CF0D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122" y="2028375"/>
            <a:ext cx="3057952" cy="75258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02CB48B-23B3-44DB-A0C8-B41C1A89E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45" y="3378768"/>
            <a:ext cx="3801005" cy="6573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18A6D2-DE66-4423-AD3C-6E68E985E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302" y="3328511"/>
            <a:ext cx="6106377" cy="7906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9B1936-74B0-458F-8C1B-BE5725E96A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0866" y="4121651"/>
            <a:ext cx="6563641" cy="2086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FB8871-9097-4AF3-98FD-80191F75ECC5}"/>
              </a:ext>
            </a:extLst>
          </p:cNvPr>
          <p:cNvSpPr txBox="1"/>
          <p:nvPr/>
        </p:nvSpPr>
        <p:spPr>
          <a:xfrm>
            <a:off x="603545" y="2855579"/>
            <a:ext cx="3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 wave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B1BC4-1D98-4777-9894-87C5AA1FAAD4}"/>
              </a:ext>
            </a:extLst>
          </p:cNvPr>
          <p:cNvSpPr txBox="1"/>
          <p:nvPr/>
        </p:nvSpPr>
        <p:spPr>
          <a:xfrm>
            <a:off x="157228" y="4263769"/>
            <a:ext cx="4693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1d</a:t>
            </a:r>
            <a:r>
              <a:rPr lang="ko-KR" altLang="en-US" dirty="0"/>
              <a:t> </a:t>
            </a:r>
            <a:r>
              <a:rPr lang="en-US" altLang="ko-KR" dirty="0"/>
              <a:t>H.O. ~ Hermite polynomial </a:t>
            </a:r>
          </a:p>
          <a:p>
            <a:r>
              <a:rPr lang="en-US" dirty="0"/>
              <a:t>3d H.O. ~ 3 Cartesian </a:t>
            </a:r>
            <a:r>
              <a:rPr lang="en-US" altLang="ko-KR" dirty="0"/>
              <a:t>1d</a:t>
            </a:r>
            <a:r>
              <a:rPr lang="ko-KR" altLang="en-US" dirty="0"/>
              <a:t> </a:t>
            </a:r>
            <a:r>
              <a:rPr lang="en-US" altLang="ko-KR" dirty="0"/>
              <a:t>H.O. or </a:t>
            </a:r>
            <a:endParaRPr lang="en-US" dirty="0"/>
          </a:p>
          <a:p>
            <a:r>
              <a:rPr lang="en-US" dirty="0"/>
              <a:t>              ~(Associate Laguerre polynomial)</a:t>
            </a:r>
          </a:p>
          <a:p>
            <a:r>
              <a:rPr lang="en-US" dirty="0"/>
              <a:t>                *(Spherical Harmonics) </a:t>
            </a:r>
          </a:p>
        </p:txBody>
      </p:sp>
    </p:spTree>
    <p:extLst>
      <p:ext uri="{BB962C8B-B14F-4D97-AF65-F5344CB8AC3E}">
        <p14:creationId xmlns:p14="http://schemas.microsoft.com/office/powerpoint/2010/main" val="107320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HO</a:t>
            </a:r>
            <a:r>
              <a:rPr lang="ko-KR" altLang="en-US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6F31E8-1B64-4948-A9B4-4EA0B6FC40C2}"/>
              </a:ext>
            </a:extLst>
          </p:cNvPr>
          <p:cNvSpPr txBox="1"/>
          <p:nvPr/>
        </p:nvSpPr>
        <p:spPr>
          <a:xfrm>
            <a:off x="535259" y="1393902"/>
            <a:ext cx="58655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H.O. basis is </a:t>
            </a:r>
            <a:r>
              <a:rPr lang="en-US" dirty="0">
                <a:solidFill>
                  <a:srgbClr val="FF0000"/>
                </a:solidFill>
              </a:rPr>
              <a:t>ortho-normal</a:t>
            </a:r>
            <a:r>
              <a:rPr lang="en-US" dirty="0"/>
              <a:t>/ </a:t>
            </a:r>
            <a:r>
              <a:rPr lang="en-US" dirty="0">
                <a:solidFill>
                  <a:srgbClr val="FF0000"/>
                </a:solidFill>
              </a:rPr>
              <a:t>complete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basis for bound state wave function: </a:t>
            </a:r>
          </a:p>
          <a:p>
            <a:r>
              <a:rPr lang="en-US" dirty="0"/>
              <a:t>             exponential fall off at large r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good for continuum wave function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Analytic matrix elements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Exact separation of C.M. motion in many-body w.f.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https://upload.wikimedia.org/wikipedia/commons/thumb/9/9e/HarmOsziFunktionen.png/250px-HarmOsziFunktionen.png">
            <a:extLst>
              <a:ext uri="{FF2B5EF4-FFF2-40B4-BE49-F238E27FC236}">
                <a16:creationId xmlns:a16="http://schemas.microsoft.com/office/drawing/2014/main" id="{8F0A6C0B-B68B-4CE9-AC94-9D74FFD40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453" y="1718915"/>
            <a:ext cx="4765287" cy="322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16FB9DB-9B86-4107-9C25-AD1F99ED4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94" y="3329582"/>
            <a:ext cx="4601217" cy="7525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5F91C5E-0470-49B9-95E8-4E0CE0D9D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94" y="4343534"/>
            <a:ext cx="3134162" cy="62873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4327DA4-3F1D-46BF-A490-B5D2A6A3B7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654" y="5233644"/>
            <a:ext cx="61063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1932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HO</a:t>
            </a:r>
            <a:r>
              <a:rPr lang="ko-KR" altLang="en-US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44413B-ECCA-43E8-8229-AEECCE9EE6F7}"/>
              </a:ext>
            </a:extLst>
          </p:cNvPr>
          <p:cNvSpPr txBox="1"/>
          <p:nvPr/>
        </p:nvSpPr>
        <p:spPr>
          <a:xfrm>
            <a:off x="923571" y="1322009"/>
            <a:ext cx="68599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Matrix elements for HO radial functions: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construct matrix elements in (radial) H.O. basis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in mind of angular part (spherical harmonics).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29C6E11-3E07-4A5F-A18C-7299F772D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34" y="2508845"/>
            <a:ext cx="3238952" cy="75258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B4D06B4-1022-48AB-95A0-8FBDD6B10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233" y="4328535"/>
            <a:ext cx="3829584" cy="122889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B8A53A8-B72B-4239-A583-6A45BC06B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416" y="4209455"/>
            <a:ext cx="4620270" cy="14670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0E4ED4-6F04-4AA8-A95A-8CF021DC4B7E}"/>
              </a:ext>
            </a:extLst>
          </p:cNvPr>
          <p:cNvSpPr txBox="1"/>
          <p:nvPr/>
        </p:nvSpPr>
        <p:spPr>
          <a:xfrm>
            <a:off x="1046233" y="3429000"/>
            <a:ext cx="7796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 of matrix elements : Not going to prove these relations</a:t>
            </a:r>
          </a:p>
        </p:txBody>
      </p:sp>
    </p:spTree>
    <p:extLst>
      <p:ext uri="{BB962C8B-B14F-4D97-AF65-F5344CB8AC3E}">
        <p14:creationId xmlns:p14="http://schemas.microsoft.com/office/powerpoint/2010/main" val="8775069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HO</a:t>
            </a:r>
            <a:r>
              <a:rPr lang="ko-KR" altLang="en-US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basis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44413B-ECCA-43E8-8229-AEECCE9EE6F7}"/>
              </a:ext>
            </a:extLst>
          </p:cNvPr>
          <p:cNvSpPr txBox="1"/>
          <p:nvPr/>
        </p:nvSpPr>
        <p:spPr>
          <a:xfrm>
            <a:off x="845512" y="1220145"/>
            <a:ext cx="5967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Matrix elements for HO radial functions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B6FAB5D-C458-4D8D-8D47-26CE032C5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51" y="1688437"/>
            <a:ext cx="4991797" cy="227679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93A582A-C0A0-444E-ABCF-202106A60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035" y="1985219"/>
            <a:ext cx="4534533" cy="6573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FF4E255-8A7A-4EFE-82A8-44C368D01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41" y="4120010"/>
            <a:ext cx="5711518" cy="209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234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Woods-Saxon potential example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FE1690D-2821-4AD0-B432-2AC57ADF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60" y="3429000"/>
            <a:ext cx="5210902" cy="23815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F3C820-61A3-43D7-A2AC-C7DC24AAE65D}"/>
              </a:ext>
            </a:extLst>
          </p:cNvPr>
          <p:cNvSpPr txBox="1"/>
          <p:nvPr/>
        </p:nvSpPr>
        <p:spPr>
          <a:xfrm>
            <a:off x="557560" y="1293541"/>
            <a:ext cx="10236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Let</a:t>
            </a:r>
            <a:r>
              <a:rPr lang="ko-KR" altLang="en-US" dirty="0"/>
              <a:t> </a:t>
            </a:r>
            <a:r>
              <a:rPr lang="en-US" altLang="ko-KR" dirty="0"/>
              <a:t>us</a:t>
            </a:r>
            <a:r>
              <a:rPr lang="ko-KR" altLang="en-US" dirty="0"/>
              <a:t> </a:t>
            </a:r>
            <a:r>
              <a:rPr lang="en-US" altLang="ko-KR" dirty="0"/>
              <a:t>consider Woods-Saxon potential. </a:t>
            </a:r>
          </a:p>
          <a:p>
            <a:endParaRPr lang="en-US" dirty="0"/>
          </a:p>
          <a:p>
            <a:r>
              <a:rPr lang="en-US" dirty="0"/>
              <a:t>For simplicity, let us compute potential matrix elements by simple trapezoidal integration.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E00344-2AB0-4456-9907-35AAF5AC8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27" y="2502057"/>
            <a:ext cx="3238952" cy="75258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7E33DCF-56AD-4FFA-B36A-2DE234071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983" y="4996185"/>
            <a:ext cx="4572638" cy="981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D7EB33-7E67-4FD3-BD4F-AF02F553601E}"/>
              </a:ext>
            </a:extLst>
          </p:cNvPr>
          <p:cNvSpPr txBox="1"/>
          <p:nvPr/>
        </p:nvSpPr>
        <p:spPr>
          <a:xfrm>
            <a:off x="6958361" y="4138064"/>
            <a:ext cx="4137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we already know </a:t>
            </a:r>
          </a:p>
          <a:p>
            <a:r>
              <a:rPr lang="en-US" dirty="0"/>
              <a:t>exact solution for HO basis,</a:t>
            </a:r>
          </a:p>
        </p:txBody>
      </p:sp>
    </p:spTree>
    <p:extLst>
      <p:ext uri="{BB962C8B-B14F-4D97-AF65-F5344CB8AC3E}">
        <p14:creationId xmlns:p14="http://schemas.microsoft.com/office/powerpoint/2010/main" val="16168177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Woods-Saxon potential example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7E33DCF-56AD-4FFA-B36A-2DE234071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44" y="1220145"/>
            <a:ext cx="4572638" cy="9812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742793-6903-4FCD-95D0-5E9CE699E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44" y="2437009"/>
            <a:ext cx="5614866" cy="241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155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8C217457-84B7-DBF0-5907-AEB057F7F70D}"/>
              </a:ext>
            </a:extLst>
          </p:cNvPr>
          <p:cNvSpPr/>
          <p:nvPr/>
        </p:nvSpPr>
        <p:spPr>
          <a:xfrm>
            <a:off x="-1" y="0"/>
            <a:ext cx="11982968" cy="1008355"/>
          </a:xfrm>
          <a:custGeom>
            <a:avLst/>
            <a:gdLst>
              <a:gd name="connsiteX0" fmla="*/ 0 w 11982968"/>
              <a:gd name="connsiteY0" fmla="*/ 0 h 1008355"/>
              <a:gd name="connsiteX1" fmla="*/ 1106905 w 11982968"/>
              <a:gd name="connsiteY1" fmla="*/ 0 h 1008355"/>
              <a:gd name="connsiteX2" fmla="*/ 1106905 w 11982968"/>
              <a:gd name="connsiteY2" fmla="*/ 1 h 1008355"/>
              <a:gd name="connsiteX3" fmla="*/ 11474555 w 11982968"/>
              <a:gd name="connsiteY3" fmla="*/ 1 h 1008355"/>
              <a:gd name="connsiteX4" fmla="*/ 11982968 w 11982968"/>
              <a:gd name="connsiteY4" fmla="*/ 504178 h 1008355"/>
              <a:gd name="connsiteX5" fmla="*/ 11474555 w 11982968"/>
              <a:gd name="connsiteY5" fmla="*/ 1008355 h 1008355"/>
              <a:gd name="connsiteX6" fmla="*/ 791995 w 11982968"/>
              <a:gd name="connsiteY6" fmla="*/ 1008355 h 1008355"/>
              <a:gd name="connsiteX7" fmla="*/ 791995 w 11982968"/>
              <a:gd name="connsiteY7" fmla="*/ 1008354 h 1008355"/>
              <a:gd name="connsiteX8" fmla="*/ 0 w 11982968"/>
              <a:gd name="connsiteY8" fmla="*/ 1008354 h 100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82968" h="1008355">
                <a:moveTo>
                  <a:pt x="0" y="0"/>
                </a:moveTo>
                <a:lnTo>
                  <a:pt x="1106905" y="0"/>
                </a:lnTo>
                <a:lnTo>
                  <a:pt x="1106905" y="1"/>
                </a:lnTo>
                <a:lnTo>
                  <a:pt x="11474555" y="1"/>
                </a:lnTo>
                <a:cubicBezTo>
                  <a:pt x="11755343" y="1"/>
                  <a:pt x="11982968" y="225729"/>
                  <a:pt x="11982968" y="504178"/>
                </a:cubicBezTo>
                <a:cubicBezTo>
                  <a:pt x="11982968" y="782627"/>
                  <a:pt x="11755343" y="1008355"/>
                  <a:pt x="11474555" y="1008355"/>
                </a:cubicBezTo>
                <a:lnTo>
                  <a:pt x="791995" y="1008355"/>
                </a:lnTo>
                <a:lnTo>
                  <a:pt x="791995" y="1008354"/>
                </a:lnTo>
                <a:lnTo>
                  <a:pt x="0" y="1008354"/>
                </a:lnTo>
                <a:close/>
              </a:path>
            </a:pathLst>
          </a:custGeom>
          <a:gradFill>
            <a:gsLst>
              <a:gs pos="10000">
                <a:srgbClr val="0097E0"/>
              </a:gs>
              <a:gs pos="90000">
                <a:srgbClr val="00539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975493-325C-B395-0388-8A9AEF398447}"/>
              </a:ext>
            </a:extLst>
          </p:cNvPr>
          <p:cNvSpPr txBox="1"/>
          <p:nvPr/>
        </p:nvSpPr>
        <p:spPr>
          <a:xfrm>
            <a:off x="923571" y="211790"/>
            <a:ext cx="8242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bg1"/>
                </a:solidFill>
                <a:ea typeface="SUIT SemiBold" pitchFamily="50" charset="-127"/>
                <a:cs typeface="Pretendard Medium" panose="02000603000000020004" pitchFamily="50" charset="-127"/>
              </a:rPr>
              <a:t>Woods-Saxon potential example</a:t>
            </a:r>
            <a:endParaRPr lang="ko-KR" altLang="en-US" sz="2400" dirty="0">
              <a:solidFill>
                <a:schemeClr val="bg1"/>
              </a:solidFill>
              <a:ea typeface="SUIT SemiBold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림 6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D2F44C09-B269-91F3-FB75-4D68F63A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010" y="275307"/>
            <a:ext cx="1921737" cy="4528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668F55-4852-49C2-8747-43A0CB43C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605" y="1478443"/>
            <a:ext cx="4319982" cy="34559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FDCF990-0FFC-4821-A5B6-9983E2AD9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54" y="1807405"/>
            <a:ext cx="5800477" cy="23966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C68A8F-64C4-4FB8-BBDE-0B09E2D2EEBC}"/>
              </a:ext>
            </a:extLst>
          </p:cNvPr>
          <p:cNvSpPr txBox="1"/>
          <p:nvPr/>
        </p:nvSpPr>
        <p:spPr>
          <a:xfrm>
            <a:off x="607581" y="4444744"/>
            <a:ext cx="4237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see a good convergence</a:t>
            </a:r>
          </a:p>
          <a:p>
            <a:r>
              <a:rPr lang="en-US" dirty="0"/>
              <a:t> with small number of basis (N~ 20)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8A5E64-6AB2-42FD-AF23-501DB5CF93DB}"/>
              </a:ext>
            </a:extLst>
          </p:cNvPr>
          <p:cNvSpPr txBox="1"/>
          <p:nvPr/>
        </p:nvSpPr>
        <p:spPr>
          <a:xfrm>
            <a:off x="668754" y="1197338"/>
            <a:ext cx="2118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V=50; R=5; a=0.5 </a:t>
            </a:r>
          </a:p>
        </p:txBody>
      </p:sp>
    </p:spTree>
    <p:extLst>
      <p:ext uri="{BB962C8B-B14F-4D97-AF65-F5344CB8AC3E}">
        <p14:creationId xmlns:p14="http://schemas.microsoft.com/office/powerpoint/2010/main" val="404662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5095</TotalTime>
  <Words>1496</Words>
  <Application>Microsoft Office PowerPoint</Application>
  <PresentationFormat>와이드스크린</PresentationFormat>
  <Paragraphs>248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3" baseType="lpstr">
      <vt:lpstr>Pretendard ExtraBold</vt:lpstr>
      <vt:lpstr>Pretendard Medium</vt:lpstr>
      <vt:lpstr>SUIT ExtraBold</vt:lpstr>
      <vt:lpstr>SUIT SemiBold</vt:lpstr>
      <vt:lpstr>굴림</vt:lpstr>
      <vt:lpstr>돋움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</dc:creator>
  <cp:lastModifiedBy>User</cp:lastModifiedBy>
  <cp:revision>98</cp:revision>
  <dcterms:created xsi:type="dcterms:W3CDTF">2024-06-24T06:18:32Z</dcterms:created>
  <dcterms:modified xsi:type="dcterms:W3CDTF">2026-03-30T04:16:08Z</dcterms:modified>
</cp:coreProperties>
</file>