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6" r:id="rId1"/>
    <p:sldMasterId id="2147483712" r:id="rId2"/>
  </p:sldMasterIdLst>
  <p:notesMasterIdLst>
    <p:notesMasterId r:id="rId15"/>
  </p:notesMasterIdLst>
  <p:handoutMasterIdLst>
    <p:handoutMasterId r:id="rId16"/>
  </p:handoutMasterIdLst>
  <p:sldIdLst>
    <p:sldId id="269" r:id="rId3"/>
    <p:sldId id="513" r:id="rId4"/>
    <p:sldId id="497" r:id="rId5"/>
    <p:sldId id="519" r:id="rId6"/>
    <p:sldId id="514" r:id="rId7"/>
    <p:sldId id="516" r:id="rId8"/>
    <p:sldId id="517" r:id="rId9"/>
    <p:sldId id="518" r:id="rId10"/>
    <p:sldId id="524" r:id="rId11"/>
    <p:sldId id="525" r:id="rId12"/>
    <p:sldId id="512" r:id="rId13"/>
    <p:sldId id="526" r:id="rId14"/>
  </p:sldIdLst>
  <p:sldSz cx="9906000" cy="6858000" type="A4"/>
  <p:notesSz cx="6735763" cy="9866313"/>
  <p:defaultTextStyle>
    <a:defPPr>
      <a:defRPr lang="ko-KR"/>
    </a:defPPr>
    <a:lvl1pPr marL="0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1pPr>
    <a:lvl2pPr marL="478919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2pPr>
    <a:lvl3pPr marL="957838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3pPr>
    <a:lvl4pPr marL="1436757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4pPr>
    <a:lvl5pPr marL="1915677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5pPr>
    <a:lvl6pPr marL="2394596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6pPr>
    <a:lvl7pPr marL="2873515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7pPr>
    <a:lvl8pPr marL="3352434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8pPr>
    <a:lvl9pPr marL="3831353" algn="l" defTabSz="957838" rtl="0" eaLnBrk="1" latinLnBrk="1" hangingPunct="1">
      <a:defRPr sz="18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9BBFDA-9569-43B1-941C-04CBC510CD5D}">
          <p14:sldIdLst>
            <p14:sldId id="269"/>
            <p14:sldId id="513"/>
            <p14:sldId id="497"/>
            <p14:sldId id="519"/>
            <p14:sldId id="514"/>
            <p14:sldId id="516"/>
            <p14:sldId id="517"/>
            <p14:sldId id="518"/>
            <p14:sldId id="524"/>
            <p14:sldId id="525"/>
            <p14:sldId id="512"/>
            <p14:sldId id="526"/>
          </p14:sldIdLst>
        </p14:section>
      </p14:sectionLst>
    </p:ext>
    <p:ext uri="{EFAFB233-063F-42B5-8137-9DF3F51BA10A}">
      <p15:sldGuideLst xmlns:p15="http://schemas.microsoft.com/office/powerpoint/2012/main">
        <p15:guide id="3" pos="421" userDrawn="1">
          <p15:clr>
            <a:srgbClr val="A4A3A4"/>
          </p15:clr>
        </p15:guide>
        <p15:guide id="4" pos="5796" userDrawn="1">
          <p15:clr>
            <a:srgbClr val="A4A3A4"/>
          </p15:clr>
        </p15:guide>
        <p15:guide id="7" pos="3120" userDrawn="1">
          <p15:clr>
            <a:srgbClr val="A4A3A4"/>
          </p15:clr>
        </p15:guide>
        <p15:guide id="8" orient="horz" pos="4178" userDrawn="1">
          <p15:clr>
            <a:srgbClr val="A4A3A4"/>
          </p15:clr>
        </p15:guide>
        <p15:guide id="9" orient="horz" pos="1003" userDrawn="1">
          <p15:clr>
            <a:srgbClr val="A4A3A4"/>
          </p15:clr>
        </p15:guide>
        <p15:guide id="15" pos="3914" userDrawn="1">
          <p15:clr>
            <a:srgbClr val="A4A3A4"/>
          </p15:clr>
        </p15:guide>
        <p15:guide id="17" orient="horz" userDrawn="1">
          <p15:clr>
            <a:srgbClr val="A4A3A4"/>
          </p15:clr>
        </p15:guide>
        <p15:guide id="20" pos="3483" userDrawn="1">
          <p15:clr>
            <a:srgbClr val="A4A3A4"/>
          </p15:clr>
        </p15:guide>
        <p15:guide id="21" pos="2780" userDrawn="1">
          <p15:clr>
            <a:srgbClr val="A4A3A4"/>
          </p15:clr>
        </p15:guide>
        <p15:guide id="23" pos="2372" userDrawn="1">
          <p15:clr>
            <a:srgbClr val="A4A3A4"/>
          </p15:clr>
        </p15:guide>
        <p15:guide id="24" orient="horz" pos="3838" userDrawn="1">
          <p15:clr>
            <a:srgbClr val="A4A3A4"/>
          </p15:clr>
        </p15:guide>
        <p15:guide id="26" orient="horz" pos="2137" userDrawn="1">
          <p15:clr>
            <a:srgbClr val="A4A3A4"/>
          </p15:clr>
        </p15:guide>
        <p15:guide id="27" orient="horz" pos="3589" userDrawn="1">
          <p15:clr>
            <a:srgbClr val="A4A3A4"/>
          </p15:clr>
        </p15:guide>
        <p15:guide id="28" orient="horz" pos="3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CC"/>
    <a:srgbClr val="0000A4"/>
    <a:srgbClr val="ED7D31"/>
    <a:srgbClr val="7F7F7F"/>
    <a:srgbClr val="F2F2F2"/>
    <a:srgbClr val="FF6600"/>
    <a:srgbClr val="CC00FF"/>
    <a:srgbClr val="FF99FF"/>
    <a:srgbClr val="635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60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498" y="72"/>
      </p:cViewPr>
      <p:guideLst>
        <p:guide pos="421"/>
        <p:guide pos="5796"/>
        <p:guide pos="3120"/>
        <p:guide orient="horz" pos="4178"/>
        <p:guide orient="horz" pos="1003"/>
        <p:guide pos="3914"/>
        <p:guide orient="horz"/>
        <p:guide pos="3483"/>
        <p:guide pos="2780"/>
        <p:guide pos="2372"/>
        <p:guide orient="horz" pos="3838"/>
        <p:guide orient="horz" pos="2137"/>
        <p:guide orient="horz" pos="3589"/>
        <p:guide orient="horz" pos="306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13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18621" cy="494813"/>
          </a:xfrm>
          <a:prstGeom prst="rect">
            <a:avLst/>
          </a:prstGeom>
        </p:spPr>
        <p:txBody>
          <a:bodyPr vert="horz" lIns="90636" tIns="45318" rIns="90636" bIns="4531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3" y="2"/>
            <a:ext cx="2918621" cy="494813"/>
          </a:xfrm>
          <a:prstGeom prst="rect">
            <a:avLst/>
          </a:prstGeom>
        </p:spPr>
        <p:txBody>
          <a:bodyPr vert="horz" lIns="90636" tIns="45318" rIns="90636" bIns="45318" rtlCol="0"/>
          <a:lstStyle>
            <a:lvl1pPr algn="r">
              <a:defRPr sz="1200"/>
            </a:lvl1pPr>
          </a:lstStyle>
          <a:p>
            <a:fld id="{46F42610-14FF-4B40-B4B6-786DE4FB8FEA}" type="datetime1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36" tIns="45318" rIns="90636" bIns="4531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3" y="9371501"/>
            <a:ext cx="2918621" cy="494813"/>
          </a:xfrm>
          <a:prstGeom prst="rect">
            <a:avLst/>
          </a:prstGeom>
        </p:spPr>
        <p:txBody>
          <a:bodyPr vert="horz" lIns="90636" tIns="45318" rIns="90636" bIns="45318" rtlCol="0" anchor="b"/>
          <a:lstStyle>
            <a:lvl1pPr algn="r">
              <a:defRPr sz="1200"/>
            </a:lvl1pPr>
          </a:lstStyle>
          <a:p>
            <a:fld id="{BA50B1B2-6258-41F2-9629-A1D8937796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524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18830" cy="495029"/>
          </a:xfrm>
          <a:prstGeom prst="rect">
            <a:avLst/>
          </a:prstGeom>
        </p:spPr>
        <p:txBody>
          <a:bodyPr vert="horz" lIns="90636" tIns="45318" rIns="90636" bIns="4531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6" y="0"/>
            <a:ext cx="2918830" cy="495029"/>
          </a:xfrm>
          <a:prstGeom prst="rect">
            <a:avLst/>
          </a:prstGeom>
        </p:spPr>
        <p:txBody>
          <a:bodyPr vert="horz" lIns="90636" tIns="45318" rIns="90636" bIns="45318" rtlCol="0"/>
          <a:lstStyle>
            <a:lvl1pPr algn="r">
              <a:defRPr sz="1200"/>
            </a:lvl1pPr>
          </a:lstStyle>
          <a:p>
            <a:fld id="{513A899E-F476-4791-9F16-0B14047B11F2}" type="datetime1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5200" y="1233488"/>
            <a:ext cx="4805363" cy="3327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36" tIns="45318" rIns="90636" bIns="4531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0"/>
          </a:xfrm>
          <a:prstGeom prst="rect">
            <a:avLst/>
          </a:prstGeom>
        </p:spPr>
        <p:txBody>
          <a:bodyPr vert="horz" lIns="90636" tIns="45318" rIns="90636" bIns="4531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371288"/>
            <a:ext cx="2918830" cy="495027"/>
          </a:xfrm>
          <a:prstGeom prst="rect">
            <a:avLst/>
          </a:prstGeom>
        </p:spPr>
        <p:txBody>
          <a:bodyPr vert="horz" lIns="90636" tIns="45318" rIns="90636" bIns="4531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6" y="9371288"/>
            <a:ext cx="2918830" cy="495027"/>
          </a:xfrm>
          <a:prstGeom prst="rect">
            <a:avLst/>
          </a:prstGeom>
        </p:spPr>
        <p:txBody>
          <a:bodyPr vert="horz" lIns="90636" tIns="45318" rIns="90636" bIns="45318" rtlCol="0" anchor="b"/>
          <a:lstStyle>
            <a:lvl1pPr algn="r">
              <a:defRPr sz="1200"/>
            </a:lvl1pPr>
          </a:lstStyle>
          <a:p>
            <a:fld id="{E7091564-0DFD-4FA7-A9C8-3D427F1081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755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1pPr>
    <a:lvl2pPr marL="478919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2pPr>
    <a:lvl3pPr marL="957838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3pPr>
    <a:lvl4pPr marL="1436757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4pPr>
    <a:lvl5pPr marL="1915677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5pPr>
    <a:lvl6pPr marL="2394596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6pPr>
    <a:lvl7pPr marL="2873515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7pPr>
    <a:lvl8pPr marL="3352434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8pPr>
    <a:lvl9pPr marL="3831353" algn="l" defTabSz="957838" rtl="0" eaLnBrk="1" latinLnBrk="1" hangingPunct="1">
      <a:defRPr sz="12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316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63613" y="1231900"/>
            <a:ext cx="4799012" cy="3322638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253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63613" y="1231900"/>
            <a:ext cx="4799012" cy="3322638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8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63613" y="1231900"/>
            <a:ext cx="4799012" cy="3322638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859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63613" y="1231900"/>
            <a:ext cx="4799012" cy="3322638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77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63613" y="1231900"/>
            <a:ext cx="4799012" cy="3322638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496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63613" y="1231900"/>
            <a:ext cx="4799012" cy="3322638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09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870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42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33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10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9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82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9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2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32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38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83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213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859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80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4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03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79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34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94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16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99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850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B7A41-6D90-4371-844A-87EC379C3D06}" type="datetimeFigureOut">
              <a:rPr lang="ko-KR" altLang="en-US" smtClean="0"/>
              <a:t>2021-05-10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3F733-A97E-45C7-8208-292F002894F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7613036" y="6569802"/>
            <a:ext cx="222885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88" dirty="0"/>
              <a:t>- </a:t>
            </a:r>
            <a:fld id="{5733F733-A97E-45C7-8208-292F002894F6}" type="slidenum">
              <a:rPr lang="ko-KR" altLang="en-US" sz="1088" smtClean="0"/>
              <a:pPr algn="r"/>
              <a:t>‹#›</a:t>
            </a:fld>
            <a:r>
              <a:rPr lang="ko-KR" altLang="en-US" sz="1088" dirty="0"/>
              <a:t> </a:t>
            </a:r>
            <a:r>
              <a:rPr lang="en-US" altLang="ko-KR" sz="1088" dirty="0"/>
              <a:t>-</a:t>
            </a:r>
            <a:endParaRPr lang="ko-KR" altLang="en-US" sz="1088" dirty="0"/>
          </a:p>
        </p:txBody>
      </p:sp>
    </p:spTree>
    <p:extLst>
      <p:ext uri="{BB962C8B-B14F-4D97-AF65-F5344CB8AC3E}">
        <p14:creationId xmlns:p14="http://schemas.microsoft.com/office/powerpoint/2010/main" val="407531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0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D8402-985F-426E-897D-8B44D0B8F0CC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F4372-6CDB-4DAD-AF0F-7F2DF1A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2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245"/>
            <a:ext cx="9906000" cy="6466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1977" y="2501122"/>
            <a:ext cx="85530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smtClean="0">
                <a:solidFill>
                  <a:schemeClr val="bg1"/>
                </a:solidFill>
                <a:latin typeface="+mn-ea"/>
              </a:rPr>
              <a:t>KOBRA Research </a:t>
            </a:r>
          </a:p>
          <a:p>
            <a:pPr algn="ctr"/>
            <a:r>
              <a:rPr lang="en-US" altLang="ko-KR" sz="4400" b="1" dirty="0" smtClean="0">
                <a:solidFill>
                  <a:schemeClr val="bg1"/>
                </a:solidFill>
                <a:latin typeface="+mn-ea"/>
              </a:rPr>
              <a:t>Collaboration meeting</a:t>
            </a:r>
            <a:endParaRPr lang="en-US" altLang="ko-KR" sz="1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424086" y="6458464"/>
            <a:ext cx="395417" cy="366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37506" y="5420927"/>
            <a:ext cx="2500858" cy="615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449727368" descr="EMB000032d0117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667" y="5419324"/>
            <a:ext cx="2512741" cy="59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628281" y="4699382"/>
            <a:ext cx="8402704" cy="672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ko-KR" dirty="0" smtClean="0"/>
              <a:t>Low Energy experimental systems team Theory Status report                                  Young-Ho Song (RISP,</a:t>
            </a:r>
            <a:r>
              <a:rPr lang="en-US" altLang="ko-KR" dirty="0"/>
              <a:t> Low Energy experimental systems </a:t>
            </a:r>
            <a:r>
              <a:rPr lang="en-US" altLang="ko-KR" dirty="0" smtClean="0"/>
              <a:t>team)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8500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88756" y="50459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사업 개요 및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759" y="41365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002060"/>
                </a:solidFill>
              </a:rPr>
              <a:t>01</a:t>
            </a:r>
            <a:endParaRPr lang="ko-KR" altLang="en-US" sz="3600" b="1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44729" y="500645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</a:rPr>
              <a:t>사업 일반현황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80136" y="304798"/>
            <a:ext cx="8570955" cy="724929"/>
            <a:chOff x="680136" y="304798"/>
            <a:chExt cx="8570955" cy="724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3" t="9129" r="7295" b="84985"/>
            <a:stretch/>
          </p:blipFill>
          <p:spPr>
            <a:xfrm>
              <a:off x="680136" y="304798"/>
              <a:ext cx="8570955" cy="72492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80136" y="470196"/>
              <a:ext cx="2126031" cy="382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1. 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Current Status</a:t>
              </a:r>
              <a:endParaRPr lang="ko-KR" altLang="en-US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28281" y="1041780"/>
            <a:ext cx="840270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1819" lvl="1" indent="-342900">
              <a:buFont typeface="Wingdings" panose="05000000000000000000" pitchFamily="2" charset="2"/>
              <a:buChar char="§"/>
            </a:pPr>
            <a:r>
              <a:rPr lang="en-US" altLang="ko-KR" sz="2400" dirty="0" smtClean="0"/>
              <a:t>Low Energy Experimental systems team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r>
              <a:rPr lang="en-US" altLang="ko-KR" sz="2400" dirty="0" smtClean="0"/>
              <a:t>3 theorists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r>
              <a:rPr lang="en-US" altLang="ko-KR" sz="2400" dirty="0"/>
              <a:t>Low energy Nuclear Structure and Reaction study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r>
              <a:rPr lang="en-US" altLang="ko-KR" sz="2400" dirty="0"/>
              <a:t>Various Subjects and theoretical tools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endParaRPr lang="en-US" altLang="ko-KR" sz="2400" dirty="0" smtClean="0"/>
          </a:p>
          <a:p>
            <a:pPr marL="821819" lvl="1" indent="-342900">
              <a:buFont typeface="Wingdings" panose="05000000000000000000" pitchFamily="2" charset="2"/>
              <a:buChar char="§"/>
            </a:pPr>
            <a:r>
              <a:rPr lang="en-US" altLang="ko-KR" sz="2400" dirty="0" smtClean="0"/>
              <a:t>Young-Ho Song : 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r>
              <a:rPr lang="en-US" altLang="ko-KR" sz="2000" dirty="0" smtClean="0"/>
              <a:t>Effective Field Theory, Nuclear Structure and Reaction</a:t>
            </a:r>
          </a:p>
          <a:p>
            <a:pPr marL="821819" lvl="1" indent="-342900">
              <a:buFont typeface="Wingdings" panose="05000000000000000000" pitchFamily="2" charset="2"/>
              <a:buChar char="§"/>
            </a:pPr>
            <a:r>
              <a:rPr lang="en-US" altLang="ko-KR" sz="2400" dirty="0" err="1" smtClean="0"/>
              <a:t>Ik</a:t>
            </a:r>
            <a:r>
              <a:rPr lang="en-US" altLang="ko-KR" sz="2400" dirty="0" smtClean="0"/>
              <a:t>-Jae Shin : 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r>
              <a:rPr lang="en-US" altLang="ko-KR" sz="2000" dirty="0" smtClean="0"/>
              <a:t>ab initio Nuclear Structure (No-core Shell Model)</a:t>
            </a:r>
          </a:p>
          <a:p>
            <a:pPr marL="821819" lvl="1" indent="-342900">
              <a:buFont typeface="Wingdings" panose="05000000000000000000" pitchFamily="2" charset="2"/>
              <a:buChar char="§"/>
            </a:pPr>
            <a:r>
              <a:rPr lang="en-US" altLang="ko-KR" sz="2400" dirty="0" err="1" smtClean="0"/>
              <a:t>Panagiota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Papakonstantinou</a:t>
            </a:r>
            <a:r>
              <a:rPr lang="en-US" altLang="ko-KR" sz="2400" dirty="0" smtClean="0"/>
              <a:t> : </a:t>
            </a:r>
          </a:p>
          <a:p>
            <a:pPr marL="1300738" lvl="2" indent="-342900">
              <a:buFont typeface="Wingdings" panose="05000000000000000000" pitchFamily="2" charset="2"/>
              <a:buChar char="§"/>
            </a:pPr>
            <a:r>
              <a:rPr lang="en-US" altLang="ko-KR" sz="2000" dirty="0" smtClean="0"/>
              <a:t>Nuclear Structure( Density Functional Theory, RPA)</a:t>
            </a:r>
          </a:p>
        </p:txBody>
      </p:sp>
    </p:spTree>
    <p:extLst>
      <p:ext uri="{BB962C8B-B14F-4D97-AF65-F5344CB8AC3E}">
        <p14:creationId xmlns:p14="http://schemas.microsoft.com/office/powerpoint/2010/main" val="94319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88756" y="50459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사업 개요 및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759" y="41365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002060"/>
                </a:solidFill>
              </a:rPr>
              <a:t>01</a:t>
            </a:r>
            <a:endParaRPr lang="ko-KR" altLang="en-US" sz="3600" b="1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44729" y="500645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</a:rPr>
              <a:t>사업 일반현황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80136" y="304798"/>
            <a:ext cx="8570955" cy="724929"/>
            <a:chOff x="680136" y="304798"/>
            <a:chExt cx="8570955" cy="724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3" t="9129" r="7295" b="84985"/>
            <a:stretch/>
          </p:blipFill>
          <p:spPr>
            <a:xfrm>
              <a:off x="680136" y="304798"/>
              <a:ext cx="8570955" cy="72492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80136" y="470196"/>
              <a:ext cx="2216376" cy="382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Research Areas</a:t>
              </a:r>
              <a:endParaRPr lang="ko-KR" altLang="en-US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12" name="내용 개체 틀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8429507"/>
              </p:ext>
            </p:extLst>
          </p:nvPr>
        </p:nvGraphicFramePr>
        <p:xfrm>
          <a:off x="1054130" y="1596494"/>
          <a:ext cx="7748818" cy="315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8818">
                  <a:extLst>
                    <a:ext uri="{9D8B030D-6E8A-4147-A177-3AD203B41FA5}">
                      <a16:colId xmlns:a16="http://schemas.microsoft.com/office/drawing/2014/main" val="2177877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Nuclear Force Study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6548072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Nucleon-Nucleon Interaction: </a:t>
                      </a:r>
                    </a:p>
                    <a:p>
                      <a:pPr marL="478919" lvl="1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dirty="0" smtClean="0"/>
                        <a:t>       Chiral Effective Interaction, pion-less Effective Field Theory 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8128043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764669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 smtClean="0"/>
                        <a:t>Power counting of chiral</a:t>
                      </a:r>
                      <a:r>
                        <a:rPr lang="en-US" altLang="ko-KR" baseline="0" dirty="0" smtClean="0"/>
                        <a:t> effective interaction</a:t>
                      </a:r>
                      <a:r>
                        <a:rPr lang="en-US" altLang="ko-KR" dirty="0" smtClean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8186866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764669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 smtClean="0"/>
                        <a:t>New NN</a:t>
                      </a:r>
                      <a:r>
                        <a:rPr lang="en-US" altLang="ko-KR" baseline="0" dirty="0" smtClean="0"/>
                        <a:t> interaction for ab initio calculation</a:t>
                      </a:r>
                      <a:r>
                        <a:rPr lang="en-US" altLang="ko-KR" dirty="0" smtClean="0"/>
                        <a:t> :</a:t>
                      </a:r>
                      <a:r>
                        <a:rPr lang="en-US" altLang="ko-KR" baseline="0" dirty="0" smtClean="0"/>
                        <a:t> DJ16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00864909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764669" lvl="1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err="1" smtClean="0"/>
                        <a:t>Faddeev</a:t>
                      </a:r>
                      <a:r>
                        <a:rPr lang="en-US" altLang="ko-KR" baseline="0" dirty="0" smtClean="0"/>
                        <a:t> method , di-baryon formalism, Halo/Cluster EFT 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8667528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764669" lvl="1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Symmetry Violating interaction</a:t>
                      </a:r>
                      <a:r>
                        <a:rPr lang="en-US" altLang="ko-KR" baseline="0" dirty="0" smtClean="0"/>
                        <a:t> : (EDM, spin-rotation)   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0190544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3N interaction 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25596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06708" y="5111101"/>
            <a:ext cx="6793270" cy="962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Nuclear Force is fundamental in Nuclear Physics.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Need better understanding of NN and also 3N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Effective Theory approach is model independent and systematic</a:t>
            </a:r>
          </a:p>
        </p:txBody>
      </p:sp>
    </p:spTree>
    <p:extLst>
      <p:ext uri="{BB962C8B-B14F-4D97-AF65-F5344CB8AC3E}">
        <p14:creationId xmlns:p14="http://schemas.microsoft.com/office/powerpoint/2010/main" val="58233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88756" y="50459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사업 개요 및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759" y="41365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002060"/>
                </a:solidFill>
              </a:rPr>
              <a:t>01</a:t>
            </a:r>
            <a:endParaRPr lang="ko-KR" altLang="en-US" sz="3600" b="1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44729" y="500645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</a:rPr>
              <a:t>사업 일반현황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80136" y="304798"/>
            <a:ext cx="8570955" cy="724929"/>
            <a:chOff x="680136" y="304798"/>
            <a:chExt cx="8570955" cy="724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3" t="9129" r="7295" b="84985"/>
            <a:stretch/>
          </p:blipFill>
          <p:spPr>
            <a:xfrm>
              <a:off x="680136" y="304798"/>
              <a:ext cx="8570955" cy="72492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80136" y="470196"/>
              <a:ext cx="2216376" cy="382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Research Areas</a:t>
              </a:r>
              <a:endParaRPr lang="ko-KR" altLang="en-US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115" y="2566844"/>
            <a:ext cx="3060996" cy="230201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372" y="5060909"/>
            <a:ext cx="4217604" cy="157166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49" y="2922770"/>
            <a:ext cx="2647210" cy="19460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59" y="5060909"/>
            <a:ext cx="1912009" cy="14508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0378" y="1104631"/>
            <a:ext cx="2486372" cy="218152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9404" y="3358940"/>
            <a:ext cx="2648320" cy="30198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7759" y="912842"/>
            <a:ext cx="3462807" cy="1832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Triton, n-d scattering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N-4He scattering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Deuteron photodisintegration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Neutrino-deuteron reaction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P+12C scattering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06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88756" y="50459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사업 개요 및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759" y="41365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002060"/>
                </a:solidFill>
              </a:rPr>
              <a:t>01</a:t>
            </a:r>
            <a:endParaRPr lang="ko-KR" altLang="en-US" sz="3600" b="1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44729" y="500645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</a:rPr>
              <a:t>사업 일반현황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80136" y="304798"/>
            <a:ext cx="8570955" cy="724929"/>
            <a:chOff x="680136" y="304798"/>
            <a:chExt cx="8570955" cy="724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3" t="9129" r="7295" b="84985"/>
            <a:stretch/>
          </p:blipFill>
          <p:spPr>
            <a:xfrm>
              <a:off x="680136" y="304798"/>
              <a:ext cx="8570955" cy="72492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80136" y="470196"/>
              <a:ext cx="2216376" cy="382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Research Areas</a:t>
              </a:r>
              <a:endParaRPr lang="ko-KR" altLang="en-US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10" name="내용 개체 틀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5573715"/>
              </p:ext>
            </p:extLst>
          </p:nvPr>
        </p:nvGraphicFramePr>
        <p:xfrm>
          <a:off x="1054130" y="1227607"/>
          <a:ext cx="7748818" cy="252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8818">
                  <a:extLst>
                    <a:ext uri="{9D8B030D-6E8A-4147-A177-3AD203B41FA5}">
                      <a16:colId xmlns:a16="http://schemas.microsoft.com/office/drawing/2014/main" val="2177877618"/>
                    </a:ext>
                  </a:extLst>
                </a:gridCol>
              </a:tblGrid>
              <a:tr h="3763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Nuclear Structure Study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6548072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Ab-initio No-core</a:t>
                      </a:r>
                      <a:r>
                        <a:rPr lang="en-US" altLang="ko-KR" baseline="0" dirty="0" smtClean="0"/>
                        <a:t> Shell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8128043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Ab-initio Nuclear Lattice Effective Field Theory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72749952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Coupled Cluster/in-medium SRG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33032708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Density Functional Theory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3139153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Random Phase Approximation 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88205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9836" y="3836008"/>
            <a:ext cx="7266413" cy="2993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Ab initio Nuclear structure study is important </a:t>
            </a:r>
          </a:p>
          <a:p>
            <a:pPr marL="821819" lvl="1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For better understanding of nuclear force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   </a:t>
            </a:r>
            <a:r>
              <a:rPr lang="en-US" altLang="ko-KR" dirty="0" smtClean="0">
                <a:sym typeface="Wingdings" panose="05000000000000000000" pitchFamily="2" charset="2"/>
              </a:rPr>
              <a:t> </a:t>
            </a:r>
            <a:r>
              <a:rPr lang="en-US" altLang="ko-KR" dirty="0" smtClean="0"/>
              <a:t>Directly connect nucleon-nucleon interaction to phenomena</a:t>
            </a:r>
          </a:p>
          <a:p>
            <a:pPr marL="821819" lvl="1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For reliable prediction without free parameter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   </a:t>
            </a:r>
            <a:r>
              <a:rPr lang="en-US" altLang="ko-KR" dirty="0" smtClean="0">
                <a:sym typeface="Wingdings" panose="05000000000000000000" pitchFamily="2" charset="2"/>
              </a:rPr>
              <a:t> towards dripline nuclei</a:t>
            </a:r>
          </a:p>
          <a:p>
            <a:pPr marL="821819" lvl="1" indent="-342900">
              <a:buFont typeface="Arial" panose="020B0604020202020204" pitchFamily="34" charset="0"/>
              <a:buChar char="•"/>
            </a:pPr>
            <a:r>
              <a:rPr lang="en-US" altLang="ko-KR" dirty="0" smtClean="0">
                <a:sym typeface="Wingdings" panose="05000000000000000000" pitchFamily="2" charset="2"/>
              </a:rPr>
              <a:t>Recent developments allows to access to heavier nuclei </a:t>
            </a:r>
          </a:p>
          <a:p>
            <a:pPr marL="821819" lvl="1" indent="-342900">
              <a:buFont typeface="Arial" panose="020B0604020202020204" pitchFamily="34" charset="0"/>
              <a:buChar char="•"/>
            </a:pPr>
            <a:r>
              <a:rPr lang="en-US" altLang="ko-KR" dirty="0" smtClean="0">
                <a:sym typeface="Wingdings" panose="05000000000000000000" pitchFamily="2" charset="2"/>
              </a:rPr>
              <a:t>Each method has its cons/pros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Density Functional Theory</a:t>
            </a:r>
            <a:r>
              <a:rPr lang="en-US" altLang="ko-KR" dirty="0"/>
              <a:t> </a:t>
            </a:r>
            <a:r>
              <a:rPr lang="en-US" altLang="ko-KR" dirty="0" smtClean="0"/>
              <a:t>and RPA</a:t>
            </a:r>
          </a:p>
          <a:p>
            <a:pPr marL="821819" lvl="1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Nuclear charts, dripline study </a:t>
            </a:r>
          </a:p>
          <a:p>
            <a:pPr marL="821819" lvl="1" indent="-342900">
              <a:buFont typeface="Arial" panose="020B0604020202020204" pitchFamily="34" charset="0"/>
              <a:buChar char="•"/>
            </a:pPr>
            <a:r>
              <a:rPr lang="en-US" altLang="ko-KR" dirty="0" smtClean="0"/>
              <a:t>Collective Excitation </a:t>
            </a:r>
          </a:p>
        </p:txBody>
      </p:sp>
    </p:spTree>
    <p:extLst>
      <p:ext uri="{BB962C8B-B14F-4D97-AF65-F5344CB8AC3E}">
        <p14:creationId xmlns:p14="http://schemas.microsoft.com/office/powerpoint/2010/main" val="41752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744" y="3884623"/>
            <a:ext cx="3458069" cy="23304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0" y="2504101"/>
            <a:ext cx="4959510" cy="3452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193" y="5983323"/>
            <a:ext cx="3201517" cy="229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94" dirty="0"/>
              <a:t>P. Maris I. J. Shin and J. P. Vary</a:t>
            </a:r>
            <a:r>
              <a:rPr lang="en-US" altLang="ko-KR" sz="894" dirty="0"/>
              <a:t>, </a:t>
            </a:r>
            <a:r>
              <a:rPr lang="en-US" altLang="ko-KR" sz="894" dirty="0"/>
              <a:t>Proceedings </a:t>
            </a:r>
            <a:r>
              <a:rPr lang="en-US" altLang="ko-KR" sz="894" dirty="0"/>
              <a:t>of </a:t>
            </a:r>
            <a:r>
              <a:rPr lang="en-US" altLang="ko-KR" sz="894" dirty="0"/>
              <a:t>NTSE-2018, p.168</a:t>
            </a:r>
            <a:endParaRPr lang="ko-KR" altLang="en-US" sz="894" dirty="0"/>
          </a:p>
        </p:txBody>
      </p:sp>
      <p:sp>
        <p:nvSpPr>
          <p:cNvPr id="9" name="TextBox 8"/>
          <p:cNvSpPr txBox="1"/>
          <p:nvPr/>
        </p:nvSpPr>
        <p:spPr>
          <a:xfrm>
            <a:off x="6747323" y="3166016"/>
            <a:ext cx="2832827" cy="229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94" dirty="0"/>
              <a:t>A. M. </a:t>
            </a:r>
            <a:r>
              <a:rPr lang="en-US" altLang="ko-KR" sz="894" dirty="0" err="1"/>
              <a:t>Shirokov</a:t>
            </a:r>
            <a:r>
              <a:rPr lang="en-US" altLang="ko-KR" sz="894" dirty="0"/>
              <a:t>, I. J. Shin and </a:t>
            </a:r>
            <a:r>
              <a:rPr lang="en-US" altLang="ko-KR" sz="894" i="1" dirty="0"/>
              <a:t>et al</a:t>
            </a:r>
            <a:r>
              <a:rPr lang="en-US" altLang="ko-KR" sz="894" dirty="0"/>
              <a:t>., PRC98, 044624 (2018)</a:t>
            </a:r>
            <a:endParaRPr lang="ko-KR" altLang="en-US" sz="894" dirty="0"/>
          </a:p>
        </p:txBody>
      </p:sp>
      <p:sp>
        <p:nvSpPr>
          <p:cNvPr id="11" name="TextBox 10"/>
          <p:cNvSpPr txBox="1"/>
          <p:nvPr/>
        </p:nvSpPr>
        <p:spPr>
          <a:xfrm>
            <a:off x="4319596" y="754637"/>
            <a:ext cx="3149868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 * ground state/excitation energies</a:t>
            </a:r>
          </a:p>
          <a:p>
            <a:pPr>
              <a:lnSpc>
                <a:spcPct val="50000"/>
              </a:lnSpc>
            </a:pPr>
            <a:endParaRPr lang="en-US" altLang="ko-KR" sz="1300" dirty="0"/>
          </a:p>
          <a:p>
            <a:r>
              <a:rPr lang="en-US" altLang="ko-KR" sz="1300" dirty="0"/>
              <a:t> * </a:t>
            </a:r>
            <a:r>
              <a:rPr lang="en-US" altLang="ko-KR" sz="1300" dirty="0"/>
              <a:t>magnetic dipoles</a:t>
            </a:r>
          </a:p>
          <a:p>
            <a:r>
              <a:rPr lang="en-US" altLang="ko-KR" sz="1300" dirty="0"/>
              <a:t> * M1 </a:t>
            </a:r>
            <a:r>
              <a:rPr lang="en-US" altLang="ko-KR" sz="1300" dirty="0"/>
              <a:t>transition</a:t>
            </a:r>
          </a:p>
          <a:p>
            <a:r>
              <a:rPr lang="en-US" altLang="ko-KR" sz="1300" dirty="0"/>
              <a:t> * matrix elements of GT</a:t>
            </a:r>
          </a:p>
          <a:p>
            <a:pPr marL="232172" indent="-232172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r>
              <a:rPr lang="en-US" altLang="ko-KR" sz="1300" dirty="0"/>
              <a:t> * </a:t>
            </a:r>
            <a:r>
              <a:rPr lang="en-US" altLang="ko-KR" sz="1300" dirty="0" err="1"/>
              <a:t>rms</a:t>
            </a:r>
            <a:r>
              <a:rPr lang="en-US" altLang="ko-KR" sz="1300" dirty="0"/>
              <a:t> radius</a:t>
            </a:r>
          </a:p>
          <a:p>
            <a:r>
              <a:rPr lang="en-US" altLang="ko-KR" sz="1300" dirty="0"/>
              <a:t> * </a:t>
            </a:r>
            <a:r>
              <a:rPr lang="en-US" altLang="ko-KR" sz="1300" dirty="0"/>
              <a:t>electric quadrupoles</a:t>
            </a:r>
          </a:p>
          <a:p>
            <a:r>
              <a:rPr lang="en-US" altLang="ko-KR" sz="1300" dirty="0"/>
              <a:t> * </a:t>
            </a:r>
            <a:r>
              <a:rPr lang="en-US" altLang="ko-KR" sz="1300" dirty="0"/>
              <a:t>E2 </a:t>
            </a:r>
            <a:r>
              <a:rPr lang="en-US" altLang="ko-KR" sz="1300" dirty="0"/>
              <a:t>transition</a:t>
            </a:r>
            <a:endParaRPr lang="ko-KR" altLang="en-US" sz="13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70" y="1271117"/>
            <a:ext cx="4029391" cy="99257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000000"/>
                </a:solidFill>
              </a:rPr>
              <a:t> * nucleons as degrees of freedom </a:t>
            </a:r>
            <a:r>
              <a:rPr lang="en-US" altLang="ko-KR" sz="1300" dirty="0"/>
              <a:t>(roughly A&lt;20)</a:t>
            </a:r>
            <a:endParaRPr lang="en-US" altLang="ko-KR" sz="13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000000"/>
                </a:solidFill>
              </a:rPr>
              <a:t> * using realistic inter-nucleon interactions</a:t>
            </a: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000000"/>
                </a:solidFill>
              </a:rPr>
              <a:t> * with quantified approximation</a:t>
            </a:r>
            <a:endParaRPr lang="ko-KR" altLang="en-US" sz="1300" dirty="0">
              <a:solidFill>
                <a:srgbClr val="000000"/>
              </a:solidFill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217204" y="892980"/>
            <a:ext cx="4532880" cy="3518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25" b="1" i="1" dirty="0"/>
              <a:t>Ab initio </a:t>
            </a:r>
            <a:r>
              <a:rPr lang="en-US" altLang="ko-KR" sz="1625" b="1" dirty="0"/>
              <a:t>No-Core Shell Model</a:t>
            </a:r>
            <a:endParaRPr lang="ko-KR" altLang="en-US" sz="1625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14" y="1220577"/>
            <a:ext cx="3158677" cy="196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43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217204" y="894487"/>
            <a:ext cx="4532880" cy="3518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25" b="1" i="1" dirty="0"/>
              <a:t>Ab initio </a:t>
            </a:r>
            <a:r>
              <a:rPr lang="en-US" altLang="ko-KR" sz="1625" b="1" dirty="0"/>
              <a:t>No-Core Shell Model</a:t>
            </a:r>
            <a:endParaRPr lang="ko-KR" altLang="en-US" sz="1625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118" y="2386890"/>
            <a:ext cx="6202900" cy="3706053"/>
          </a:xfrm>
          <a:prstGeom prst="rect">
            <a:avLst/>
          </a:prstGeom>
        </p:spPr>
      </p:pic>
      <p:sp>
        <p:nvSpPr>
          <p:cNvPr id="2" name="타원 1"/>
          <p:cNvSpPr/>
          <p:nvPr/>
        </p:nvSpPr>
        <p:spPr>
          <a:xfrm rot="18713332">
            <a:off x="4552230" y="4272619"/>
            <a:ext cx="1778779" cy="672546"/>
          </a:xfrm>
          <a:prstGeom prst="ellipse">
            <a:avLst/>
          </a:prstGeom>
          <a:solidFill>
            <a:srgbClr val="0070C0">
              <a:alpha val="15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32"/>
          </a:p>
        </p:txBody>
      </p:sp>
      <p:sp>
        <p:nvSpPr>
          <p:cNvPr id="7" name="TextBox 6"/>
          <p:cNvSpPr txBox="1"/>
          <p:nvPr/>
        </p:nvSpPr>
        <p:spPr>
          <a:xfrm>
            <a:off x="217203" y="1430605"/>
            <a:ext cx="4810977" cy="20492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32" dirty="0"/>
              <a:t>* </a:t>
            </a:r>
            <a:r>
              <a:rPr lang="en-US" altLang="ko-KR" sz="1532" dirty="0"/>
              <a:t>Structure (and/or Reaction)</a:t>
            </a:r>
          </a:p>
          <a:p>
            <a:pPr>
              <a:lnSpc>
                <a:spcPct val="50000"/>
              </a:lnSpc>
            </a:pPr>
            <a:endParaRPr lang="en-US" altLang="ko-KR" sz="1532" dirty="0"/>
          </a:p>
          <a:p>
            <a:pPr>
              <a:lnSpc>
                <a:spcPct val="130000"/>
              </a:lnSpc>
            </a:pPr>
            <a:r>
              <a:rPr lang="en-US" altLang="ko-KR" sz="1532" dirty="0"/>
              <a:t>  </a:t>
            </a:r>
            <a:r>
              <a:rPr lang="en-US" altLang="ko-KR" sz="1532" dirty="0"/>
              <a:t>&gt;  </a:t>
            </a:r>
            <a:r>
              <a:rPr lang="en-US" altLang="ko-KR" sz="1532" dirty="0"/>
              <a:t>NCSM </a:t>
            </a:r>
            <a:r>
              <a:rPr lang="en-US" altLang="ko-KR" sz="1532" dirty="0"/>
              <a:t>calculation (slightly) over </a:t>
            </a:r>
            <a:r>
              <a:rPr lang="en-US" altLang="ko-KR" sz="1532" dirty="0"/>
              <a:t>Z=8 and/or N=8</a:t>
            </a:r>
            <a:br>
              <a:rPr lang="en-US" altLang="ko-KR" sz="1532" dirty="0"/>
            </a:br>
            <a:r>
              <a:rPr lang="en-US" altLang="ko-KR" sz="1532" dirty="0"/>
              <a:t>   </a:t>
            </a:r>
            <a:r>
              <a:rPr lang="en-US" altLang="ko-KR" sz="1532" dirty="0"/>
              <a:t>    - </a:t>
            </a:r>
            <a:r>
              <a:rPr lang="en-US" altLang="ko-KR" sz="1532" dirty="0"/>
              <a:t>the spectrum of (</a:t>
            </a:r>
            <a:r>
              <a:rPr lang="en-US" altLang="ko-KR" sz="1532" dirty="0"/>
              <a:t>16~19</a:t>
            </a:r>
            <a:r>
              <a:rPr lang="en-US" altLang="ko-KR" sz="1532" dirty="0"/>
              <a:t>) [O, F, </a:t>
            </a:r>
            <a:r>
              <a:rPr lang="en-US" altLang="ko-KR" sz="1532" dirty="0"/>
              <a:t>Ne, …]</a:t>
            </a:r>
            <a:r>
              <a:rPr lang="en-US" altLang="ko-KR" sz="1532" dirty="0"/>
              <a:t/>
            </a:r>
            <a:br>
              <a:rPr lang="en-US" altLang="ko-KR" sz="1532" dirty="0"/>
            </a:br>
            <a:r>
              <a:rPr lang="en-US" altLang="ko-KR" sz="1532" dirty="0"/>
              <a:t>    </a:t>
            </a:r>
            <a:r>
              <a:rPr lang="en-US" altLang="ko-KR" sz="1532" dirty="0"/>
              <a:t>  ex</a:t>
            </a:r>
            <a:r>
              <a:rPr lang="en-US" altLang="ko-KR" sz="1532" dirty="0"/>
              <a:t>. </a:t>
            </a:r>
            <a:r>
              <a:rPr lang="en-US" altLang="ko-KR" sz="1532" i="1" dirty="0"/>
              <a:t>p </a:t>
            </a:r>
            <a:r>
              <a:rPr lang="en-US" altLang="ko-KR" sz="1532" dirty="0"/>
              <a:t>(</a:t>
            </a:r>
            <a:r>
              <a:rPr lang="en-US" altLang="ko-KR" sz="1532" baseline="30000" dirty="0"/>
              <a:t>18</a:t>
            </a:r>
            <a:r>
              <a:rPr lang="en-US" altLang="ko-KR" sz="1532" dirty="0"/>
              <a:t>Ne,</a:t>
            </a:r>
            <a:r>
              <a:rPr lang="en-US" altLang="ko-KR" sz="1532" i="1" dirty="0"/>
              <a:t>d </a:t>
            </a:r>
            <a:r>
              <a:rPr lang="en-US" altLang="ko-KR" sz="1532" dirty="0"/>
              <a:t>)</a:t>
            </a:r>
            <a:r>
              <a:rPr lang="en-US" altLang="ko-KR" sz="1532" baseline="30000" dirty="0"/>
              <a:t>17</a:t>
            </a:r>
            <a:r>
              <a:rPr lang="en-US" altLang="ko-KR" sz="1532" dirty="0"/>
              <a:t>Ne*(</a:t>
            </a:r>
            <a:r>
              <a:rPr lang="en-US" altLang="ko-KR" sz="1532" dirty="0"/>
              <a:t>2</a:t>
            </a:r>
            <a:r>
              <a:rPr lang="en-US" altLang="ko-KR" sz="1532" i="1" dirty="0"/>
              <a:t>p</a:t>
            </a:r>
            <a:r>
              <a:rPr lang="en-US" altLang="ko-KR" sz="1532" dirty="0"/>
              <a:t>) </a:t>
            </a:r>
            <a:r>
              <a:rPr lang="en-US" altLang="ko-KR" sz="1532" dirty="0"/>
              <a:t>,  </a:t>
            </a:r>
            <a:r>
              <a:rPr lang="en-US" altLang="ko-KR" sz="1532" i="1" dirty="0"/>
              <a:t>p </a:t>
            </a:r>
            <a:r>
              <a:rPr lang="en-US" altLang="ko-KR" sz="1532" dirty="0"/>
              <a:t>(</a:t>
            </a:r>
            <a:r>
              <a:rPr lang="en-US" altLang="ko-KR" sz="1532" baseline="30000" dirty="0"/>
              <a:t>18</a:t>
            </a:r>
            <a:r>
              <a:rPr lang="en-US" altLang="ko-KR" sz="1532" dirty="0"/>
              <a:t>Ne,</a:t>
            </a:r>
            <a:r>
              <a:rPr lang="en-US" altLang="ko-KR" sz="1532" i="1" dirty="0"/>
              <a:t>t </a:t>
            </a:r>
            <a:r>
              <a:rPr lang="en-US" altLang="ko-KR" sz="1532" dirty="0"/>
              <a:t>)</a:t>
            </a:r>
            <a:r>
              <a:rPr lang="en-US" altLang="ko-KR" sz="1532" baseline="30000" dirty="0"/>
              <a:t>16</a:t>
            </a:r>
            <a:r>
              <a:rPr lang="en-US" altLang="ko-KR" sz="1532" dirty="0"/>
              <a:t>Ne  , ... </a:t>
            </a:r>
            <a:r>
              <a:rPr lang="en-US" altLang="ko-KR" sz="1532" dirty="0"/>
              <a:t/>
            </a:r>
            <a:br>
              <a:rPr lang="en-US" altLang="ko-KR" sz="1532" dirty="0"/>
            </a:br>
            <a:endParaRPr lang="en-US" altLang="ko-KR" sz="1532" dirty="0"/>
          </a:p>
          <a:p>
            <a:pPr>
              <a:lnSpc>
                <a:spcPct val="130000"/>
              </a:lnSpc>
            </a:pPr>
            <a:r>
              <a:rPr lang="en-US" altLang="ko-KR" sz="1532" dirty="0"/>
              <a:t> </a:t>
            </a:r>
            <a:r>
              <a:rPr lang="en-US" altLang="ko-KR" sz="1532" dirty="0"/>
              <a:t>     </a:t>
            </a:r>
            <a:r>
              <a:rPr lang="en-US" altLang="ko-KR" sz="1532" dirty="0">
                <a:solidFill>
                  <a:schemeClr val="bg1">
                    <a:lumMod val="50000"/>
                  </a:schemeClr>
                </a:solidFill>
              </a:rPr>
              <a:t>BUT </a:t>
            </a:r>
            <a:r>
              <a:rPr lang="en-US" altLang="ko-KR" sz="1532" i="1" dirty="0" err="1">
                <a:solidFill>
                  <a:schemeClr val="bg1">
                    <a:lumMod val="50000"/>
                  </a:schemeClr>
                </a:solidFill>
              </a:rPr>
              <a:t>sd</a:t>
            </a:r>
            <a:r>
              <a:rPr lang="en-US" altLang="ko-KR" sz="1532" dirty="0">
                <a:solidFill>
                  <a:schemeClr val="bg1">
                    <a:lumMod val="50000"/>
                  </a:schemeClr>
                </a:solidFill>
              </a:rPr>
              <a:t>-shell nuclei should be considered carefully</a:t>
            </a:r>
            <a:r>
              <a:rPr lang="en-US" altLang="ko-KR" sz="1532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altLang="ko-KR" sz="1532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74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217204" y="892980"/>
            <a:ext cx="4532880" cy="3518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25" b="1" i="1" dirty="0"/>
              <a:t>Ab initio </a:t>
            </a:r>
            <a:r>
              <a:rPr lang="en-US" altLang="ko-KR" sz="1625" b="1" dirty="0" smtClean="0"/>
              <a:t>Nuclear Lattice Effective Field Theory</a:t>
            </a:r>
            <a:endParaRPr lang="ko-KR" altLang="en-US" sz="1625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63" y="280240"/>
            <a:ext cx="3563918" cy="29743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263" y="4149150"/>
            <a:ext cx="3560677" cy="24106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470" y="1271117"/>
            <a:ext cx="4029391" cy="99257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000000"/>
                </a:solidFill>
              </a:rPr>
              <a:t> * nucleons as degrees of freedom </a:t>
            </a:r>
            <a:r>
              <a:rPr lang="en-US" altLang="ko-KR" sz="1300" dirty="0"/>
              <a:t>(roughly </a:t>
            </a:r>
            <a:r>
              <a:rPr lang="en-US" altLang="ko-KR" sz="1300" dirty="0" smtClean="0"/>
              <a:t>A &lt; 60</a:t>
            </a:r>
            <a:r>
              <a:rPr lang="en-US" altLang="ko-KR" sz="1300" dirty="0"/>
              <a:t>)</a:t>
            </a:r>
            <a:endParaRPr lang="en-US" altLang="ko-KR" sz="13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000000"/>
                </a:solidFill>
              </a:rPr>
              <a:t> * </a:t>
            </a:r>
            <a:r>
              <a:rPr lang="en-US" altLang="ko-KR" sz="1300" dirty="0" smtClean="0">
                <a:solidFill>
                  <a:srgbClr val="000000"/>
                </a:solidFill>
              </a:rPr>
              <a:t>finite lattice size  0.5~ 1 </a:t>
            </a:r>
            <a:r>
              <a:rPr lang="en-US" altLang="ko-KR" sz="1300" dirty="0" err="1" smtClean="0">
                <a:solidFill>
                  <a:srgbClr val="000000"/>
                </a:solidFill>
              </a:rPr>
              <a:t>fm</a:t>
            </a:r>
            <a:endParaRPr lang="en-US" altLang="ko-KR" sz="13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000000"/>
                </a:solidFill>
              </a:rPr>
              <a:t> * </a:t>
            </a:r>
            <a:r>
              <a:rPr lang="en-US" altLang="ko-KR" sz="1300" dirty="0" smtClean="0">
                <a:solidFill>
                  <a:srgbClr val="000000"/>
                </a:solidFill>
              </a:rPr>
              <a:t>interaction are fitted to NN phase shifts</a:t>
            </a:r>
            <a:endParaRPr lang="ko-KR" altLang="en-US" sz="1300" dirty="0">
              <a:solidFill>
                <a:srgbClr val="0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19" y="2470875"/>
            <a:ext cx="4496740" cy="275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8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density functional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KIDS framework</a:t>
            </a:r>
          </a:p>
          <a:p>
            <a:pPr marL="371475" lvl="1" indent="0">
              <a:buNone/>
            </a:pPr>
            <a:r>
              <a:rPr lang="en-US" sz="1625" i="1" dirty="0"/>
              <a:t>Korea-IBS-Daegu-SKKU</a:t>
            </a:r>
          </a:p>
          <a:p>
            <a:r>
              <a:rPr lang="en-US" sz="1463" dirty="0"/>
              <a:t>Connecting nuclear structure, nuclear equation of state, and compact </a:t>
            </a:r>
            <a:r>
              <a:rPr lang="en-US" sz="1463" dirty="0"/>
              <a:t>stars </a:t>
            </a:r>
          </a:p>
          <a:p>
            <a:r>
              <a:rPr lang="en-US" sz="1463" dirty="0"/>
              <a:t>E.g., neutron skins, symmetry energy, neutron star mass-radius</a:t>
            </a:r>
            <a:endParaRPr lang="en-US" sz="1463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err="1" smtClean="0"/>
              <a:t>DRHBc</a:t>
            </a:r>
            <a:r>
              <a:rPr lang="en-US" b="1" dirty="0" smtClean="0"/>
              <a:t> theory</a:t>
            </a:r>
          </a:p>
          <a:p>
            <a:pPr marL="371475" lvl="1" indent="0">
              <a:buNone/>
            </a:pPr>
            <a:r>
              <a:rPr lang="en-US" sz="1625" i="1" dirty="0"/>
              <a:t>Deformed relativistic </a:t>
            </a:r>
            <a:r>
              <a:rPr lang="en-US" sz="1625" i="1" dirty="0" err="1"/>
              <a:t>Hartree-Bogoliubov</a:t>
            </a:r>
            <a:r>
              <a:rPr lang="en-US" sz="1625" i="1" dirty="0"/>
              <a:t> </a:t>
            </a:r>
            <a:endParaRPr lang="en-US" sz="1625" i="1" dirty="0" smtClean="0"/>
          </a:p>
          <a:p>
            <a:pPr marL="371475" lvl="1" indent="0">
              <a:buNone/>
            </a:pPr>
            <a:r>
              <a:rPr lang="en-US" sz="1625" i="1" dirty="0" smtClean="0"/>
              <a:t>theory </a:t>
            </a:r>
            <a:r>
              <a:rPr lang="en-US" sz="1625" i="1" dirty="0"/>
              <a:t>in continuum</a:t>
            </a:r>
          </a:p>
          <a:p>
            <a:r>
              <a:rPr lang="en-US" sz="1625" dirty="0"/>
              <a:t>S</a:t>
            </a:r>
            <a:r>
              <a:rPr lang="en-US" sz="1625" dirty="0"/>
              <a:t>tructure of loosely bound nuclei</a:t>
            </a:r>
          </a:p>
          <a:p>
            <a:r>
              <a:rPr lang="en-US" sz="1625" dirty="0"/>
              <a:t>Exotic shapes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" y="3953192"/>
            <a:ext cx="2955110" cy="1570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5031" y="5539959"/>
            <a:ext cx="2443480" cy="36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94" dirty="0" err="1"/>
              <a:t>E.g.:Neutron</a:t>
            </a:r>
            <a:r>
              <a:rPr lang="en-US" sz="894" dirty="0"/>
              <a:t> skins based on the APR EoS in the KIDS framework [PRC99,064319]</a:t>
            </a:r>
            <a:endParaRPr lang="en-US" sz="894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424" y="3936683"/>
            <a:ext cx="2171796" cy="15705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4605" y="5539959"/>
            <a:ext cx="2443480" cy="642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94" dirty="0"/>
              <a:t>E.g.: Likely symmetry-energy parameters based on nuclear structure data and astronomical observations (ellipsis) and correlations from the literature (lines) [PRC103,034330]</a:t>
            </a:r>
            <a:endParaRPr lang="en-US" sz="894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955" y="3897313"/>
            <a:ext cx="1672811" cy="1623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512" y="3910428"/>
            <a:ext cx="1702196" cy="1623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49955" y="5539959"/>
            <a:ext cx="3498833" cy="50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94" dirty="0"/>
              <a:t>E.g.: Shape coexistence in S isotopes; here, </a:t>
            </a:r>
            <a:r>
              <a:rPr lang="en-US" sz="894" dirty="0" err="1"/>
              <a:t>prolate</a:t>
            </a:r>
            <a:r>
              <a:rPr lang="en-US" sz="894" dirty="0"/>
              <a:t> and oblate </a:t>
            </a:r>
            <a:r>
              <a:rPr lang="en-US" sz="894" baseline="30000" dirty="0"/>
              <a:t>48</a:t>
            </a:r>
            <a:r>
              <a:rPr lang="en-US" sz="894" dirty="0"/>
              <a:t>S; left half: neutrons; right: protons; units: [fm</a:t>
            </a:r>
            <a:r>
              <a:rPr lang="en-US" sz="894" baseline="30000" dirty="0"/>
              <a:t>-3</a:t>
            </a:r>
            <a:r>
              <a:rPr lang="en-US" sz="894" dirty="0"/>
              <a:t>] [IJMPE30,2150009 and in progress]</a:t>
            </a:r>
            <a:endParaRPr lang="en-US" sz="894" dirty="0"/>
          </a:p>
        </p:txBody>
      </p:sp>
    </p:spTree>
    <p:extLst>
      <p:ext uri="{BB962C8B-B14F-4D97-AF65-F5344CB8AC3E}">
        <p14:creationId xmlns:p14="http://schemas.microsoft.com/office/powerpoint/2010/main" val="40412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response </a:t>
            </a:r>
            <a:r>
              <a:rPr lang="en-US" dirty="0" smtClean="0"/>
              <a:t>theory: RPA and extensions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Giant </a:t>
            </a:r>
            <a:r>
              <a:rPr lang="en-US" b="1" dirty="0"/>
              <a:t>and pygmy </a:t>
            </a:r>
            <a:r>
              <a:rPr lang="en-US" b="1" dirty="0" smtClean="0"/>
              <a:t>resonances </a:t>
            </a:r>
          </a:p>
          <a:p>
            <a:pPr lvl="1"/>
            <a:r>
              <a:rPr lang="en-US" dirty="0" smtClean="0"/>
              <a:t>Structure and decay mechanisms</a:t>
            </a:r>
          </a:p>
          <a:p>
            <a:pPr lvl="1"/>
            <a:r>
              <a:rPr lang="en-US" dirty="0" smtClean="0"/>
              <a:t>Using </a:t>
            </a:r>
            <a:r>
              <a:rPr lang="en-US" dirty="0"/>
              <a:t>both phenomenological and realistic </a:t>
            </a:r>
            <a:r>
              <a:rPr lang="en-US" dirty="0" smtClean="0"/>
              <a:t>interactions (e.g., Daejeon16) 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 Used with KIDS </a:t>
            </a:r>
            <a:r>
              <a:rPr lang="en-US" dirty="0"/>
              <a:t>to study the nuclear equation of </a:t>
            </a:r>
            <a:r>
              <a:rPr lang="en-US" dirty="0" smtClean="0"/>
              <a:t>state (compression modulus, symmetry energy)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718" y="3802700"/>
            <a:ext cx="2737772" cy="17226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67009" y="5529041"/>
            <a:ext cx="2443480" cy="50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1475" latinLnBrk="0"/>
            <a:r>
              <a:rPr lang="en-US" sz="894" dirty="0">
                <a:solidFill>
                  <a:prstClr val="black"/>
                </a:solidFill>
                <a:latin typeface="Calibri" panose="020F0502020204030204"/>
              </a:rPr>
              <a:t>E.g.: Cumulative electric dipole polarizability of </a:t>
            </a:r>
            <a:r>
              <a:rPr lang="en-US" sz="894" baseline="30000" dirty="0">
                <a:solidFill>
                  <a:prstClr val="black"/>
                </a:solidFill>
                <a:latin typeface="Calibri" panose="020F0502020204030204"/>
              </a:rPr>
              <a:t>68</a:t>
            </a:r>
            <a:r>
              <a:rPr lang="en-US" sz="894" dirty="0">
                <a:solidFill>
                  <a:prstClr val="black"/>
                </a:solidFill>
                <a:latin typeface="Calibri" panose="020F0502020204030204"/>
              </a:rPr>
              <a:t>Ni from RPA and using the APR EoS in the KIDS framework [in progress] </a:t>
            </a:r>
            <a:endParaRPr lang="en-US" sz="89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084" y="3802700"/>
            <a:ext cx="2495575" cy="17300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98083" y="5532788"/>
            <a:ext cx="2696311" cy="642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1475" latinLnBrk="0"/>
            <a:r>
              <a:rPr lang="en-US" sz="894" dirty="0">
                <a:solidFill>
                  <a:prstClr val="black"/>
                </a:solidFill>
                <a:latin typeface="Calibri" panose="020F0502020204030204"/>
              </a:rPr>
              <a:t>E.g.: Isospin character of low-energy dipole excitations in Ca isotopes based on RPA with phenomenological interactions [PLB709,270; PLB730,288] </a:t>
            </a:r>
            <a:endParaRPr lang="en-US" sz="89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93" y="3802700"/>
            <a:ext cx="2045638" cy="17226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6593" y="5532789"/>
            <a:ext cx="2443480" cy="50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1475" latinLnBrk="0"/>
            <a:r>
              <a:rPr lang="en-US" sz="894" dirty="0">
                <a:solidFill>
                  <a:prstClr val="black"/>
                </a:solidFill>
                <a:latin typeface="Calibri" panose="020F0502020204030204"/>
              </a:rPr>
              <a:t>E.g.: Giant and pygmy resonances of </a:t>
            </a:r>
            <a:r>
              <a:rPr lang="en-US" sz="894" baseline="30000" dirty="0">
                <a:solidFill>
                  <a:prstClr val="black"/>
                </a:solidFill>
                <a:latin typeface="Calibri" panose="020F0502020204030204"/>
              </a:rPr>
              <a:t>68</a:t>
            </a:r>
            <a:r>
              <a:rPr lang="en-US" sz="894" dirty="0">
                <a:solidFill>
                  <a:prstClr val="black"/>
                </a:solidFill>
                <a:latin typeface="Calibri" panose="020F0502020204030204"/>
              </a:rPr>
              <a:t>Ni from RPA and using phenomenological effective interactions [PRC92,034311] </a:t>
            </a:r>
            <a:endParaRPr lang="en-US" sz="894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329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88756" y="50459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사업 개요 및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759" y="41365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002060"/>
                </a:solidFill>
              </a:rPr>
              <a:t>01</a:t>
            </a:r>
            <a:endParaRPr lang="ko-KR" altLang="en-US" sz="3600" b="1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44729" y="500645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</a:rPr>
              <a:t>사업 일반현황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80136" y="304798"/>
            <a:ext cx="8570955" cy="724929"/>
            <a:chOff x="680136" y="304798"/>
            <a:chExt cx="8570955" cy="724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3" t="9129" r="7295" b="84985"/>
            <a:stretch/>
          </p:blipFill>
          <p:spPr>
            <a:xfrm>
              <a:off x="680136" y="304798"/>
              <a:ext cx="8570955" cy="72492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80136" y="470196"/>
              <a:ext cx="2216376" cy="382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Research Areas</a:t>
              </a:r>
              <a:endParaRPr lang="ko-KR" altLang="en-US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18" name="내용 개체 틀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798780"/>
              </p:ext>
            </p:extLst>
          </p:nvPr>
        </p:nvGraphicFramePr>
        <p:xfrm>
          <a:off x="1130143" y="1296259"/>
          <a:ext cx="7748818" cy="252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8818">
                  <a:extLst>
                    <a:ext uri="{9D8B030D-6E8A-4147-A177-3AD203B41FA5}">
                      <a16:colId xmlns:a16="http://schemas.microsoft.com/office/drawing/2014/main" val="2177877618"/>
                    </a:ext>
                  </a:extLst>
                </a:gridCol>
              </a:tblGrid>
              <a:tr h="3763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Nuclear Reaction Study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6548072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Elastic/inelastic scattering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8128043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Transfer reaction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31391535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DWBA, ADWA, CDCC, Coupled Channel Methods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22176346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764669" lvl="1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Combine Nuclear Structure + reaction  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9848580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 smtClean="0"/>
                        <a:t>Development of GUI for easy</a:t>
                      </a:r>
                      <a:r>
                        <a:rPr lang="en-US" altLang="ko-KR" baseline="0" dirty="0" smtClean="0"/>
                        <a:t> access to Nuclear reaction codes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255967"/>
                  </a:ext>
                </a:extLst>
              </a:tr>
            </a:tbl>
          </a:graphicData>
        </a:graphic>
      </p:graphicFrame>
      <p:pic>
        <p:nvPicPr>
          <p:cNvPr id="13" name="내용 개체 틀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412" y="3915032"/>
            <a:ext cx="3704360" cy="273852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263" y="3894047"/>
            <a:ext cx="2834910" cy="275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7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88756" y="50459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사업 개요 및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759" y="41365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002060"/>
                </a:solidFill>
              </a:rPr>
              <a:t>01</a:t>
            </a:r>
            <a:endParaRPr lang="ko-KR" altLang="en-US" sz="3600" b="1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44729" y="500645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002060"/>
                </a:solidFill>
              </a:rPr>
              <a:t>사업 일반현황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80136" y="304798"/>
            <a:ext cx="8570955" cy="724929"/>
            <a:chOff x="680136" y="304798"/>
            <a:chExt cx="8570955" cy="72492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3" t="9129" r="7295" b="84985"/>
            <a:stretch/>
          </p:blipFill>
          <p:spPr>
            <a:xfrm>
              <a:off x="680136" y="304798"/>
              <a:ext cx="8570955" cy="72492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80136" y="470196"/>
              <a:ext cx="2216376" cy="382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en-US" altLang="ko-KR" b="1" dirty="0" smtClean="0">
                  <a:solidFill>
                    <a:schemeClr val="bg1"/>
                  </a:solidFill>
                  <a:latin typeface="+mn-ea"/>
                </a:rPr>
                <a:t>Research Areas</a:t>
              </a:r>
              <a:endParaRPr lang="ko-KR" altLang="en-US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12" name="내용 개체 틀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821989"/>
              </p:ext>
            </p:extLst>
          </p:nvPr>
        </p:nvGraphicFramePr>
        <p:xfrm>
          <a:off x="1244729" y="1448660"/>
          <a:ext cx="7748818" cy="1016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8818">
                  <a:extLst>
                    <a:ext uri="{9D8B030D-6E8A-4147-A177-3AD203B41FA5}">
                      <a16:colId xmlns:a16="http://schemas.microsoft.com/office/drawing/2014/main" val="2177877618"/>
                    </a:ext>
                  </a:extLst>
                </a:gridCol>
              </a:tblGrid>
              <a:tr h="3763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New methods in Nuclear Physics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6548072"/>
                  </a:ext>
                </a:extLst>
              </a:tr>
              <a:tr h="429342">
                <a:tc>
                  <a:txBody>
                    <a:bodyPr/>
                    <a:lstStyle/>
                    <a:p>
                      <a:pPr marL="821819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 smtClean="0"/>
                        <a:t>Application of Machine Learning to nuclear physics</a:t>
                      </a:r>
                    </a:p>
                    <a:p>
                      <a:pPr marL="478919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sym typeface="Wingdings" panose="05000000000000000000" pitchFamily="2" charset="2"/>
                        </a:rPr>
                        <a:t>    nuclear mass, alpha decay, no-core shell model</a:t>
                      </a:r>
                      <a:endParaRPr lang="en-US" altLang="ko-KR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255967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863" y="3930476"/>
            <a:ext cx="3334309" cy="216234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47" y="3117273"/>
            <a:ext cx="5062992" cy="33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4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17481</TotalTime>
  <Words>810</Words>
  <Application>Microsoft Office PowerPoint</Application>
  <PresentationFormat>A4 용지(210x297mm)</PresentationFormat>
  <Paragraphs>125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Arial</vt:lpstr>
      <vt:lpstr>Calibri</vt:lpstr>
      <vt:lpstr>Calibri Light</vt:lpstr>
      <vt:lpstr>Wingdings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Energy density functional theory</vt:lpstr>
      <vt:lpstr>Linear response theory: RPA and extensions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유준호</dc:creator>
  <cp:lastModifiedBy>user</cp:lastModifiedBy>
  <cp:revision>1058</cp:revision>
  <cp:lastPrinted>2018-09-03T05:45:20Z</cp:lastPrinted>
  <dcterms:created xsi:type="dcterms:W3CDTF">2016-03-06T10:47:04Z</dcterms:created>
  <dcterms:modified xsi:type="dcterms:W3CDTF">2021-05-11T07:27:23Z</dcterms:modified>
</cp:coreProperties>
</file>