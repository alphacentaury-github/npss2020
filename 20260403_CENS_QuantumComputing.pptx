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328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8" r:id="rId12"/>
    <p:sldId id="337" r:id="rId13"/>
    <p:sldId id="340" r:id="rId14"/>
    <p:sldId id="344" r:id="rId15"/>
    <p:sldId id="339" r:id="rId16"/>
    <p:sldId id="341" r:id="rId17"/>
    <p:sldId id="342" r:id="rId18"/>
    <p:sldId id="343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4" r:id="rId28"/>
    <p:sldId id="358" r:id="rId29"/>
    <p:sldId id="355" r:id="rId30"/>
    <p:sldId id="356" r:id="rId31"/>
    <p:sldId id="359" r:id="rId32"/>
    <p:sldId id="357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98"/>
    <a:srgbClr val="0075C2"/>
    <a:srgbClr val="005391"/>
    <a:srgbClr val="9FDFFF"/>
    <a:srgbClr val="0097E0"/>
    <a:srgbClr val="0079C0"/>
    <a:srgbClr val="002642"/>
    <a:srgbClr val="D9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9" autoAdjust="0"/>
    <p:restoredTop sz="94660"/>
  </p:normalViewPr>
  <p:slideViewPr>
    <p:cSldViewPr snapToGrid="0">
      <p:cViewPr varScale="1">
        <p:scale>
          <a:sx n="86" d="100"/>
          <a:sy n="86" d="100"/>
        </p:scale>
        <p:origin x="17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62F6E-ADD2-9366-B113-2DC17C241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E63DFE-D7AA-AC13-F7A4-9329D5BFA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20B87F-A1F1-79EF-E2BF-4CF0E388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FC42A-09BF-8419-71AF-D8BCA0305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6C858-E83D-8393-1C93-A134EC9C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87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82D7D-6770-00F1-0627-3F8644DE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5AB5B-07F8-EFE8-E488-AECA1C1F3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F9378-3F43-8409-C03A-73DEDCCC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B3C137-FEE2-FC2C-0D8F-278FA872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2C4276-70B8-86B8-C9F2-52724C6E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165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483C8-F5C9-9685-48E2-372D0D58D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8AFBA1-893B-0288-6791-FAB4BC20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50A90D-A578-4DD6-2870-40DB3C9FD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9E5CDB-7074-A4A8-4E57-6ADBB8097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CC5E56-B9B5-8E63-2A5F-2791DCDB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21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92575-567D-4F07-18E1-F2EFEE398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701245-7821-FA70-B19E-FF8BAE8D4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896413-0E6D-7EFE-1E16-67EAB3CE6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7C802B-FCE9-BAC3-3C8A-F94A7CB6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50B6BB-66E6-A1AF-DCA7-22C6149D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A1F9CD-514A-5009-2295-248E7798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98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889E2-A9B0-E7F4-2EFC-1F6ABCEC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79192E-DC40-E249-FA5A-224DCAD5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A3964F-049F-B41F-99D2-C5E643342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4D5AEB-41E4-AB2A-A361-AD50934E6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31327A-522C-B45B-23A7-FE45D6020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58EAE2-3DE3-9A45-A577-F2C7F49AC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EB2941-CF8A-0F2B-A17B-BA569B44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A8847A-4A32-BB3B-8011-3BD2B1D17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923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AFE61-F2CC-2520-2C79-0A4181EE3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75A781-E381-CFC1-56F8-631733D9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733B07-5393-1069-8F86-A6CED16C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3A0F87-68C5-E2FB-D9A5-9E7212FB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60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F554A2-1944-7322-6170-F4E5A0AC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EB92C6-8A54-6C9C-A148-78F94CA7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C03EA-1180-5060-1C14-7892402C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94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6F0D0-AECA-9305-628D-D368E464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33A91-9DAD-3250-899A-E2586BA3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A713F4-58A1-8194-7C0F-43EED8FD6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1C4796-320D-3598-CD92-C720F928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FC7862-B3EE-E0CE-F567-C690840A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FAD1A5-F188-DF17-93F6-B612F02A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3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D4E4E-4AA1-0A45-E636-CD90C3BD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1229B5-E851-E7F8-C243-BFDF21519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ABDEDD-50E7-048D-7DE7-9895AEFE2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4F004A-50F1-59C5-7058-2F0A28EA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0BF5E8-594F-D436-2A8A-EE513939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C82157-6230-F235-4D52-AB9CE445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20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D3C61-C3FC-C5EE-8BC4-F2BACFB4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BD343A-9526-ED91-60B6-846FCA616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E58B21-EBE2-D6D6-5571-62B56C38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1D3BC-3B94-657F-B4F3-15E17BFE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6C3595-51D2-4BE0-FC5B-65FC1361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01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184896-448B-F6ED-6999-3544E8D0A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37D462-0928-6FAF-9175-2C9DD593F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6272F0-1958-1F3E-24B8-9DFAE755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E1C8E-52B1-1C28-79CB-87C0D5AF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86BFB5-04B2-2318-55C4-563D5B02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71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150AF9-B02A-831F-D625-2823059F2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6F7CBD-C5B4-6970-50BD-1F730ADD5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302B4-4D1A-9D80-C727-EB5E97CCA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6B85E3-3F26-4931-9378-98579BCCDB13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F288A1-9CBB-4C3A-3728-7910B1B63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DEACB1-5581-917D-9A1E-150C4099F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A9868-F4C7-48E4-A91F-515FCC583EA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84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8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빛, 우주, 스크린샷, 일렉트릭 블루이(가) 표시된 사진&#10;&#10;자동 생성된 설명">
            <a:extLst>
              <a:ext uri="{FF2B5EF4-FFF2-40B4-BE49-F238E27FC236}">
                <a16:creationId xmlns:a16="http://schemas.microsoft.com/office/drawing/2014/main" id="{D1E24FB7-B379-E35B-C045-142C05A3C7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178" b="41771"/>
          <a:stretch/>
        </p:blipFill>
        <p:spPr>
          <a:xfrm>
            <a:off x="0" y="1"/>
            <a:ext cx="12192000" cy="167561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C0E2BE3-85A1-8B59-C7D1-646A89DD5721}"/>
              </a:ext>
            </a:extLst>
          </p:cNvPr>
          <p:cNvSpPr/>
          <p:nvPr/>
        </p:nvSpPr>
        <p:spPr>
          <a:xfrm>
            <a:off x="0" y="1675617"/>
            <a:ext cx="12192000" cy="5201634"/>
          </a:xfrm>
          <a:prstGeom prst="rect">
            <a:avLst/>
          </a:prstGeom>
          <a:solidFill>
            <a:srgbClr val="004098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719FA-86E2-B139-2CAD-DDCBFF492781}"/>
              </a:ext>
            </a:extLst>
          </p:cNvPr>
          <p:cNvSpPr txBox="1"/>
          <p:nvPr/>
        </p:nvSpPr>
        <p:spPr>
          <a:xfrm>
            <a:off x="819830" y="2556417"/>
            <a:ext cx="100860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Introduction</a:t>
            </a:r>
            <a:r>
              <a:rPr lang="ko-KR" altLang="en-US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to</a:t>
            </a:r>
            <a:r>
              <a:rPr lang="ko-KR" altLang="en-US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Quantum Computing </a:t>
            </a:r>
            <a:endParaRPr lang="ko-KR" altLang="en-US" sz="4400" dirty="0">
              <a:solidFill>
                <a:schemeClr val="bg1"/>
              </a:solidFill>
              <a:ea typeface="SUIT ExtraBold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86282-5402-7A3C-32C6-7A2741493667}"/>
              </a:ext>
            </a:extLst>
          </p:cNvPr>
          <p:cNvSpPr txBox="1"/>
          <p:nvPr/>
        </p:nvSpPr>
        <p:spPr>
          <a:xfrm>
            <a:off x="819829" y="4474497"/>
            <a:ext cx="10454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800" dirty="0">
                <a:solidFill>
                  <a:schemeClr val="bg1"/>
                </a:solidFill>
              </a:rPr>
              <a:t>Young-Ho Song (IRIS, IBS)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그림 2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B4C5BB82-97A8-0197-3CE6-2D92FB4CC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23" y="5936852"/>
            <a:ext cx="2340232" cy="468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786282-5402-7A3C-32C6-7A2741493667}"/>
              </a:ext>
            </a:extLst>
          </p:cNvPr>
          <p:cNvSpPr txBox="1"/>
          <p:nvPr/>
        </p:nvSpPr>
        <p:spPr>
          <a:xfrm>
            <a:off x="6913755" y="6036389"/>
            <a:ext cx="510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2026.04.03. CENS</a:t>
            </a:r>
          </a:p>
        </p:txBody>
      </p:sp>
    </p:spTree>
    <p:extLst>
      <p:ext uri="{BB962C8B-B14F-4D97-AF65-F5344CB8AC3E}">
        <p14:creationId xmlns:p14="http://schemas.microsoft.com/office/powerpoint/2010/main" val="3091287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Introduction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9CE25-2D82-4EC8-9829-1F0A605952CA}"/>
              </a:ext>
            </a:extLst>
          </p:cNvPr>
          <p:cNvSpPr txBox="1"/>
          <p:nvPr/>
        </p:nvSpPr>
        <p:spPr>
          <a:xfrm>
            <a:off x="457200" y="1460810"/>
            <a:ext cx="1053790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First of all, I am not an expert on the Quantum Computing.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purpose 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(1) to introduce basics of Quantum Computing to student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It is possible that you already know better than me on the subject.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(2) to be on the same ground to start a further discussion on the application of Quantum Computing to nuclear physics.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For this purpose, I will only skim through some basics. I borrowed many materials from existing lectures, presentations, papers.</a:t>
            </a:r>
          </a:p>
          <a:p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One specific goal is to understand a paper about quantum computing on nuclear physics.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2168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Why Quantum computer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9CE25-2D82-4EC8-9829-1F0A605952CA}"/>
              </a:ext>
            </a:extLst>
          </p:cNvPr>
          <p:cNvSpPr txBox="1"/>
          <p:nvPr/>
        </p:nvSpPr>
        <p:spPr>
          <a:xfrm>
            <a:off x="457200" y="1460810"/>
            <a:ext cx="105379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Quantum computing: A type of computing where the programming model follows principles of quantum mechanics.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Why needed? There are problems whose computing requirement grows </a:t>
            </a:r>
          </a:p>
          <a:p>
            <a:r>
              <a:rPr lang="en-US" sz="2400" dirty="0"/>
              <a:t>    non-polynomial way.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04A5AEF-2F27-4BD5-9E35-7FC33CAF4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80" y="3962803"/>
            <a:ext cx="3668869" cy="15621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1499905-5DE0-4BE0-9B3F-836F4CB09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80" y="5712058"/>
            <a:ext cx="3576004" cy="72156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5E96D70-8FBE-4CEB-978C-244C71ABBE25}"/>
              </a:ext>
            </a:extLst>
          </p:cNvPr>
          <p:cNvSpPr/>
          <p:nvPr/>
        </p:nvSpPr>
        <p:spPr>
          <a:xfrm>
            <a:off x="315951" y="3365866"/>
            <a:ext cx="66424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For example, classical </a:t>
            </a:r>
            <a:r>
              <a:rPr lang="en-US" altLang="ko-KR" sz="2400" dirty="0" err="1"/>
              <a:t>Ising</a:t>
            </a:r>
            <a:r>
              <a:rPr lang="en-US" altLang="ko-KR" sz="2400" dirty="0"/>
              <a:t>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165E3-3BC9-404B-9612-D08C4869CC88}"/>
              </a:ext>
            </a:extLst>
          </p:cNvPr>
          <p:cNvSpPr txBox="1"/>
          <p:nvPr/>
        </p:nvSpPr>
        <p:spPr>
          <a:xfrm>
            <a:off x="5044936" y="4103649"/>
            <a:ext cx="57605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possible spin configuration on N^3 lattice is </a:t>
            </a:r>
          </a:p>
          <a:p>
            <a:r>
              <a:rPr lang="en-US" dirty="0"/>
              <a:t>     2^{N^3}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Suppose N=10 and n floating point operation per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~ 10^{301} n floating point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10^{18} Flops/s </a:t>
            </a:r>
            <a:r>
              <a:rPr lang="en-US" dirty="0">
                <a:sym typeface="Wingdings" panose="05000000000000000000" pitchFamily="2" charset="2"/>
              </a:rPr>
              <a:t> 10^{283} n seconds.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Thus exact calculation is not possible.( MC approach can be used.)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3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Why Quantum computer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9CE25-2D82-4EC8-9829-1F0A605952CA}"/>
              </a:ext>
            </a:extLst>
          </p:cNvPr>
          <p:cNvSpPr txBox="1"/>
          <p:nvPr/>
        </p:nvSpPr>
        <p:spPr>
          <a:xfrm>
            <a:off x="457199" y="1460810"/>
            <a:ext cx="11017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Quantum computer can be faster than classical computer in </a:t>
            </a:r>
            <a:r>
              <a:rPr lang="en-US" sz="2400" dirty="0">
                <a:solidFill>
                  <a:srgbClr val="FF0000"/>
                </a:solidFill>
              </a:rPr>
              <a:t>some problems</a:t>
            </a:r>
            <a:r>
              <a:rPr lang="en-US" sz="2400" dirty="0"/>
              <a:t>.</a:t>
            </a:r>
          </a:p>
          <a:p>
            <a:r>
              <a:rPr lang="en-US" sz="2400" dirty="0"/>
              <a:t>   (Quantum supremacy)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Short history: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6223F1-A0E8-4D54-B123-21FABA60D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85" y="2771158"/>
            <a:ext cx="6116096" cy="215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80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Single Qubit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8D389F-D14E-410B-BD1A-5249B6123CEA}"/>
              </a:ext>
            </a:extLst>
          </p:cNvPr>
          <p:cNvSpPr txBox="1"/>
          <p:nvPr/>
        </p:nvSpPr>
        <p:spPr>
          <a:xfrm>
            <a:off x="535259" y="1405054"/>
            <a:ext cx="10493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are represented by </a:t>
            </a:r>
            <a:r>
              <a:rPr lang="en-US" dirty="0">
                <a:solidFill>
                  <a:srgbClr val="FF0000"/>
                </a:solidFill>
              </a:rPr>
              <a:t>qubits</a:t>
            </a:r>
            <a:r>
              <a:rPr lang="en-US" dirty="0"/>
              <a:t> in Quantum Computer.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B7A0E9-D1B2-47F7-B129-65B9B36FC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18" y="2007220"/>
            <a:ext cx="4817882" cy="4226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9707FD-7247-4F82-BE16-22D5A53AC1C1}"/>
              </a:ext>
            </a:extLst>
          </p:cNvPr>
          <p:cNvSpPr txBox="1"/>
          <p:nvPr/>
        </p:nvSpPr>
        <p:spPr>
          <a:xfrm>
            <a:off x="6657278" y="4483450"/>
            <a:ext cx="5134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Difference between classical bit and qubit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Classical bit can represent 0 or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Qubit can represent arbitrary superposition</a:t>
            </a:r>
          </a:p>
          <a:p>
            <a:r>
              <a:rPr lang="en-US" dirty="0"/>
              <a:t>    </a:t>
            </a:r>
            <a:r>
              <a:rPr lang="en-US" dirty="0">
                <a:sym typeface="Wingdings" panose="05000000000000000000" pitchFamily="2" charset="2"/>
              </a:rPr>
              <a:t> complex numbers (or phase angles)  </a:t>
            </a:r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D4443D-C12F-4D7B-969C-DB5918579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859" y="1704253"/>
            <a:ext cx="4817882" cy="17329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3D0F67-52DF-4FDA-9254-BE80EFF2EBD1}"/>
              </a:ext>
            </a:extLst>
          </p:cNvPr>
          <p:cNvSpPr txBox="1"/>
          <p:nvPr/>
        </p:nvSpPr>
        <p:spPr>
          <a:xfrm>
            <a:off x="7281746" y="3668751"/>
            <a:ext cx="275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Bloch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74360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Multiple Qubits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5B1D26-149B-4D21-98E9-C984994F7DFA}"/>
              </a:ext>
            </a:extLst>
          </p:cNvPr>
          <p:cNvSpPr txBox="1"/>
          <p:nvPr/>
        </p:nvSpPr>
        <p:spPr>
          <a:xfrm>
            <a:off x="825190" y="1438507"/>
            <a:ext cx="3083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 classical bits can represent 2^N different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 bits </a:t>
            </a:r>
            <a:r>
              <a:rPr lang="en-US" dirty="0">
                <a:sym typeface="Wingdings" panose="05000000000000000000" pitchFamily="2" charset="2"/>
              </a:rPr>
              <a:t> 256 integers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7A2FDF4-8731-4D31-9E86-0E5E3C1F5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91" y="3031474"/>
            <a:ext cx="1900109" cy="342503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5F979C-9A0B-44B7-8AF6-017E7C634DF1}"/>
              </a:ext>
            </a:extLst>
          </p:cNvPr>
          <p:cNvSpPr/>
          <p:nvPr/>
        </p:nvSpPr>
        <p:spPr>
          <a:xfrm>
            <a:off x="5416244" y="1438507"/>
            <a:ext cx="5065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 qubits (tensor product of qubits)</a:t>
            </a:r>
          </a:p>
          <a:p>
            <a:r>
              <a:rPr lang="en-US" altLang="ko-KR" dirty="0"/>
              <a:t>    can represent (C^2)^N  different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8 qubits </a:t>
            </a:r>
            <a:r>
              <a:rPr lang="en-US" altLang="ko-KR" dirty="0">
                <a:sym typeface="Wingdings" panose="05000000000000000000" pitchFamily="2" charset="2"/>
              </a:rPr>
              <a:t> 256 complex numbers</a:t>
            </a: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97EF9CD-636D-4A31-8028-875E7B000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174" y="3068988"/>
            <a:ext cx="2156730" cy="35000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01A67ED-EA22-423B-99D2-1A7662062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904" y="5999879"/>
            <a:ext cx="2228138" cy="6463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AB4C63-28CC-45D0-9A4D-27C395E82E39}"/>
              </a:ext>
            </a:extLst>
          </p:cNvPr>
          <p:cNvSpPr txBox="1"/>
          <p:nvPr/>
        </p:nvSpPr>
        <p:spPr>
          <a:xfrm>
            <a:off x="7259445" y="4188920"/>
            <a:ext cx="47442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Superposition of 256 basis states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requires </a:t>
            </a:r>
            <a:r>
              <a:rPr lang="en-US" dirty="0">
                <a:solidFill>
                  <a:srgbClr val="FF0000"/>
                </a:solidFill>
              </a:rPr>
              <a:t>entanglement</a:t>
            </a:r>
            <a:r>
              <a:rPr lang="en-US" dirty="0"/>
              <a:t> between qubits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Measurement collapse to </a:t>
            </a:r>
          </a:p>
          <a:p>
            <a:r>
              <a:rPr lang="en-US" dirty="0">
                <a:solidFill>
                  <a:srgbClr val="FF0000"/>
                </a:solidFill>
              </a:rPr>
              <a:t>One classical bits states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921EFAC-1B36-4EFA-9A9C-16881E4C4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6748" y="2567672"/>
            <a:ext cx="2672382" cy="57847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FC5D005-1E7A-46DD-96C2-E393E2862A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5975" y="3351980"/>
            <a:ext cx="5146307" cy="57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6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DiVincenzo’s requirements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F76A8D-584C-4C52-BF1A-197E30D50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60" y="1417476"/>
            <a:ext cx="9027860" cy="45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13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Types of quantum computers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2D1FCF-F47C-4E88-AEF7-1468F4DFE4ED}"/>
              </a:ext>
            </a:extLst>
          </p:cNvPr>
          <p:cNvSpPr txBox="1"/>
          <p:nvPr/>
        </p:nvSpPr>
        <p:spPr>
          <a:xfrm>
            <a:off x="836341" y="1471961"/>
            <a:ext cx="91328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quantum system can be a candidate of building block of quantum computers: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usually two-level system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Simulator (Analog quantum computers)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building an artificial many-body system with a similar Hamiltonian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Limited and specific set of controls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Ultracold atoms, Spin qubits , Superconducting qubits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as proxies (or simulators) for the many-body system one we wants to understand.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Computers ( Digital (gate-based) quantum computers):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individual control over particles/degrees of freedom by gate-based operation.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Internally, each gate is performed using an analog description.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Universal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17496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Universal quantum gates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2D1FCF-F47C-4E88-AEF7-1468F4DFE4ED}"/>
              </a:ext>
            </a:extLst>
          </p:cNvPr>
          <p:cNvSpPr txBox="1"/>
          <p:nvPr/>
        </p:nvSpPr>
        <p:spPr>
          <a:xfrm>
            <a:off x="836341" y="1471961"/>
            <a:ext cx="9132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Classical computers can be built from elementary or </a:t>
            </a:r>
            <a:r>
              <a:rPr lang="en-US" dirty="0">
                <a:solidFill>
                  <a:srgbClr val="FF0000"/>
                </a:solidFill>
              </a:rPr>
              <a:t>basic logical gates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Vector valued Boolean functions can be expressed as a combination of elementary gates.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95D3DEA-8AE7-491A-A2A4-41010D591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575" y="2773446"/>
            <a:ext cx="3105583" cy="53347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8D6016B-45FE-439E-8CAB-BFB699B44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895" y="2649317"/>
            <a:ext cx="6196637" cy="6576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9F8E191-47CF-4366-AEF7-A60A9CD81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676" y="3429000"/>
            <a:ext cx="6153856" cy="61102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87CAA6-D361-4222-8A4A-D4AC7616B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1558" y="4338435"/>
            <a:ext cx="6153856" cy="5631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0330C7-3264-49D3-976C-11767A745545}"/>
              </a:ext>
            </a:extLst>
          </p:cNvPr>
          <p:cNvSpPr txBox="1"/>
          <p:nvPr/>
        </p:nvSpPr>
        <p:spPr>
          <a:xfrm>
            <a:off x="923571" y="5344887"/>
            <a:ext cx="9266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Quantum computers can be built from universal quantum gates.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Gate Operation on qubits must be unitary</a:t>
            </a:r>
          </a:p>
        </p:txBody>
      </p:sp>
    </p:spTree>
    <p:extLst>
      <p:ext uri="{BB962C8B-B14F-4D97-AF65-F5344CB8AC3E}">
        <p14:creationId xmlns:p14="http://schemas.microsoft.com/office/powerpoint/2010/main" val="401774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Universal quantum gates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2D1FCF-F47C-4E88-AEF7-1468F4DFE4ED}"/>
              </a:ext>
            </a:extLst>
          </p:cNvPr>
          <p:cNvSpPr txBox="1"/>
          <p:nvPr/>
        </p:nvSpPr>
        <p:spPr>
          <a:xfrm>
            <a:off x="836341" y="1471961"/>
            <a:ext cx="106048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Solovay-Kitaev</a:t>
            </a:r>
            <a:r>
              <a:rPr lang="en-US" dirty="0"/>
              <a:t> theorem: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any unitary operation acting on n-qubits can be written as a sequence of universal gate 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Universal gate set : one-qubit rotations Rx, Ry, </a:t>
            </a:r>
            <a:r>
              <a:rPr lang="en-US" dirty="0" err="1"/>
              <a:t>Rz</a:t>
            </a:r>
            <a:r>
              <a:rPr lang="en-US" dirty="0"/>
              <a:t> + two-qubit gate “CNOT”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Sequential operation on a single qubit = Unitary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Parallel operations on multiple qubits  = tensor product of matrices </a:t>
            </a:r>
          </a:p>
          <a:p>
            <a:r>
              <a:rPr lang="en-US" dirty="0"/>
              <a:t>                                                 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EE419C-5CF0-422C-96E0-DEDFECA5D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86" y="3528681"/>
            <a:ext cx="3286584" cy="8764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C5F18A3-1C9C-4FFD-BF88-00E1AD080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576" y="4723959"/>
            <a:ext cx="2286319" cy="13241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9216A47-858F-49EE-8ECF-6EDB96254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604" y="3429000"/>
            <a:ext cx="3439005" cy="16575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0715E1A-3DFB-4428-914B-34EEFCB508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273" y="5269798"/>
            <a:ext cx="3458058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94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Single qubit Gates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D323277-C135-4F81-B14D-7D9263E86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47" y="1220145"/>
            <a:ext cx="5976550" cy="22623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4500259-2167-4218-A3A4-799B9E1FD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38" y="3694278"/>
            <a:ext cx="11859925" cy="237198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8E6B54F-5F80-4A65-A4DC-57FFCA81B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034" y="2259791"/>
            <a:ext cx="3975952" cy="143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88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Single qubit Gates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235AA14-3E5D-44CB-A63D-94AF3CD79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76" y="1225722"/>
            <a:ext cx="6336719" cy="11606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51DEA9-23C4-4464-BFAE-1568D9B98EE7}"/>
              </a:ext>
            </a:extLst>
          </p:cNvPr>
          <p:cNvSpPr txBox="1"/>
          <p:nvPr/>
        </p:nvSpPr>
        <p:spPr>
          <a:xfrm>
            <a:off x="1014761" y="2888166"/>
            <a:ext cx="987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Hadamard gate : pure </a:t>
            </a:r>
            <a:r>
              <a:rPr lang="en-US" altLang="ko-KR" dirty="0"/>
              <a:t>(basis) </a:t>
            </a:r>
            <a:r>
              <a:rPr lang="en-US" dirty="0"/>
              <a:t>state </a:t>
            </a:r>
            <a:r>
              <a:rPr lang="en-US" dirty="0">
                <a:sym typeface="Wingdings" panose="05000000000000000000" pitchFamily="2" charset="2"/>
              </a:rPr>
              <a:t> mixed (Hadamard basis) state  pure state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9C2C46-D965-402E-9785-43D162035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71" y="3454922"/>
            <a:ext cx="6414892" cy="162250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7462D62-27C3-4E36-86EE-FC6854480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74" y="5788438"/>
            <a:ext cx="10240804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19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Two qubit Gates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C5FF87-DBBB-463A-8EC8-BDCCBE9C31C3}"/>
              </a:ext>
            </a:extLst>
          </p:cNvPr>
          <p:cNvSpPr txBox="1"/>
          <p:nvPr/>
        </p:nvSpPr>
        <p:spPr>
          <a:xfrm>
            <a:off x="747131" y="1220388"/>
            <a:ext cx="657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CNOT gate : control bit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321D50-2112-43A4-A009-7C84793DB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40" y="1671185"/>
            <a:ext cx="2858000" cy="15737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9C0E523-DD5C-4299-854D-6433A6B12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129" y="1986194"/>
            <a:ext cx="2914442" cy="184492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B77897-B3B3-497A-8BF5-D83793A6B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194" y="3429000"/>
            <a:ext cx="3886742" cy="276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CF55EE-BE77-4C15-9B70-F0C9D75B118B}"/>
              </a:ext>
            </a:extLst>
          </p:cNvPr>
          <p:cNvSpPr txBox="1"/>
          <p:nvPr/>
        </p:nvSpPr>
        <p:spPr>
          <a:xfrm>
            <a:off x="747131" y="4415883"/>
            <a:ext cx="3791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 controlled U-gate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CD4888-04ED-48F7-8550-AD9247029A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5251" y="4015142"/>
            <a:ext cx="4288300" cy="17798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1A431E-3E22-46AD-A6DE-415F415DE9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3410" y="5904063"/>
            <a:ext cx="3162741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00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Two qubit Gates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C5FF87-DBBB-463A-8EC8-BDCCBE9C31C3}"/>
              </a:ext>
            </a:extLst>
          </p:cNvPr>
          <p:cNvSpPr txBox="1"/>
          <p:nvPr/>
        </p:nvSpPr>
        <p:spPr>
          <a:xfrm>
            <a:off x="747131" y="1220388"/>
            <a:ext cx="657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CNOT gate : control bit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E55AE2-0DE0-4EAA-8E06-55162FD7E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15" y="4115676"/>
            <a:ext cx="3134162" cy="809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B5B4A8-D643-4362-B685-7BEAE259ED38}"/>
              </a:ext>
            </a:extLst>
          </p:cNvPr>
          <p:cNvSpPr txBox="1"/>
          <p:nvPr/>
        </p:nvSpPr>
        <p:spPr>
          <a:xfrm>
            <a:off x="1048215" y="3657600"/>
            <a:ext cx="2564780" cy="36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SWAP gate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97BE5D1-53EE-479F-8D99-16ACA1EAA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977" y="4996622"/>
            <a:ext cx="3486637" cy="163852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34E85E2-06A5-4091-81A7-DC27E89AC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4707" y="1623038"/>
            <a:ext cx="7361595" cy="173368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DFCDA1F-F9ED-4625-B7E0-C8C0CAE21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309" y="4190759"/>
            <a:ext cx="4759792" cy="20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88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Two qubit Gates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077E216-67D1-4355-A394-E774571F4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85" y="1139819"/>
            <a:ext cx="10203366" cy="528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74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Two qubit Gates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06E09E4-51FB-4D25-96DB-D94758204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643" y="1361628"/>
            <a:ext cx="2953162" cy="6477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BA6335B-3190-41D4-9D9E-2D4ACC941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248" y="2131916"/>
            <a:ext cx="6714659" cy="6151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8882693-6F6F-43A3-BEDD-819C06E9E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555" y="1220145"/>
            <a:ext cx="3715268" cy="24387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94F0692-8059-431A-9B10-C164365F92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5558" y="3066353"/>
            <a:ext cx="7608038" cy="13391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EB74B55-AD34-4310-994B-A62C2FDD42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944" y="4553585"/>
            <a:ext cx="10659963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33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Measurements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6169A5F-8F3F-482F-AE4D-244F66FE2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367" y="1108252"/>
            <a:ext cx="1371791" cy="8287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A87E94-A5FC-4B46-8482-621819AB313E}"/>
              </a:ext>
            </a:extLst>
          </p:cNvPr>
          <p:cNvSpPr txBox="1"/>
          <p:nvPr/>
        </p:nvSpPr>
        <p:spPr>
          <a:xfrm>
            <a:off x="2508511" y="1285704"/>
            <a:ext cx="2052337" cy="381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Measurement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847CAD-14C8-4926-A381-A91139F42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98" y="1758148"/>
            <a:ext cx="6916115" cy="20481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EBF6B3-A78B-49BE-B986-14C76B08723B}"/>
              </a:ext>
            </a:extLst>
          </p:cNvPr>
          <p:cNvSpPr txBox="1"/>
          <p:nvPr/>
        </p:nvSpPr>
        <p:spPr>
          <a:xfrm>
            <a:off x="8006576" y="1937043"/>
            <a:ext cx="3334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measurement on single qubit can be converted into </a:t>
            </a:r>
          </a:p>
          <a:p>
            <a:r>
              <a:rPr lang="en-US" dirty="0"/>
              <a:t>Z-basis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579B840-A021-4DAD-A3B3-D34D221BF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00" y="4020656"/>
            <a:ext cx="5429290" cy="14105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337DC1B-8EC6-4062-BE56-A29F9615C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00" y="5749748"/>
            <a:ext cx="4419622" cy="42563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38C0028-640C-490A-BA3E-90EF79FCB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4133" y="4881334"/>
            <a:ext cx="3259662" cy="4527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D50CEC-4A5C-4341-A1DC-9EB395843EB3}"/>
              </a:ext>
            </a:extLst>
          </p:cNvPr>
          <p:cNvSpPr txBox="1"/>
          <p:nvPr/>
        </p:nvSpPr>
        <p:spPr>
          <a:xfrm>
            <a:off x="6579220" y="4020656"/>
            <a:ext cx="4594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n-qubit system, k-qubits measurement</a:t>
            </a:r>
          </a:p>
          <a:p>
            <a:r>
              <a:rPr lang="en-US" dirty="0"/>
              <a:t>Projects to the state</a:t>
            </a:r>
          </a:p>
        </p:txBody>
      </p:sp>
    </p:spTree>
    <p:extLst>
      <p:ext uri="{BB962C8B-B14F-4D97-AF65-F5344CB8AC3E}">
        <p14:creationId xmlns:p14="http://schemas.microsoft.com/office/powerpoint/2010/main" val="1317565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Measurements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6169A5F-8F3F-482F-AE4D-244F66FE2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367" y="1108252"/>
            <a:ext cx="1371791" cy="8287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A87E94-A5FC-4B46-8482-621819AB313E}"/>
              </a:ext>
            </a:extLst>
          </p:cNvPr>
          <p:cNvSpPr txBox="1"/>
          <p:nvPr/>
        </p:nvSpPr>
        <p:spPr>
          <a:xfrm>
            <a:off x="2508511" y="1285704"/>
            <a:ext cx="2052337" cy="381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F24699-99D2-48AF-B6CF-CBE2384B9882}"/>
              </a:ext>
            </a:extLst>
          </p:cNvPr>
          <p:cNvSpPr txBox="1"/>
          <p:nvPr/>
        </p:nvSpPr>
        <p:spPr>
          <a:xfrm>
            <a:off x="1115121" y="1937043"/>
            <a:ext cx="89878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We</a:t>
            </a:r>
            <a:r>
              <a:rPr lang="ko-KR" altLang="en-US" sz="2000" dirty="0"/>
              <a:t> </a:t>
            </a:r>
            <a:r>
              <a:rPr lang="en-US" altLang="ko-KR" sz="2000" dirty="0"/>
              <a:t>may</a:t>
            </a:r>
            <a:r>
              <a:rPr lang="ko-KR" altLang="en-US" sz="2000" dirty="0"/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measure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all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qubits </a:t>
            </a:r>
            <a:r>
              <a:rPr lang="en-US" altLang="ko-KR" sz="2000" dirty="0"/>
              <a:t>to extract </a:t>
            </a:r>
          </a:p>
          <a:p>
            <a:r>
              <a:rPr lang="en-US" altLang="ko-KR" sz="2000" dirty="0"/>
              <a:t>     the probabilities of each basis bits strings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Or, we may design the circuits so that  </a:t>
            </a:r>
          </a:p>
          <a:p>
            <a:r>
              <a:rPr lang="en-US" altLang="ko-KR" sz="2000" dirty="0"/>
              <a:t>     the </a:t>
            </a:r>
            <a:r>
              <a:rPr lang="en-US" altLang="ko-KR" sz="2000" dirty="0">
                <a:solidFill>
                  <a:srgbClr val="FF0000"/>
                </a:solidFill>
              </a:rPr>
              <a:t>partial measurement </a:t>
            </a:r>
            <a:r>
              <a:rPr lang="en-US" altLang="ko-KR" sz="2000" dirty="0"/>
              <a:t>of some qubits gives the desired information. 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Partial measurement in 2 qubit system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B4B733-2C4C-41E1-97C3-898E46BBE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121" y="4248628"/>
            <a:ext cx="2962688" cy="5334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CBD7294-3064-463A-9980-1509CA5EC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7649" y="4189170"/>
            <a:ext cx="5909102" cy="114323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C7E2B97-75EA-4C46-981C-EF07EE12E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8507" y="5529359"/>
            <a:ext cx="2441884" cy="68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09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Measurements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F24699-99D2-48AF-B6CF-CBE2384B9882}"/>
              </a:ext>
            </a:extLst>
          </p:cNvPr>
          <p:cNvSpPr txBox="1"/>
          <p:nvPr/>
        </p:nvSpPr>
        <p:spPr>
          <a:xfrm>
            <a:off x="923571" y="1071872"/>
            <a:ext cx="8987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Partial measurement in multiple qubits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Controlled-U gate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47324E-5D44-4077-A87E-8240EF43A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124" y="1971153"/>
            <a:ext cx="3238952" cy="81926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AB8DA25-8938-4033-BB9A-1413112CA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650" y="2981812"/>
            <a:ext cx="6458851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50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Measurements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F0E17F4-F632-4C48-8C3E-401F6BDBA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71" y="1134541"/>
            <a:ext cx="5544324" cy="17528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BD1C29-0844-47CA-A930-5E62BD511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55" y="2887386"/>
            <a:ext cx="10850489" cy="12003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CBF5D2-2355-4106-8C21-6EDBF21F3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233" y="4087704"/>
            <a:ext cx="9011908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93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Measurements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0C6AD9A-62C7-4185-BC3C-33E001914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34" y="1313332"/>
            <a:ext cx="4562829" cy="220755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5311562-F495-4734-A1BC-B69535A1B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005" y="3151556"/>
            <a:ext cx="5963482" cy="514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431ACC-2D3E-4BBF-9C8C-CF71612E9167}"/>
              </a:ext>
            </a:extLst>
          </p:cNvPr>
          <p:cNvSpPr txBox="1"/>
          <p:nvPr/>
        </p:nvSpPr>
        <p:spPr>
          <a:xfrm>
            <a:off x="5531005" y="1313332"/>
            <a:ext cx="3880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control qubit is prepare in |0&gt;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7ADD62F-DEED-4D01-B923-EAB08A084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005" y="1921741"/>
            <a:ext cx="5668166" cy="9907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905CACE-EE57-4357-BF0D-E14D02D80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664" y="3945522"/>
            <a:ext cx="5496692" cy="4477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070778F-EE87-4B70-985B-86B685E4EC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812" y="5544668"/>
            <a:ext cx="1946689" cy="3799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1173AD-C668-481B-8A19-63DEC0C48441}"/>
              </a:ext>
            </a:extLst>
          </p:cNvPr>
          <p:cNvSpPr txBox="1"/>
          <p:nvPr/>
        </p:nvSpPr>
        <p:spPr>
          <a:xfrm>
            <a:off x="693664" y="4672803"/>
            <a:ext cx="3777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|Q&gt; is an eigenstate of U,</a:t>
            </a:r>
          </a:p>
          <a:p>
            <a:r>
              <a:rPr lang="en-US" dirty="0"/>
              <a:t>We can measure eigenvalue of |Q&gt;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DD9AB5A-9A59-4B72-AD61-58DC1C769A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1005" y="4733320"/>
            <a:ext cx="3777976" cy="64472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535217E-59DE-45CC-B45C-5A6AE58C64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0214" y="5477790"/>
            <a:ext cx="3245457" cy="89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53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Deutsch’s Algorithm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C69FBE-D024-4204-BE06-374A0D9B9016}"/>
              </a:ext>
            </a:extLst>
          </p:cNvPr>
          <p:cNvSpPr txBox="1"/>
          <p:nvPr/>
        </p:nvSpPr>
        <p:spPr>
          <a:xfrm>
            <a:off x="747132" y="1220145"/>
            <a:ext cx="9645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first algorithm which shows quantum supremacy.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given single bit Boolean function, determine whether it is </a:t>
            </a:r>
            <a:r>
              <a:rPr lang="en-US" dirty="0">
                <a:solidFill>
                  <a:srgbClr val="FF0000"/>
                </a:solidFill>
              </a:rPr>
              <a:t>constant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balanced</a:t>
            </a:r>
            <a:r>
              <a:rPr lang="en-US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8DE60B-4721-41A3-AD16-F5FFFAF80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058" y="2355265"/>
            <a:ext cx="2734057" cy="4858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A1A33D7-C9FB-47F4-BDCC-115F94A8D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058" y="3348583"/>
            <a:ext cx="1743318" cy="49536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10171ED-31C8-4B8F-9A1A-04031B4A6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531" y="4016893"/>
            <a:ext cx="1752845" cy="5430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F0769F-5324-4E54-8434-E0F3FDCFF9D8}"/>
              </a:ext>
            </a:extLst>
          </p:cNvPr>
          <p:cNvSpPr txBox="1"/>
          <p:nvPr/>
        </p:nvSpPr>
        <p:spPr>
          <a:xfrm>
            <a:off x="3523785" y="341160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constant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9BAA3A-AB5D-45FA-9F1C-1810A79174D9}"/>
              </a:ext>
            </a:extLst>
          </p:cNvPr>
          <p:cNvSpPr txBox="1"/>
          <p:nvPr/>
        </p:nvSpPr>
        <p:spPr>
          <a:xfrm>
            <a:off x="3523785" y="4044781"/>
            <a:ext cx="171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balenced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3DE9D3-57FF-40AF-B8FB-B6E4FB53889D}"/>
              </a:ext>
            </a:extLst>
          </p:cNvPr>
          <p:cNvSpPr txBox="1"/>
          <p:nvPr/>
        </p:nvSpPr>
        <p:spPr>
          <a:xfrm>
            <a:off x="923571" y="4823742"/>
            <a:ext cx="9235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Classical circuits require  </a:t>
            </a:r>
            <a:r>
              <a:rPr lang="en-US" dirty="0">
                <a:solidFill>
                  <a:srgbClr val="FF0000"/>
                </a:solidFill>
              </a:rPr>
              <a:t>two</a:t>
            </a:r>
            <a:r>
              <a:rPr lang="en-US" dirty="0"/>
              <a:t> measurements (or queries) to answer the question.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Quantum circuits require </a:t>
            </a:r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/>
              <a:t> query. </a:t>
            </a:r>
          </a:p>
        </p:txBody>
      </p:sp>
    </p:spTree>
    <p:extLst>
      <p:ext uri="{BB962C8B-B14F-4D97-AF65-F5344CB8AC3E}">
        <p14:creationId xmlns:p14="http://schemas.microsoft.com/office/powerpoint/2010/main" val="535367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Deutsch’s Algorithm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89AC37C-9D3B-4892-AB63-E25FF4A70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487" y="1220145"/>
            <a:ext cx="4505954" cy="157184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B2A3A30-001C-4F18-B19D-F3E147947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394" y="1349154"/>
            <a:ext cx="1448002" cy="3905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04B2BDF-BD74-4CE3-A84A-846775883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8720" y="1842659"/>
            <a:ext cx="3315163" cy="11431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3D59D8D-5C78-450E-A888-A68E5410E6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226" y="2985819"/>
            <a:ext cx="2353003" cy="64779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B0AFF8D-B6E0-4DA9-AB43-7A0D43CC8B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226" y="3952598"/>
            <a:ext cx="5287113" cy="64779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1195FB7-AAD4-4055-BB75-A8C47E0566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226" y="4794218"/>
            <a:ext cx="5268060" cy="6668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D078AF7-FFD0-458C-93E0-895D099481F5}"/>
              </a:ext>
            </a:extLst>
          </p:cNvPr>
          <p:cNvSpPr txBox="1"/>
          <p:nvPr/>
        </p:nvSpPr>
        <p:spPr>
          <a:xfrm>
            <a:off x="7613394" y="4228138"/>
            <a:ext cx="3820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Thus, </a:t>
            </a:r>
          </a:p>
          <a:p>
            <a:r>
              <a:rPr lang="en-US" dirty="0"/>
              <a:t>if we measure |0&gt; </a:t>
            </a:r>
            <a:r>
              <a:rPr lang="en-US" dirty="0">
                <a:sym typeface="Wingdings" panose="05000000000000000000" pitchFamily="2" charset="2"/>
              </a:rPr>
              <a:t> f is constant</a:t>
            </a:r>
          </a:p>
          <a:p>
            <a:r>
              <a:rPr lang="en-US" dirty="0">
                <a:sym typeface="Wingdings" panose="05000000000000000000" pitchFamily="2" charset="2"/>
              </a:rPr>
              <a:t>If we measure |1&gt;  f is balanced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86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Circuit measurement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05DFE91-3A13-43B1-AF46-E56B30D0F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56" y="1283662"/>
            <a:ext cx="10793331" cy="35533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D4F159-00C7-4256-A5C3-FE792116294E}"/>
              </a:ext>
            </a:extLst>
          </p:cNvPr>
          <p:cNvSpPr txBox="1"/>
          <p:nvPr/>
        </p:nvSpPr>
        <p:spPr>
          <a:xfrm>
            <a:off x="802888" y="5163015"/>
            <a:ext cx="9233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measure </a:t>
            </a:r>
            <a:r>
              <a:rPr lang="en-US" dirty="0">
                <a:solidFill>
                  <a:srgbClr val="FF0000"/>
                </a:solidFill>
              </a:rPr>
              <a:t>expectation value of unitary operator </a:t>
            </a:r>
            <a:r>
              <a:rPr lang="en-US" dirty="0"/>
              <a:t>of entangled qubits |Psi&gt;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 &lt;Z0&gt; means average value of 0-th </a:t>
            </a:r>
            <a:r>
              <a:rPr lang="en-US" altLang="ko-KR" dirty="0"/>
              <a:t>qubit</a:t>
            </a:r>
            <a:r>
              <a:rPr lang="ko-KR" altLang="en-US" dirty="0"/>
              <a:t> </a:t>
            </a:r>
            <a:r>
              <a:rPr lang="en-US" altLang="ko-KR" dirty="0"/>
              <a:t>measurement in Z-basis.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10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Variational Quantum </a:t>
            </a:r>
            <a:r>
              <a:rPr lang="en-US" altLang="ko-KR" sz="3200" dirty="0" err="1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Eigensolver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7C794E5-F9B6-4F79-B1E9-9AA6504F9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79" y="1320507"/>
            <a:ext cx="5681312" cy="3195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FA9B3D-CC79-4C25-82F0-7D81B0369FB8}"/>
              </a:ext>
            </a:extLst>
          </p:cNvPr>
          <p:cNvSpPr txBox="1"/>
          <p:nvPr/>
        </p:nvSpPr>
        <p:spPr>
          <a:xfrm>
            <a:off x="5218770" y="1283662"/>
            <a:ext cx="63689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Design Circuits so that the measurement corresponds to the expectation value of Hamiltonian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Design Circuits so that the Unitary operator parameter corresponds to give variational wave function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Measure energy expectation value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update parameter to minimize the Hamiltonian expectation value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we have variational optimal wave function. </a:t>
            </a:r>
          </a:p>
        </p:txBody>
      </p:sp>
    </p:spTree>
    <p:extLst>
      <p:ext uri="{BB962C8B-B14F-4D97-AF65-F5344CB8AC3E}">
        <p14:creationId xmlns:p14="http://schemas.microsoft.com/office/powerpoint/2010/main" val="775698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Simple VQE example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A4B11DC-8B60-4267-9B1D-667E805DA6CE}"/>
              </a:ext>
            </a:extLst>
          </p:cNvPr>
          <p:cNvSpPr txBox="1"/>
          <p:nvPr/>
        </p:nvSpPr>
        <p:spPr>
          <a:xfrm>
            <a:off x="366127" y="3879186"/>
            <a:ext cx="58562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Deuteron eigenvalue in HO basis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Two-body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Consider only S-wave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 basis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Pionless</a:t>
            </a:r>
            <a:r>
              <a:rPr lang="en-US" dirty="0"/>
              <a:t> EFT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DF84272-0F5A-4EA8-A882-33ABBD721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79" y="1220145"/>
            <a:ext cx="5950387" cy="204496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083A8D3-28F8-4224-AB0C-6E29BB00E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141" y="2113714"/>
            <a:ext cx="2852353" cy="78939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EB48ED5-F90C-461E-A8D3-33087F8D1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557" y="3332452"/>
            <a:ext cx="4020111" cy="153373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B7B14F6-570C-4A93-BA4D-354E7D9E1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2905" y="5070023"/>
            <a:ext cx="1790950" cy="31436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79A34BF-C556-474B-8A89-C9B2DDDCF8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2905" y="5588224"/>
            <a:ext cx="1086002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37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Simple VQE example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CB78AD-60F3-401A-94AC-3A8CF462A904}"/>
              </a:ext>
            </a:extLst>
          </p:cNvPr>
          <p:cNvSpPr txBox="1"/>
          <p:nvPr/>
        </p:nvSpPr>
        <p:spPr>
          <a:xfrm>
            <a:off x="802609" y="1937978"/>
            <a:ext cx="6752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Encoding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Jordan-Wigner transformation : </a:t>
            </a:r>
          </a:p>
          <a:p>
            <a:pPr lvl="1"/>
            <a:r>
              <a:rPr lang="en-US" dirty="0"/>
              <a:t>creation/annihilation operators </a:t>
            </a:r>
            <a:r>
              <a:rPr lang="en-US" dirty="0">
                <a:sym typeface="Wingdings" panose="05000000000000000000" pitchFamily="2" charset="2"/>
              </a:rPr>
              <a:t> Pauli operator sequences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43172C-287B-4E47-B89D-334F63D7A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751" y="3119626"/>
            <a:ext cx="3292559" cy="17222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9F2372-AAE4-4977-A3D7-56A4F4713452}"/>
              </a:ext>
            </a:extLst>
          </p:cNvPr>
          <p:cNvSpPr txBox="1"/>
          <p:nvPr/>
        </p:nvSpPr>
        <p:spPr>
          <a:xfrm>
            <a:off x="802609" y="1194691"/>
            <a:ext cx="4873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N=2  2-qubit system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E3111E8-A101-4DD5-9E31-B8C1BDC34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179" y="3606600"/>
            <a:ext cx="4658612" cy="92332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D60F113-947E-46A2-AA74-7D6E132D2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5447" y="1250340"/>
            <a:ext cx="1234064" cy="3251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A96F51-4CF6-4C21-8C79-8958D29DD94E}"/>
              </a:ext>
            </a:extLst>
          </p:cNvPr>
          <p:cNvSpPr txBox="1"/>
          <p:nvPr/>
        </p:nvSpPr>
        <p:spPr>
          <a:xfrm>
            <a:off x="1349298" y="5140712"/>
            <a:ext cx="7817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However,</a:t>
            </a:r>
            <a:r>
              <a:rPr lang="ko-KR" altLang="en-US" dirty="0"/>
              <a:t> </a:t>
            </a:r>
            <a:r>
              <a:rPr lang="en-US" altLang="ko-KR" dirty="0"/>
              <a:t>Jordan-Wigner</a:t>
            </a:r>
            <a:r>
              <a:rPr lang="ko-KR" altLang="en-US" dirty="0"/>
              <a:t> </a:t>
            </a:r>
            <a:r>
              <a:rPr lang="en-US" altLang="ko-KR" dirty="0"/>
              <a:t>transformation</a:t>
            </a:r>
            <a:r>
              <a:rPr lang="ko-KR" altLang="en-US" dirty="0"/>
              <a:t> </a:t>
            </a:r>
            <a:r>
              <a:rPr lang="en-US" altLang="ko-KR" dirty="0"/>
              <a:t>or</a:t>
            </a:r>
            <a:r>
              <a:rPr lang="ko-KR" altLang="en-US" dirty="0"/>
              <a:t> </a:t>
            </a:r>
            <a:r>
              <a:rPr lang="en-US" altLang="ko-KR" dirty="0"/>
              <a:t>one-hot-encoding</a:t>
            </a:r>
            <a:r>
              <a:rPr lang="ko-KR" altLang="en-US" dirty="0"/>
              <a:t> </a:t>
            </a:r>
            <a:r>
              <a:rPr lang="en-US" altLang="ko-KR" dirty="0"/>
              <a:t>is</a:t>
            </a:r>
            <a:r>
              <a:rPr lang="ko-KR" altLang="en-US" dirty="0"/>
              <a:t> </a:t>
            </a:r>
            <a:r>
              <a:rPr lang="en-US" altLang="ko-KR" dirty="0"/>
              <a:t>not</a:t>
            </a:r>
            <a:r>
              <a:rPr lang="ko-KR" altLang="en-US" dirty="0"/>
              <a:t> </a:t>
            </a:r>
            <a:r>
              <a:rPr lang="en-US" altLang="ko-KR" dirty="0"/>
              <a:t>resource efficient.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910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Simple VQE example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5064DE-C814-4C6A-9524-AA92D4C311B5}"/>
              </a:ext>
            </a:extLst>
          </p:cNvPr>
          <p:cNvSpPr txBox="1"/>
          <p:nvPr/>
        </p:nvSpPr>
        <p:spPr>
          <a:xfrm>
            <a:off x="611688" y="1261490"/>
            <a:ext cx="680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Variational Ansatz (Unitary coupled cluster Ansatz)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1B23E5E-9131-400C-975A-883C6BD0B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56" y="3031418"/>
            <a:ext cx="4296937" cy="63383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6BD2E76-57BC-4B68-A08D-BBB3E4327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56" y="3988052"/>
            <a:ext cx="2689576" cy="172341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13D86AC-2038-42A9-9C96-F184947AB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856" y="1903341"/>
            <a:ext cx="3774010" cy="80528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F6286AB-E6E5-4EA2-864C-1D5A6C2A6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7501" y="2143411"/>
            <a:ext cx="1234064" cy="32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18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Simple VQE example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9C2D46B-D4D8-426C-977D-0575DECBB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27" y="1782503"/>
            <a:ext cx="4229690" cy="2191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8AF8B0-79DA-457C-BFC1-A6850A7EF1BF}"/>
              </a:ext>
            </a:extLst>
          </p:cNvPr>
          <p:cNvSpPr txBox="1"/>
          <p:nvPr/>
        </p:nvSpPr>
        <p:spPr>
          <a:xfrm>
            <a:off x="512956" y="1220145"/>
            <a:ext cx="402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VQE circuits (Ansatz + Hamiltonian)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0E6C71-6BE1-4C45-9487-5BD5E51D1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657" y="1782503"/>
            <a:ext cx="1095528" cy="9907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C72F64-2BE6-41D2-A33D-1DD3FF998965}"/>
              </a:ext>
            </a:extLst>
          </p:cNvPr>
          <p:cNvSpPr txBox="1"/>
          <p:nvPr/>
        </p:nvSpPr>
        <p:spPr>
          <a:xfrm>
            <a:off x="7761249" y="2096429"/>
            <a:ext cx="296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&lt;Z&gt; measurement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68B3012-D621-44E2-B946-9A363C959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826" y="2878031"/>
            <a:ext cx="1600423" cy="9335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05C4CF3-6E18-4259-86FD-E1F174776A4B}"/>
              </a:ext>
            </a:extLst>
          </p:cNvPr>
          <p:cNvSpPr txBox="1"/>
          <p:nvPr/>
        </p:nvSpPr>
        <p:spPr>
          <a:xfrm>
            <a:off x="7928517" y="311119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&lt;X&gt; measurement </a:t>
            </a:r>
          </a:p>
          <a:p>
            <a:r>
              <a:rPr lang="en-US" dirty="0"/>
              <a:t> = &lt;HZH&gt;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ADF2C2D-57F7-4E96-95BD-DCB9B2D2D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170" y="3973559"/>
            <a:ext cx="2038635" cy="9240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A35AD2D-79EF-46DC-A949-42E531A0667B}"/>
              </a:ext>
            </a:extLst>
          </p:cNvPr>
          <p:cNvSpPr txBox="1"/>
          <p:nvPr/>
        </p:nvSpPr>
        <p:spPr>
          <a:xfrm>
            <a:off x="8292790" y="4207574"/>
            <a:ext cx="269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&lt;Y&gt; measurement</a:t>
            </a:r>
          </a:p>
          <a:p>
            <a:r>
              <a:rPr lang="en-US" dirty="0"/>
              <a:t> = &lt;S X </a:t>
            </a:r>
            <a:r>
              <a:rPr lang="en-US" dirty="0" err="1"/>
              <a:t>S^dagger</a:t>
            </a:r>
            <a:r>
              <a:rPr lang="en-US" dirty="0"/>
              <a:t> &gt; 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4A7D7F5-F026-4221-BD48-CD9092ABF4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063" y="4404262"/>
            <a:ext cx="3936381" cy="78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68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Simple VQE example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9C2D46B-D4D8-426C-977D-0575DECBB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56" y="4455154"/>
            <a:ext cx="4229690" cy="2191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8AF8B0-79DA-457C-BFC1-A6850A7EF1BF}"/>
              </a:ext>
            </a:extLst>
          </p:cNvPr>
          <p:cNvSpPr txBox="1"/>
          <p:nvPr/>
        </p:nvSpPr>
        <p:spPr>
          <a:xfrm>
            <a:off x="512956" y="1220145"/>
            <a:ext cx="402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VQE circuits (Ansatz + Hamiltonian)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668C0E-5ED6-4B32-BB14-5002E2E1D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56" y="2581156"/>
            <a:ext cx="7297168" cy="16956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6608CA-0F2E-418A-A705-432E4D1A908C}"/>
              </a:ext>
            </a:extLst>
          </p:cNvPr>
          <p:cNvSpPr txBox="1"/>
          <p:nvPr/>
        </p:nvSpPr>
        <p:spPr>
          <a:xfrm>
            <a:off x="512956" y="1815368"/>
            <a:ext cx="475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 </a:t>
            </a:r>
            <a:r>
              <a:rPr lang="en-US" dirty="0" err="1"/>
              <a:t>Qiskit</a:t>
            </a:r>
            <a:r>
              <a:rPr lang="en-US" dirty="0"/>
              <a:t> + </a:t>
            </a:r>
            <a:r>
              <a:rPr lang="en-US" dirty="0" err="1"/>
              <a:t>pennylane</a:t>
            </a:r>
            <a:r>
              <a:rPr lang="en-US" dirty="0"/>
              <a:t> library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B12B2-ED1E-43CD-AD12-5F67B684A5DC}"/>
              </a:ext>
            </a:extLst>
          </p:cNvPr>
          <p:cNvSpPr txBox="1"/>
          <p:nvPr/>
        </p:nvSpPr>
        <p:spPr>
          <a:xfrm>
            <a:off x="9650712" y="1951928"/>
            <a:ext cx="2141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N=3 Hamiltonian </a:t>
            </a:r>
          </a:p>
          <a:p>
            <a:r>
              <a:rPr lang="en-US" dirty="0"/>
              <a:t>circuits gives </a:t>
            </a:r>
          </a:p>
          <a:p>
            <a:r>
              <a:rPr lang="en-US" dirty="0"/>
              <a:t>-2.0451 MeV</a:t>
            </a:r>
          </a:p>
        </p:txBody>
      </p:sp>
    </p:spTree>
    <p:extLst>
      <p:ext uri="{BB962C8B-B14F-4D97-AF65-F5344CB8AC3E}">
        <p14:creationId xmlns:p14="http://schemas.microsoft.com/office/powerpoint/2010/main" val="10177247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Simple VQE code example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3B0FC1E-8D50-417A-81B0-F027E30AA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323" y="1948059"/>
            <a:ext cx="1785940" cy="839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B0152B-66BB-45E1-AF24-360EBA7312F1}"/>
              </a:ext>
            </a:extLst>
          </p:cNvPr>
          <p:cNvSpPr txBox="1"/>
          <p:nvPr/>
        </p:nvSpPr>
        <p:spPr>
          <a:xfrm>
            <a:off x="802888" y="1293541"/>
            <a:ext cx="8943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fact, 2x2 matrix eigenvalue problem can be solved with only </a:t>
            </a:r>
            <a:r>
              <a:rPr lang="en-US" dirty="0">
                <a:solidFill>
                  <a:srgbClr val="FF0000"/>
                </a:solidFill>
              </a:rPr>
              <a:t>1 qubit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3A2F29E-0F60-4EF6-AAA8-79D7032E2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269" y="2130472"/>
            <a:ext cx="3734321" cy="59063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CE9869-195A-494A-A273-B7F7CCDEB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585" y="2206683"/>
            <a:ext cx="2019582" cy="4382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8933E46-76F4-4805-B232-7F839DC204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638" y="2874979"/>
            <a:ext cx="2938625" cy="368636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1A167BF-9AF7-4F9B-B17D-C0E74C8A61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329" y="4645168"/>
            <a:ext cx="3896269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816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Untouched subjects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6E9C19-EAD3-4BE8-8896-1C04AA1B8CEA}"/>
              </a:ext>
            </a:extLst>
          </p:cNvPr>
          <p:cNvSpPr txBox="1"/>
          <p:nvPr/>
        </p:nvSpPr>
        <p:spPr>
          <a:xfrm>
            <a:off x="446049" y="1712543"/>
            <a:ext cx="1056020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How to simplify the Hamiltonian to reduce required qubits?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How to encode the physical basis into qubits ? How to convert Hamiltonian to Pauli matrices?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How to make a good ansatz of wave function in VQE?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How to construct efficient quantum circuits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How to remove noises in the quantum measurements?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Other quantum algorithms for nuclear physics?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Quantum simulators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Time evolution, </a:t>
            </a:r>
            <a:r>
              <a:rPr lang="en-US" sz="2800" dirty="0" err="1"/>
              <a:t>Trotterization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And Many more</a:t>
            </a:r>
          </a:p>
        </p:txBody>
      </p:sp>
    </p:spTree>
    <p:extLst>
      <p:ext uri="{BB962C8B-B14F-4D97-AF65-F5344CB8AC3E}">
        <p14:creationId xmlns:p14="http://schemas.microsoft.com/office/powerpoint/2010/main" val="369467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6514</TotalTime>
  <Words>1073</Words>
  <Application>Microsoft Office PowerPoint</Application>
  <PresentationFormat>와이드스크린</PresentationFormat>
  <Paragraphs>175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1" baseType="lpstr">
      <vt:lpstr>Pretendard ExtraBold</vt:lpstr>
      <vt:lpstr>Pretendard Medium</vt:lpstr>
      <vt:lpstr>SUIT ExtraBold</vt:lpstr>
      <vt:lpstr>SUIT SemiBold</vt:lpstr>
      <vt:lpstr>굴림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</dc:creator>
  <cp:lastModifiedBy>User</cp:lastModifiedBy>
  <cp:revision>121</cp:revision>
  <dcterms:created xsi:type="dcterms:W3CDTF">2024-06-24T06:18:32Z</dcterms:created>
  <dcterms:modified xsi:type="dcterms:W3CDTF">2026-03-26T07:54:02Z</dcterms:modified>
</cp:coreProperties>
</file>