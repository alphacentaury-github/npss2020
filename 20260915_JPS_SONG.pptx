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86" r:id="rId2"/>
    <p:sldId id="325" r:id="rId3"/>
    <p:sldId id="326" r:id="rId4"/>
    <p:sldId id="334" r:id="rId5"/>
    <p:sldId id="327" r:id="rId6"/>
    <p:sldId id="335" r:id="rId7"/>
    <p:sldId id="336" r:id="rId8"/>
    <p:sldId id="328" r:id="rId9"/>
    <p:sldId id="329" r:id="rId10"/>
    <p:sldId id="330" r:id="rId11"/>
    <p:sldId id="337" r:id="rId12"/>
    <p:sldId id="339" r:id="rId13"/>
    <p:sldId id="338" r:id="rId14"/>
    <p:sldId id="340" r:id="rId15"/>
    <p:sldId id="341" r:id="rId16"/>
    <p:sldId id="331" r:id="rId17"/>
    <p:sldId id="342" r:id="rId18"/>
    <p:sldId id="332" r:id="rId19"/>
    <p:sldId id="324" r:id="rId20"/>
    <p:sldId id="287" r:id="rId2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5C2"/>
    <a:srgbClr val="004098"/>
    <a:srgbClr val="005391"/>
    <a:srgbClr val="9FDFFF"/>
    <a:srgbClr val="0097E0"/>
    <a:srgbClr val="0079C0"/>
    <a:srgbClr val="002642"/>
    <a:srgbClr val="D9F2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4660"/>
  </p:normalViewPr>
  <p:slideViewPr>
    <p:cSldViewPr snapToGrid="0">
      <p:cViewPr varScale="1">
        <p:scale>
          <a:sx n="86" d="100"/>
          <a:sy n="86" d="100"/>
        </p:scale>
        <p:origin x="108" y="96"/>
      </p:cViewPr>
      <p:guideLst/>
    </p:cSldViewPr>
  </p:slideViewPr>
  <p:notesTextViewPr>
    <p:cViewPr>
      <p:scale>
        <a:sx n="3" d="2"/>
        <a:sy n="3" d="2"/>
      </p:scale>
      <p:origin x="0" y="0"/>
    </p:cViewPr>
  </p:notesTextViewPr>
  <p:notesViewPr>
    <p:cSldViewPr snapToGrid="0">
      <p:cViewPr varScale="1">
        <p:scale>
          <a:sx n="86" d="100"/>
          <a:sy n="86" d="100"/>
        </p:scale>
        <p:origin x="386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F5E2B8D-CCD9-4688-A868-6496788B9708}" type="datetimeFigureOut">
              <a:rPr lang="en-US" smtClean="0"/>
              <a:t>9/12/2026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0259F3-1C4C-45FF-8048-D8C18BB64F7D}" type="slidenum">
              <a:rPr lang="en-US" smtClean="0"/>
              <a:t>‹#›</a:t>
            </a:fld>
            <a:endParaRPr lang="en-US"/>
          </a:p>
        </p:txBody>
      </p:sp>
    </p:spTree>
    <p:extLst>
      <p:ext uri="{BB962C8B-B14F-4D97-AF65-F5344CB8AC3E}">
        <p14:creationId xmlns:p14="http://schemas.microsoft.com/office/powerpoint/2010/main" val="180594375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en-US"/>
          </a:p>
        </p:txBody>
      </p:sp>
      <p:sp>
        <p:nvSpPr>
          <p:cNvPr id="4" name="슬라이드 번호 개체 틀 3"/>
          <p:cNvSpPr>
            <a:spLocks noGrp="1"/>
          </p:cNvSpPr>
          <p:nvPr>
            <p:ph type="sldNum" sz="quarter" idx="5"/>
          </p:nvPr>
        </p:nvSpPr>
        <p:spPr/>
        <p:txBody>
          <a:bodyPr/>
          <a:lstStyle/>
          <a:p>
            <a:fld id="{020259F3-1C4C-45FF-8048-D8C18BB64F7D}" type="slidenum">
              <a:rPr lang="en-US" smtClean="0"/>
              <a:t>2</a:t>
            </a:fld>
            <a:endParaRPr lang="en-US"/>
          </a:p>
        </p:txBody>
      </p:sp>
    </p:spTree>
    <p:extLst>
      <p:ext uri="{BB962C8B-B14F-4D97-AF65-F5344CB8AC3E}">
        <p14:creationId xmlns:p14="http://schemas.microsoft.com/office/powerpoint/2010/main" val="34335676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en-US"/>
          </a:p>
        </p:txBody>
      </p:sp>
      <p:sp>
        <p:nvSpPr>
          <p:cNvPr id="4" name="슬라이드 번호 개체 틀 3"/>
          <p:cNvSpPr>
            <a:spLocks noGrp="1"/>
          </p:cNvSpPr>
          <p:nvPr>
            <p:ph type="sldNum" sz="quarter" idx="5"/>
          </p:nvPr>
        </p:nvSpPr>
        <p:spPr/>
        <p:txBody>
          <a:bodyPr/>
          <a:lstStyle/>
          <a:p>
            <a:fld id="{020259F3-1C4C-45FF-8048-D8C18BB64F7D}" type="slidenum">
              <a:rPr lang="en-US" smtClean="0"/>
              <a:t>3</a:t>
            </a:fld>
            <a:endParaRPr lang="en-US"/>
          </a:p>
        </p:txBody>
      </p:sp>
    </p:spTree>
    <p:extLst>
      <p:ext uri="{BB962C8B-B14F-4D97-AF65-F5344CB8AC3E}">
        <p14:creationId xmlns:p14="http://schemas.microsoft.com/office/powerpoint/2010/main" val="2220306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How might we interpret the enhanced binding of the second neutron pair in helium-8?</a:t>
            </a:r>
          </a:p>
          <a:p>
            <a:r>
              <a:rPr lang="en-US" altLang="ko-KR" dirty="0"/>
              <a:t>Pairing is, of course, familiar in nuclear physics. In finite nuclei, pairing produces characteristic binding-energy effects, while in extended neutron matter it leads to superfluidity. Conventionally, we often describe such a system in terms of one dominant pairing mode.</a:t>
            </a:r>
          </a:p>
          <a:p>
            <a:r>
              <a:rPr lang="en-US" altLang="ko-KR" dirty="0"/>
              <a:t>Recent work by Ma and collaborators proposes a richer phase called multimodal neutron superfluidity. In their calculations, several correlated structures coexist: spin-singlet s-wave pairs, p-wave pairs appearing in entangled double-pair combinations, and neutron quartets that can be viewed as bound states of two s-wave pairs.</a:t>
            </a:r>
          </a:p>
          <a:p>
            <a:r>
              <a:rPr lang="en-US" altLang="ko-KR" dirty="0"/>
              <a:t>This result concerns extended neutron matter, so we should not identify it directly with helium-8. Instead, it motivates a question: could the four valence neutrons of helium-8 realize a finite-system analogue of the same quartet-binding mechanism?</a:t>
            </a:r>
          </a:p>
          <a:p>
            <a:r>
              <a:rPr lang="en-US" altLang="ko-KR" dirty="0"/>
              <a:t>To investigate that question, we will use a different ab initio framework—the no-core shell model.</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4</a:t>
            </a:fld>
            <a:endParaRPr lang="en-US"/>
          </a:p>
        </p:txBody>
      </p:sp>
    </p:spTree>
    <p:extLst>
      <p:ext uri="{BB962C8B-B14F-4D97-AF65-F5344CB8AC3E}">
        <p14:creationId xmlns:p14="http://schemas.microsoft.com/office/powerpoint/2010/main" val="3531739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This figure summarizes the concept of multimodal superfluidity.</a:t>
            </a:r>
          </a:p>
          <a:p>
            <a:r>
              <a:rPr lang="en-US" altLang="ko-KR" dirty="0"/>
              <a:t>On the left are the relevant correlated structures. We have the familiar spin-singlet s-wave pair, a p-wave pair, and a quartet composed of two s-wave pairs bound together.</a:t>
            </a:r>
          </a:p>
          <a:p>
            <a:r>
              <a:rPr lang="en-US" altLang="ko-KR" dirty="0"/>
              <a:t>The schematic phase diagram on the right shows what happens as the s-wave and p-wave interactions are varied. With attraction in only one channel, the system may favor an ordinary s-wave or p-wave superfluid. When both interactions provide sufficient attraction, an intermediate region appears in which several modes coexist—the multimodal-superfluid phase.</a:t>
            </a:r>
          </a:p>
          <a:p>
            <a:r>
              <a:rPr lang="en-US" altLang="ko-KR" dirty="0"/>
              <a:t>The precise phase boundaries are model dependent. The important point for this talk is that the quartet is not an isolated four-neutron state. It is a correlated structure embedded in a many-body system together with pair correlations.</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5</a:t>
            </a:fld>
            <a:endParaRPr lang="en-US"/>
          </a:p>
        </p:txBody>
      </p:sp>
    </p:spTree>
    <p:extLst>
      <p:ext uri="{BB962C8B-B14F-4D97-AF65-F5344CB8AC3E}">
        <p14:creationId xmlns:p14="http://schemas.microsoft.com/office/powerpoint/2010/main" val="751141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The authors first demonstrate this behavior in a generalized attractive extended Hubbard model on a three-dimensional lattice.</a:t>
            </a:r>
          </a:p>
          <a:p>
            <a:r>
              <a:rPr lang="en-US" altLang="ko-KR" dirty="0"/>
              <a:t>Panel a shows the one-body momentum distribution and the location of the Fermi momentum. Panels b and c show nonzero s-wave and p-wave pair distributions, while panel d shows a substantial quartet distribution.</a:t>
            </a:r>
          </a:p>
          <a:p>
            <a:r>
              <a:rPr lang="en-US" altLang="ko-KR" dirty="0"/>
              <a:t>These signals occur simultaneously in the same calculated ground state. Therefore, the system cannot be characterized adequately by only one pairing channel.</a:t>
            </a:r>
          </a:p>
          <a:p>
            <a:r>
              <a:rPr lang="en-US" altLang="ko-KR" dirty="0"/>
              <a:t>This model provides a controlled demonstration of the mechanism, but it is still a generic fermionic lattice model. The next question is whether the same qualitative structure survives for a realistic neutron interaction.</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6</a:t>
            </a:fld>
            <a:endParaRPr lang="en-US"/>
          </a:p>
        </p:txBody>
      </p:sp>
    </p:spTree>
    <p:extLst>
      <p:ext uri="{BB962C8B-B14F-4D97-AF65-F5344CB8AC3E}">
        <p14:creationId xmlns:p14="http://schemas.microsoft.com/office/powerpoint/2010/main" val="4022257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Here, the calculation is repeated for neutron matter using a realistic ab initio nuclear-lattice interaction.</a:t>
            </a:r>
          </a:p>
          <a:p>
            <a:r>
              <a:rPr lang="en-US" altLang="ko-KR" dirty="0"/>
              <a:t>The three panels show the momentum distributions associated with s-wave pairing, several p-wave pairing channels, and quartets. All three sectors exhibit nonzero correlated strength. This demonstrates that the multimodal pattern is not restricted to the generalized Hubbard model; it also appears in the realistic neutron-matter calculation.</a:t>
            </a:r>
          </a:p>
          <a:p>
            <a:r>
              <a:rPr lang="en-US" altLang="ko-KR" dirty="0"/>
              <a:t>This result provides the conceptual motivation for our study of helium-8. However, helium-8 is a finite nucleus, so we should not describe it as possessing a thermodynamic superfluid phase or a condensate.</a:t>
            </a:r>
          </a:p>
          <a:p>
            <a:r>
              <a:rPr lang="en-US" altLang="ko-KR" dirty="0"/>
              <a:t>Instead, we ask a more limited question: do its four valence neutrons display a finite-system binding mechanism related to the pair and quartet structures seen here? We now examine that question using no-core shell-model calculations.</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7</a:t>
            </a:fld>
            <a:endParaRPr lang="en-US"/>
          </a:p>
        </p:txBody>
      </p:sp>
    </p:spTree>
    <p:extLst>
      <p:ext uri="{BB962C8B-B14F-4D97-AF65-F5344CB8AC3E}">
        <p14:creationId xmlns:p14="http://schemas.microsoft.com/office/powerpoint/2010/main" val="41538047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Before presenting the calculation, let me clarify its scope.</a:t>
            </a:r>
          </a:p>
          <a:p>
            <a:r>
              <a:rPr lang="en-US" altLang="ko-KR" dirty="0"/>
              <a:t>We ask whether the four valence neutrons of helium-8 exhibit a finite-system binding mechanism analogous to the neutron quartets found in multimodal neutron superfluidity.</a:t>
            </a:r>
          </a:p>
          <a:p>
            <a:r>
              <a:rPr lang="en-US" altLang="ko-KR" dirty="0"/>
              <a:t>We calculate helium-4, helium-6, and helium-8 consistently within the ab initio no-core shell model. We use the Daejeon16 two-nucleon interaction together with the Coulomb interaction. The two-body matrix elements are generated with </a:t>
            </a:r>
            <a:r>
              <a:rPr lang="en-US" altLang="ko-KR" dirty="0" err="1"/>
              <a:t>NuHamil</a:t>
            </a:r>
            <a:r>
              <a:rPr lang="en-US" altLang="ko-KR" dirty="0"/>
              <a:t>, and the many-body calculations are performed with BIGSTICK.</a:t>
            </a:r>
          </a:p>
          <a:p>
            <a:r>
              <a:rPr lang="en-US" altLang="ko-KR" dirty="0"/>
              <a:t>This framework gives us an independent, non-lattice test of the proposed mechanism. Daejeon16 is particularly useful because its comparatively rapid convergence makes calculations in large model spaces feasible. Nevertheless, convergence remains demanding for halo nuclei, and the harmonic-oscillator basis does not describe continuum </a:t>
            </a:r>
            <a:r>
              <a:rPr lang="en-US" altLang="ko-KR" dirty="0" err="1"/>
              <a:t>asymptotics</a:t>
            </a:r>
            <a:r>
              <a:rPr lang="en-US" altLang="ko-KR" dirty="0"/>
              <a:t> explicitly.</a:t>
            </a:r>
          </a:p>
          <a:p>
            <a:r>
              <a:rPr lang="en-US" altLang="ko-KR" dirty="0"/>
              <a:t>I also want to emphasize what we mean by a neutron quartet. It is not a free tetraneutron state in vacuum. Here, it refers to a correlated four-neutron structure embedded in a nucleus.</a:t>
            </a:r>
          </a:p>
          <a:p>
            <a:r>
              <a:rPr lang="en-US" altLang="ko-KR" dirty="0"/>
              <a:t>Therefore, our results should be interpreted as evidence about a binding mechanism and connected correlations—not as direct observation of a separate bound quartet. The conclusions are also specific to the Daejeon16 NCSM calculation and do not establish interaction independence.</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8</a:t>
            </a:fld>
            <a:endParaRPr lang="en-US"/>
          </a:p>
        </p:txBody>
      </p:sp>
    </p:spTree>
    <p:extLst>
      <p:ext uri="{BB962C8B-B14F-4D97-AF65-F5344CB8AC3E}">
        <p14:creationId xmlns:p14="http://schemas.microsoft.com/office/powerpoint/2010/main" val="2957060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Let me briefly introduce the interaction used in our calculations.</a:t>
            </a:r>
          </a:p>
          <a:p>
            <a:r>
              <a:rPr lang="en-US" altLang="ko-KR" dirty="0"/>
              <a:t>Daejeon16 starts from the Idaho chiral N3LO nucleon–nucleon interaction. It is first evolved using the similarity renormalization group, which softens the interaction and improves convergence in a harmonic-oscillator basis.</a:t>
            </a:r>
          </a:p>
          <a:p>
            <a:r>
              <a:rPr lang="en-US" altLang="ko-KR" dirty="0"/>
              <a:t>Phase-equivalent transformations are then applied to the SRG-evolved interaction. These transformations modify its off-shell matrix elements while preserving the on-shell two-nucleon observables. Their parameters were adjusted to selected binding energies and spectra of light nuclei.</a:t>
            </a:r>
          </a:p>
          <a:p>
            <a:r>
              <a:rPr lang="en-US" altLang="ko-KR" dirty="0"/>
              <a:t>The resulting Daejeon16 interaction provides a good description of many light-nucleus observables and generally exhibits comparatively rapid N-max convergence. This practical convergence is particularly important for helium-6 and helium-8, whose halo character makes large model spaces necessary.</a:t>
            </a:r>
          </a:p>
          <a:p>
            <a:r>
              <a:rPr lang="en-US" altLang="ko-KR" dirty="0"/>
              <a:t>In the present calculation, Daejeon16 is used as a two-body interaction, together with the Coulomb interaction, without an explicit three-nucleon force.</a:t>
            </a:r>
          </a:p>
          <a:p>
            <a:r>
              <a:rPr lang="en-US" altLang="ko-KR" dirty="0"/>
              <a:t>The tradeoff is that Daejeon16 was optimized using light-nucleus data. Therefore, agreement with light nuclei is not a completely independent prediction, and our conclusions about the quartet mechanism must be regarded as interaction dependent.</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9</a:t>
            </a:fld>
            <a:endParaRPr lang="en-US"/>
          </a:p>
        </p:txBody>
      </p:sp>
    </p:spTree>
    <p:extLst>
      <p:ext uri="{BB962C8B-B14F-4D97-AF65-F5344CB8AC3E}">
        <p14:creationId xmlns:p14="http://schemas.microsoft.com/office/powerpoint/2010/main" val="15290172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This figure shows the convergence of the calculated ground-state energies at an oscillator frequency of 15 MeV.</a:t>
            </a:r>
          </a:p>
          <a:p>
            <a:r>
              <a:rPr lang="en-US" altLang="ko-KR" dirty="0"/>
              <a:t>Interestingly, the smallest model space at N-max equal to zero already gives a negative three-point energy difference. However, this result is not yet physically informative. In this space, both helium-6 and helium-8 lie above the separately calculated helium-4 energy, so neither valence-neutron system is bound relative to the alpha core. Moreover, helium-6 is described more poorly than helium-8. The negative mass difference therefore mainly reflects the unequal quality of the severe truncation.</a:t>
            </a:r>
          </a:p>
          <a:p>
            <a:r>
              <a:rPr lang="en-US" altLang="ko-KR" dirty="0"/>
              <a:t>As the model space increases, the energies approach the experimental values. At N-max equal to four, helium-8 already falls slightly below helium-4, while helium-6 remains above it. Helium-6 crosses below helium-4 only at N-max equal to six.</a:t>
            </a:r>
          </a:p>
          <a:p>
            <a:r>
              <a:rPr lang="en-US" altLang="ko-KR" dirty="0"/>
              <a:t>Therefore, from N-max equal to six onward, both isotopes are bound within the same truncated variational space. Only in this region does the three-point difference begin to settle near minus one MeV.</a:t>
            </a:r>
          </a:p>
          <a:p>
            <a:r>
              <a:rPr lang="en-US" altLang="ko-KR" dirty="0"/>
              <a:t>Numerically, we obtain minus 1.019 MeV at N-max equal to eight and minus 0.962 MeV at N-max equal to ten, compared with the experimental value of minus 1.1496 MeV.</a:t>
            </a:r>
          </a:p>
          <a:p>
            <a:r>
              <a:rPr lang="en-US" altLang="ko-KR" dirty="0"/>
              <a:t>The absolute energies are not perfectly converged, but the enhanced binding of the second valence-neutron pair is already stable in the largest directly calculated spaces. We therefore use the N-max-equal-to-ten wave functions for the following energy and partial-wave decompositions.</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10</a:t>
            </a:fld>
            <a:endParaRPr lang="en-US"/>
          </a:p>
        </p:txBody>
      </p:sp>
    </p:spTree>
    <p:extLst>
      <p:ext uri="{BB962C8B-B14F-4D97-AF65-F5344CB8AC3E}">
        <p14:creationId xmlns:p14="http://schemas.microsoft.com/office/powerpoint/2010/main" val="4226227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Here are the numerical values corresponding to the previous convergence plot.</a:t>
            </a:r>
          </a:p>
          <a:p>
            <a:r>
              <a:rPr lang="en-US" altLang="ko-KR" dirty="0"/>
              <a:t>I define delta (E_A) as the energy of helium (A) relative to the calculated alpha-particle energy. Therefore, a positive value means that the additional neutrons are unbound, while a negative value means that the isotope is bound relative to the alpha core.</a:t>
            </a:r>
          </a:p>
          <a:p>
            <a:r>
              <a:rPr lang="en-US" altLang="ko-KR" dirty="0"/>
              <a:t>At (N_{\max}=0), both helium-6 and helium-8 are unbound. Although (X_H) is already negative, this value is not physically reliable because the two nuclei are affected very differently by the severe model-space truncation.</a:t>
            </a:r>
          </a:p>
          <a:p>
            <a:r>
              <a:rPr lang="en-US" altLang="ko-KR" dirty="0"/>
              <a:t>At (N_{\max}=4), helium-8 becomes slightly bound, while helium-6 remains unbound. From (N_{\max}=6), both nuclei are bound, and the three-point difference settles near minus one MeV. It changes only from minus 1.02 MeV at (N_{\max}=8) to minus 0.96 MeV at (N_{\max}=10), compared with the experimental value of minus 1.15 MeV.</a:t>
            </a:r>
          </a:p>
          <a:p>
            <a:r>
              <a:rPr lang="en-US" altLang="ko-KR" dirty="0"/>
              <a:t>Thus, the enhanced binding of helium-8 is stable in the largest directly analyzed model spaces. For the following wave-function and interaction decompositions, we use the (N_{\max}=10) results.</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11</a:t>
            </a:fld>
            <a:endParaRPr lang="en-US"/>
          </a:p>
        </p:txBody>
      </p:sp>
    </p:spTree>
    <p:extLst>
      <p:ext uri="{BB962C8B-B14F-4D97-AF65-F5344CB8AC3E}">
        <p14:creationId xmlns:p14="http://schemas.microsoft.com/office/powerpoint/2010/main" val="37708606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Now let us examine what produces the negative three-point difference.</a:t>
            </a:r>
          </a:p>
          <a:p>
            <a:r>
              <a:rPr lang="en-US" altLang="ko-KR" dirty="0"/>
              <a:t>At (N_{\max}=10), the intrinsic kinetic-energy contribution is strongly positive, about plus 10.8 MeV. The total interaction contribution is strongly negative, about minus 11.8 MeV. Their cancellation leaves the much smaller final result, (X_H=-0.96) MeV.</a:t>
            </a:r>
          </a:p>
          <a:p>
            <a:r>
              <a:rPr lang="en-US" altLang="ko-KR" dirty="0"/>
              <a:t>Therefore, the small magnitude of (X_H) should not be interpreted as a weak interaction effect. It is the residual of two contributions that are each more than ten times larger.</a:t>
            </a:r>
          </a:p>
          <a:p>
            <a:r>
              <a:rPr lang="en-US" altLang="ko-KR" dirty="0"/>
              <a:t>Resolving the potential energy by pair type, we find substantial attraction from both the neutron-neutron and proton-neutron interactions. The neutron-neutron contribution is minus 5.8 MeV, while the proton-neutron contribution is minus 5.2 MeV.</a:t>
            </a:r>
          </a:p>
          <a:p>
            <a:r>
              <a:rPr lang="en-US" altLang="ko-KR" dirty="0"/>
              <a:t>However, this energy balance alone does not identify the microscopic four-neutron structure. In particular, the proton-neutron term also contains nonlinear core response and configuration mixing. We therefore next isolate the neutron-neutron mechanism, beginning with the restricted (0p_{3/2}) model.</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12</a:t>
            </a:fld>
            <a:endParaRPr lang="en-US"/>
          </a:p>
        </p:txBody>
      </p:sp>
    </p:spTree>
    <p:extLst>
      <p:ext uri="{BB962C8B-B14F-4D97-AF65-F5344CB8AC3E}">
        <p14:creationId xmlns:p14="http://schemas.microsoft.com/office/powerpoint/2010/main" val="27406263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understand the neutron-neutron mechanism, consider an idealized model in which the alpha core is fixed and all valence neutrons occupy only the (0p_{3/2}) subshell.</a:t>
            </a:r>
          </a:p>
          <a:p>
            <a:r>
              <a:rPr lang="en-US" altLang="ko-KR" dirty="0"/>
              <a:t>This space is even smaller than the complete (N_{\max}=0) NCSM space. Its advantage is that the energy balance becomes transparent. The core-core contribution is constant, while the core-valence and intrinsic kinetic contributions are linear in the number of valence neutrons. Their three-point differences therefore vanish.</a:t>
            </a:r>
          </a:p>
          <a:p>
            <a:r>
              <a:rPr lang="en-US" altLang="ko-KR" dirty="0"/>
              <a:t>The first two valence neutrons form one (J=0) pair, giving the matrix element (V_0). In the filled (0p_{3/2}^4) configuration, the six neutron pairs consist of one (J=0) pair and five (J=2) pairs. Consequently, adding the second neutron pair changes the interaction energy by (5V_2).</a:t>
            </a:r>
          </a:p>
          <a:p>
            <a:r>
              <a:rPr lang="en-US" altLang="ko-KR" dirty="0"/>
              <a:t>The three-point difference is therefore simply (5V_2-V_0), which is minus 4.63 MeV for Daejeon16. This shows that the valence-neutron interaction can already generate strong negative curvature in the simplest restricted description.</a:t>
            </a:r>
          </a:p>
          <a:p>
            <a:r>
              <a:rPr lang="en-US" altLang="ko-KR" dirty="0"/>
              <a:t>The partial-wave decomposition is especially revealing. The conventional singlet-S pairing channel is attractive, but the largest negative contribution comes from the triplet-(P_2) channel. If (^{3}P_2) is removed, the result is reduced from minus 4.63 to only minus 0.50 MeV.</a:t>
            </a:r>
          </a:p>
          <a:p>
            <a:r>
              <a:rPr lang="en-US" altLang="ko-KR" dirty="0"/>
              <a:t>This does not mean that the restricted configurations are physically bound. Rather, it identifies a simple interaction mechanism that favors the second valence-neutron pair.</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13</a:t>
            </a:fld>
            <a:endParaRPr lang="en-US"/>
          </a:p>
        </p:txBody>
      </p:sp>
    </p:spTree>
    <p:extLst>
      <p:ext uri="{BB962C8B-B14F-4D97-AF65-F5344CB8AC3E}">
        <p14:creationId xmlns:p14="http://schemas.microsoft.com/office/powerpoint/2010/main" val="30001234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We now return from the restricted model to the full (N_{\max}=10) NCSM wave functions, focusing exclusively on the neutron-neutron interaction.</a:t>
            </a:r>
          </a:p>
          <a:p>
            <a:r>
              <a:rPr lang="en-US" altLang="ko-KR" dirty="0"/>
              <a:t>Let (\</a:t>
            </a:r>
            <a:r>
              <a:rPr lang="en-US" altLang="ko-KR" dirty="0" err="1"/>
              <a:t>mathcal</a:t>
            </a:r>
            <a:r>
              <a:rPr lang="en-US" altLang="ko-KR" dirty="0"/>
              <a:t> S) denote a set of single-particle subshells. The operator (P_{\</a:t>
            </a:r>
            <a:r>
              <a:rPr lang="en-US" altLang="ko-KR" dirty="0" err="1"/>
              <a:t>mathcal</a:t>
            </a:r>
            <a:r>
              <a:rPr lang="en-US" altLang="ko-KR" dirty="0"/>
              <a:t> S}) projects the full wave function onto configurations constructed from those subshells.</a:t>
            </a:r>
          </a:p>
          <a:p>
            <a:r>
              <a:rPr lang="en-US" altLang="ko-KR" dirty="0"/>
              <a:t>However, the projected expectation value still contains contributions already present in smaller subsets. We therefore apply the inclusion–exclusion subtraction shown here. The resulting delta (E_{\</a:t>
            </a:r>
            <a:r>
              <a:rPr lang="en-US" altLang="ko-KR" dirty="0" err="1"/>
              <a:t>mathcal</a:t>
            </a:r>
            <a:r>
              <a:rPr lang="en-US" altLang="ko-KR" dirty="0"/>
              <a:t> O}(\</a:t>
            </a:r>
            <a:r>
              <a:rPr lang="en-US" altLang="ko-KR" dirty="0" err="1"/>
              <a:t>mathcal</a:t>
            </a:r>
            <a:r>
              <a:rPr lang="en-US" altLang="ko-KR" dirty="0"/>
              <a:t> S)) is the irreducible contribution that requires every subshell in (\</a:t>
            </a:r>
            <a:r>
              <a:rPr lang="en-US" altLang="ko-KR" dirty="0" err="1"/>
              <a:t>mathcal</a:t>
            </a:r>
            <a:r>
              <a:rPr lang="en-US" altLang="ko-KR" dirty="0"/>
              <a:t> S).</a:t>
            </a:r>
          </a:p>
          <a:p>
            <a:r>
              <a:rPr lang="en-US" altLang="ko-KR" dirty="0"/>
              <a:t>We then form the same three-point isotope difference for each subshell cluster. This removes the part that is simply additive between the first and second valence-neutron pairs.</a:t>
            </a:r>
          </a:p>
          <a:p>
            <a:r>
              <a:rPr lang="en-US" altLang="ko-KR" dirty="0"/>
              <a:t>Here, cluster size means the number of distinct subshells—not the number of neutrons and not the rank of the nuclear interaction. In particular, a size-three term requires the simultaneous participation of three different subshells.</a:t>
            </a:r>
          </a:p>
          <a:p>
            <a:r>
              <a:rPr lang="en-US" altLang="ko-KR" dirty="0"/>
              <a:t>The table gives the resulting partial-wave contributions. On the next slide, the same values are plotted so that their physical pattern is easier to see.</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14</a:t>
            </a:fld>
            <a:endParaRPr lang="en-US"/>
          </a:p>
        </p:txBody>
      </p:sp>
    </p:spTree>
    <p:extLst>
      <p:ext uri="{BB962C8B-B14F-4D97-AF65-F5344CB8AC3E}">
        <p14:creationId xmlns:p14="http://schemas.microsoft.com/office/powerpoint/2010/main" val="1760002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This graph visualizes the numerical decomposition from the previous slide.</a:t>
            </a:r>
          </a:p>
          <a:p>
            <a:r>
              <a:rPr lang="en-US" altLang="ko-KR" dirty="0"/>
              <a:t>The blue bars show the contribution isolated within the (0p_{3/2}) subshell. We see the same qualitative competition suggested by the restricted model: the relative (^{1}S_0) and (^{3}P_2) channels are attractive, while (^{3}P_1) is repulsive.</a:t>
            </a:r>
          </a:p>
          <a:p>
            <a:r>
              <a:rPr lang="en-US" altLang="ko-KR" dirty="0"/>
              <a:t>The orange bars are particularly important. They show the irreducible contributions summed over all clusters containing three distinct subshells. Among these terms, (^{3}P_2) gives by far the largest attraction, about minus 1.03 MeV. This contribution cannot be reconstructed from any one- or two-subshell subset. It therefore demonstrates that an important part of the (^{3}P_2) attraction requires configurations spanning several subshells.</a:t>
            </a:r>
          </a:p>
          <a:p>
            <a:r>
              <a:rPr lang="en-US" altLang="ko-KR" dirty="0"/>
              <a:t>Finally, the green bars show the total over all cluster sizes. Overall, (^{3}P_2) is the largest attractive contribution, at minus 5.17 MeV. Conventional (^{1}S_0) pairing also supplies substantial attraction, while (^{3}P_1) provides a significant repulsive contribution. All remaining partial waves together contribute only minus 0.026 MeV.</a:t>
            </a:r>
          </a:p>
          <a:p>
            <a:r>
              <a:rPr lang="en-US" altLang="ko-KR" dirty="0"/>
              <a:t>Therefore, the neutron-neutron energy is not explained by an inert (0p_{3/2}^4) shell closure. The calculation instead shows cooperative (^{1}S_0) pairing and additional (^{3}P_2) attraction extending across multiple subshells. Later, the density cumulants will provide a more direct test of connected four-neutron correlations.</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15</a:t>
            </a:fld>
            <a:endParaRPr lang="en-US"/>
          </a:p>
        </p:txBody>
      </p:sp>
    </p:spTree>
    <p:extLst>
      <p:ext uri="{BB962C8B-B14F-4D97-AF65-F5344CB8AC3E}">
        <p14:creationId xmlns:p14="http://schemas.microsoft.com/office/powerpoint/2010/main" val="2460492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The previous decomposition tells us which relative partial waves contribute attraction. But quartet formation may depend on another question: how many independent pair structures are sufficiently attractive?</a:t>
            </a:r>
          </a:p>
          <a:p>
            <a:r>
              <a:rPr lang="en-US" altLang="ko-KR" dirty="0"/>
              <a:t>To organize this idea, we introduce the attractive rank. We first represent the net two-neutron interaction in a chosen finite, antisymmetric two-particle space and diagonalize it. From this interaction, (W) retains only the attractive eigenvalues. Each eigenvector (\phi_\alpha) is an orthonormal attractive pair mode, with attraction strength (g_\alpha).</a:t>
            </a:r>
          </a:p>
          <a:p>
            <a:r>
              <a:rPr lang="en-US" altLang="ko-KR" dirty="0"/>
              <a:t>For a chosen threshold epsilon, the attractive rank counts how many of these modes have attraction stronger than that threshold, including their degeneracies.</a:t>
            </a:r>
          </a:p>
          <a:p>
            <a:r>
              <a:rPr lang="en-US" altLang="ko-KR" dirty="0"/>
              <a:t>There are three qualifications. The rank depends on the chosen model space, it depends on the threshold, and it must be evaluated from the complete net interaction after attractive and repulsive terms have been combined.</a:t>
            </a:r>
          </a:p>
          <a:p>
            <a:r>
              <a:rPr lang="en-US" altLang="ko-KR" dirty="0"/>
              <a:t>In particular, the relative (^{1}S_0) and (^{3}P_2) components shown previously are not themselves eigenmodes counted by the rank. Instead, they contribute to the interaction kernel and change its eigenvalues.</a:t>
            </a:r>
          </a:p>
          <a:p>
            <a:r>
              <a:rPr lang="en-US" altLang="ko-KR" dirty="0"/>
              <a:t>We use attractive rank as an organizing concept and illustrate it in the restricted (0p_{3/2}) space.</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16</a:t>
            </a:fld>
            <a:endParaRPr lang="en-US"/>
          </a:p>
        </p:txBody>
      </p:sp>
    </p:spTree>
    <p:extLst>
      <p:ext uri="{BB962C8B-B14F-4D97-AF65-F5344CB8AC3E}">
        <p14:creationId xmlns:p14="http://schemas.microsoft.com/office/powerpoint/2010/main" val="13448700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Let us first consider the rigorous rank-one limit, where epsilon is zero and the attractive interaction contains only one normalized pair state.</a:t>
            </a:r>
          </a:p>
          <a:p>
            <a:r>
              <a:rPr lang="en-US" altLang="ko-KR" dirty="0"/>
              <a:t>For two neutrons, the lowest interaction energy is minus (g). If these pairs behaved as elementary bosons, four neutrons could simply occupy the same pair state twice and obtain minus (2g). However, the pairs are made from fermions. Pauli blocking prevents unrestricted repetition of the same pair structure. Consequently, the four-neutron interaction energy cannot be lower than minus (2g).</a:t>
            </a:r>
          </a:p>
          <a:p>
            <a:r>
              <a:rPr lang="en-US" altLang="ko-KR" dirty="0"/>
              <a:t>The quantity (E_4^{(V)}-2E_2^{(V)}) is therefore nonnegative. A strictly rank-one attractive interaction cannot generate extra interaction binding for the second pair.</a:t>
            </a:r>
          </a:p>
          <a:p>
            <a:r>
              <a:rPr lang="en-US" altLang="ko-KR" dirty="0"/>
              <a:t>An additional independent attractive mode can evade this restriction. The restricted (0p_{3/2}) example illustrates the idea. Using a representative threshold of 1 MeV, the full Daejeon16 interaction has an attractive (J_{\</a:t>
            </a:r>
            <a:r>
              <a:rPr lang="en-US" altLang="ko-KR" dirty="0" err="1"/>
              <a:t>mathrm</a:t>
            </a:r>
            <a:r>
              <a:rPr lang="en-US" altLang="ko-KR" dirty="0"/>
              <a:t>{pair}}=0) mode and five degenerate magnetic </a:t>
            </a:r>
            <a:r>
              <a:rPr lang="en-US" altLang="ko-KR" dirty="0" err="1"/>
              <a:t>substates</a:t>
            </a:r>
            <a:r>
              <a:rPr lang="en-US" altLang="ko-KR" dirty="0"/>
              <a:t> belonging to (J_{\</a:t>
            </a:r>
            <a:r>
              <a:rPr lang="en-US" altLang="ko-KR" dirty="0" err="1"/>
              <a:t>mathrm</a:t>
            </a:r>
            <a:r>
              <a:rPr lang="en-US" altLang="ko-KR" dirty="0"/>
              <a:t>{pair}}=2). The </a:t>
            </a:r>
            <a:r>
              <a:rPr lang="en-US" altLang="ko-KR" dirty="0" err="1"/>
              <a:t>thresholded</a:t>
            </a:r>
            <a:r>
              <a:rPr lang="en-US" altLang="ko-KR" dirty="0"/>
              <a:t> attractive rank is therefore six.</a:t>
            </a:r>
          </a:p>
          <a:p>
            <a:r>
              <a:rPr lang="en-US" altLang="ko-KR" dirty="0"/>
              <a:t>When the relative (^{3}P_2) component is removed, (V_2) changes from minus 1.48 to minus 0.65 MeV. It no longer passes the 1 MeV threshold, so only the (J_{\</a:t>
            </a:r>
            <a:r>
              <a:rPr lang="en-US" altLang="ko-KR" dirty="0" err="1"/>
              <a:t>mathrm</a:t>
            </a:r>
            <a:r>
              <a:rPr lang="en-US" altLang="ko-KR" dirty="0"/>
              <a:t>{pair}}=0) mode is counted and the </a:t>
            </a:r>
            <a:r>
              <a:rPr lang="en-US" altLang="ko-KR" dirty="0" err="1"/>
              <a:t>thresholded</a:t>
            </a:r>
            <a:r>
              <a:rPr lang="en-US" altLang="ko-KR" dirty="0"/>
              <a:t> rank becomes one. At the same time, the negative curvature is reduced from minus 4.63 to only minus 0.50 MeV.</a:t>
            </a:r>
          </a:p>
          <a:p>
            <a:r>
              <a:rPr lang="en-US" altLang="ko-KR" dirty="0"/>
              <a:t>Thus, (^{3}P_2) does not simply add attraction. It makes an additional net pair sector sufficiently attractive, providing another structure that the four-neutron system can use when repetition of the first pair mode is limited by Pauli blocking.</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17</a:t>
            </a:fld>
            <a:endParaRPr lang="en-US"/>
          </a:p>
        </p:txBody>
      </p:sp>
    </p:spTree>
    <p:extLst>
      <p:ext uri="{BB962C8B-B14F-4D97-AF65-F5344CB8AC3E}">
        <p14:creationId xmlns:p14="http://schemas.microsoft.com/office/powerpoint/2010/main" val="36384201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So far, our evidence has come from energies and interaction matrix elements. We now examine the many-body wave function directly using a four-neutron density cumulant.</a:t>
            </a:r>
          </a:p>
          <a:p>
            <a:r>
              <a:rPr lang="en-US" altLang="ko-KR" dirty="0"/>
              <a:t>The full four-body density contains both genuine four-neutron correlations and disconnected products of lower-order densities. For example, it includes contributions from two independent pairs, from a correlated three-body subsystem combined with one neutron, and from completely independent particles.</a:t>
            </a:r>
          </a:p>
          <a:p>
            <a:r>
              <a:rPr lang="en-US" altLang="ko-KR" dirty="0"/>
              <a:t>The fourth-order cumulant subtracts all of these disconnected partitions. What remains is the part of the density that cannot be reconstructed from one-, two-, or three-body correlations. A nonzero value therefore indicates connected four-neutron structure. However, it is not a probability and its sign should not be interpreted directly as attraction or repulsion.</a:t>
            </a:r>
          </a:p>
          <a:p>
            <a:r>
              <a:rPr lang="en-US" altLang="ko-KR" dirty="0"/>
              <a:t>The isolated (0p_{3/2}) cumulant in helium-8 is nearly zero, as expected for an approximately independent filled subshell. In contrast, the largest connected signal combines the (0p_{3/2}) and (0p_{1/2}) subshells. Its value is (3.32\times10^{-2}), approximately eight and a half times the largest positive cumulant found in helium-6.</a:t>
            </a:r>
          </a:p>
          <a:p>
            <a:r>
              <a:rPr lang="en-US" altLang="ko-KR" dirty="0"/>
              <a:t>Additional signals connect the (p) shell with the (</a:t>
            </a:r>
            <a:r>
              <a:rPr lang="en-US" altLang="ko-KR" dirty="0" err="1"/>
              <a:t>sd</a:t>
            </a:r>
            <a:r>
              <a:rPr lang="en-US" altLang="ko-KR" dirty="0"/>
              <a:t>) and (pf) shells and with a higher radial (p) orbital. Thus, the four valence neutrons are not described as an inert (0p_{3/2}^4) shell closure. They form a connected structure extending across several subshells.</a:t>
            </a:r>
          </a:p>
          <a:p>
            <a:r>
              <a:rPr lang="en-US" altLang="ko-KR" dirty="0"/>
              <a:t>This result is complementary to the earlier evidence: negative (X_H) establishes nonadditive binding, the partial-wave decomposition identifies the (^{1}S_0) and (^{3}P_2) mechanisms, and the cumulant confirms connected four-neutron correlations in the wave function.</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18</a:t>
            </a:fld>
            <a:endParaRPr lang="en-US"/>
          </a:p>
        </p:txBody>
      </p:sp>
    </p:spTree>
    <p:extLst>
      <p:ext uri="{BB962C8B-B14F-4D97-AF65-F5344CB8AC3E}">
        <p14:creationId xmlns:p14="http://schemas.microsoft.com/office/powerpoint/2010/main" val="518406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Let me summarize the evidence in three parts.</a:t>
            </a:r>
          </a:p>
          <a:p>
            <a:r>
              <a:rPr lang="en-US" altLang="ko-KR" dirty="0"/>
              <a:t>First, the energetics. Helium-8 is unusual because its second valence-neutron pair is more strongly bound than the first. This is expressed by the negative three-point difference. Our converged result is minus 0.96 MeV, close to the experimental value of minus 1.15 MeV. This establishes nonadditive binding along the helium isotope chain.</a:t>
            </a:r>
          </a:p>
          <a:p>
            <a:r>
              <a:rPr lang="en-US" altLang="ko-KR" dirty="0"/>
              <a:t>Second, the interaction mechanism. The small final value of (X_H) results from a large cancellation between kinetic and interaction energies. Within the neutron-neutron interaction, conventional (^{1}S_0) pairing supplies substantial attraction, but the (^{3}P_2) partial wave provides the largest additional contribution.</a:t>
            </a:r>
          </a:p>
          <a:p>
            <a:r>
              <a:rPr lang="en-US" altLang="ko-KR" dirty="0"/>
              <a:t>The attractive-rank argument explains why this matters. Pauli blocking prevents four neutrons from obtaining more-than-additive attraction by simply repeating one fermion-pair structure. The (^{3}P_2) interaction makes an additional net pair sector sufficiently attractive, giving the four-neutron system another structure through which it can gain interaction energy.</a:t>
            </a:r>
          </a:p>
          <a:p>
            <a:r>
              <a:rPr lang="en-US" altLang="ko-KR" dirty="0"/>
              <a:t>Third, the many-body wave function is not an inert (0p_{3/2}^4) shell closure. The irreducible three-subshell contribution is dominated by (^{3}P_2), and the four-body density cumulants independently demonstrate connected four-neutron correlations extending across multiple subshells.</a:t>
            </a:r>
          </a:p>
          <a:p>
            <a:r>
              <a:rPr lang="en-US" altLang="ko-KR" dirty="0"/>
              <a:t>None of these quantities alone is a unique signature of quartet formation. Taken together, however, the nonadditive binding, the cooperative (^{1}S_0) and (^{3}P_2) mechanism, and the connected multi-subshell structure provide complementary evidence for an interaction-driven bound two-pair structure in helium-8.</a:t>
            </a:r>
          </a:p>
          <a:p>
            <a:r>
              <a:rPr lang="en-US" altLang="ko-KR" dirty="0"/>
              <a:t>We therefore interpret the four valence neutrons of helium-8 as a finite-system analogue of the neutron quartet predicted in multimodal superfluidity.</a:t>
            </a:r>
          </a:p>
          <a:p>
            <a:endParaRPr lang="en-US" dirty="0"/>
          </a:p>
        </p:txBody>
      </p:sp>
      <p:sp>
        <p:nvSpPr>
          <p:cNvPr id="4" name="슬라이드 번호 개체 틀 3"/>
          <p:cNvSpPr>
            <a:spLocks noGrp="1"/>
          </p:cNvSpPr>
          <p:nvPr>
            <p:ph type="sldNum" sz="quarter" idx="5"/>
          </p:nvPr>
        </p:nvSpPr>
        <p:spPr/>
        <p:txBody>
          <a:bodyPr/>
          <a:lstStyle/>
          <a:p>
            <a:fld id="{020259F3-1C4C-45FF-8048-D8C18BB64F7D}" type="slidenum">
              <a:rPr lang="en-US" smtClean="0"/>
              <a:t>19</a:t>
            </a:fld>
            <a:endParaRPr lang="en-US"/>
          </a:p>
        </p:txBody>
      </p:sp>
    </p:spTree>
    <p:extLst>
      <p:ext uri="{BB962C8B-B14F-4D97-AF65-F5344CB8AC3E}">
        <p14:creationId xmlns:p14="http://schemas.microsoft.com/office/powerpoint/2010/main" val="3280012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8862F6E-ADD2-9366-B113-2DC17C241C7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dirty="0"/>
              <a:t>마스터 제목 스타일 편집</a:t>
            </a:r>
          </a:p>
        </p:txBody>
      </p:sp>
      <p:sp>
        <p:nvSpPr>
          <p:cNvPr id="3" name="부제목 2">
            <a:extLst>
              <a:ext uri="{FF2B5EF4-FFF2-40B4-BE49-F238E27FC236}">
                <a16:creationId xmlns:a16="http://schemas.microsoft.com/office/drawing/2014/main" id="{69E63DFE-D7AA-AC13-F7A4-9329D5BFA8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7820B87F-A1F1-79EF-E2BF-4CF0E388F752}"/>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5" name="바닥글 개체 틀 4">
            <a:extLst>
              <a:ext uri="{FF2B5EF4-FFF2-40B4-BE49-F238E27FC236}">
                <a16:creationId xmlns:a16="http://schemas.microsoft.com/office/drawing/2014/main" id="{181FC42A-09BF-8419-71AF-D8BCA03050A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0F6C858-E83D-8393-1C93-A134EC9C567B}"/>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12978726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BC82D7D-6770-00F1-0627-3F8644DEA2FE}"/>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1AD5AB5B-07F8-EFE8-E488-AECA1C1F3A22}"/>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13AF9378-3F43-8409-C03A-73DEDCCCDC78}"/>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5" name="바닥글 개체 틀 4">
            <a:extLst>
              <a:ext uri="{FF2B5EF4-FFF2-40B4-BE49-F238E27FC236}">
                <a16:creationId xmlns:a16="http://schemas.microsoft.com/office/drawing/2014/main" id="{F8B3C137-FEE2-FC2C-0D8F-278FA872F86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A2C4276-70B8-86B8-C9F2-52724C6E5DFB}"/>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36011654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8483C8-F5C9-9685-48E2-372D0D58DD33}"/>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08AFBA1-893B-0288-6791-FAB4BC2083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850A90D-A578-4DD6-2870-40DB3C9FDF81}"/>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5" name="바닥글 개체 틀 4">
            <a:extLst>
              <a:ext uri="{FF2B5EF4-FFF2-40B4-BE49-F238E27FC236}">
                <a16:creationId xmlns:a16="http://schemas.microsoft.com/office/drawing/2014/main" id="{7B9E5CDB-7074-A4A8-4E57-6ADBB809729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5CC5E56-B9B5-8E63-2A5F-2791DCDB3903}"/>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4173211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0992575-567D-4F07-18E1-F2EFEE398AE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45701245-7821-FA70-B19E-FF8BAE8D43B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F896413-0E6D-7EFE-1E16-67EAB3CE6DD3}"/>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B47C802B-FCE9-BAC3-3C8A-F94A7CB61B9B}"/>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6" name="바닥글 개체 틀 5">
            <a:extLst>
              <a:ext uri="{FF2B5EF4-FFF2-40B4-BE49-F238E27FC236}">
                <a16:creationId xmlns:a16="http://schemas.microsoft.com/office/drawing/2014/main" id="{C150B6BB-66E6-A1AF-DCA7-22C6149DC62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BA1F9CD-514A-5009-2295-248E7798257C}"/>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3989981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06889E2-A9B0-E7F4-2EFC-1F6ABCEC5009}"/>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4679192E-DC40-E249-FA5A-224DCAD5E5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6BA3964F-049F-B41F-99D2-C5E643342F75}"/>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6B4D5AEB-41E4-AB2A-A361-AD50934E638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731327A-522C-B45B-23A7-FE45D602091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3F58EAE2-3DE3-9A45-A577-F2C7F49AC5E4}"/>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8" name="바닥글 개체 틀 7">
            <a:extLst>
              <a:ext uri="{FF2B5EF4-FFF2-40B4-BE49-F238E27FC236}">
                <a16:creationId xmlns:a16="http://schemas.microsoft.com/office/drawing/2014/main" id="{58EB2941-CF8A-0F2B-A17B-BA569B44259E}"/>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C7A8847A-4A32-BB3B-8011-3BD2B1D175AA}"/>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3448923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D6AFE61-F2CC-2520-2C79-0A4181EE3E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CB75A781-E381-CFC1-56F8-631733D95A5A}"/>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4" name="바닥글 개체 틀 3">
            <a:extLst>
              <a:ext uri="{FF2B5EF4-FFF2-40B4-BE49-F238E27FC236}">
                <a16:creationId xmlns:a16="http://schemas.microsoft.com/office/drawing/2014/main" id="{77733B07-5393-1069-8F86-A6CED16C04C2}"/>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83A0F87-68C5-E2FB-D9A5-9E7212FBE380}"/>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12216071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22F554A2-1944-7322-6170-F4E5A0AC1708}"/>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3" name="바닥글 개체 틀 2">
            <a:extLst>
              <a:ext uri="{FF2B5EF4-FFF2-40B4-BE49-F238E27FC236}">
                <a16:creationId xmlns:a16="http://schemas.microsoft.com/office/drawing/2014/main" id="{A5EB92C6-8A54-6C9C-A148-78F94CA706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3DC03EA-1180-5060-1C14-7892402C7144}"/>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2944940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BA6F0D0-AECA-9305-628D-D368E464727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38933A91-9DAD-3250-899A-E2586BA3A0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82A713F4-58A1-8194-7C0F-43EED8FD69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4F1C4796-320D-3598-CD92-C720F928DD77}"/>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6" name="바닥글 개체 틀 5">
            <a:extLst>
              <a:ext uri="{FF2B5EF4-FFF2-40B4-BE49-F238E27FC236}">
                <a16:creationId xmlns:a16="http://schemas.microsoft.com/office/drawing/2014/main" id="{E8FC7862-B3EE-E0CE-F567-C690840A495C}"/>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BFAD1A5-F188-DF17-93F6-B612F02A959F}"/>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6060395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03D4E4E-4AA1-0A45-E636-CD90C3BD5F6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DA1229B5-E851-E7F8-C243-BFDF215192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50ABDEDD-50E7-048D-7DE7-9895AEFE2A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A24F004A-50F1-59C5-7058-2F0A28EAD708}"/>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6" name="바닥글 개체 틀 5">
            <a:extLst>
              <a:ext uri="{FF2B5EF4-FFF2-40B4-BE49-F238E27FC236}">
                <a16:creationId xmlns:a16="http://schemas.microsoft.com/office/drawing/2014/main" id="{F60BF5E8-594F-D436-2A8A-EE5139390C7C}"/>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2C82157-6230-F235-4D52-AB9CE44576F8}"/>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3126206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ACD3C61-C3FC-C5EE-8BC4-F2BACFB4C3BF}"/>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3BD343A-9526-ED91-60B6-846FCA616C7D}"/>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3E58B21-EBE2-D6D6-5571-62B56C386AFD}"/>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5" name="바닥글 개체 틀 4">
            <a:extLst>
              <a:ext uri="{FF2B5EF4-FFF2-40B4-BE49-F238E27FC236}">
                <a16:creationId xmlns:a16="http://schemas.microsoft.com/office/drawing/2014/main" id="{62A1D3BC-3B94-657F-B4F3-15E17BFE7B7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46C3595-51D2-4BE0-FC5B-65FC1361374E}"/>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469011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1184896-448B-F6ED-6999-3544E8D0A7A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1937D462-0928-6FAF-9175-2C9DD593F37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66272F0-1958-1F3E-24B8-9DFAE755AE00}"/>
              </a:ext>
            </a:extLst>
          </p:cNvPr>
          <p:cNvSpPr>
            <a:spLocks noGrp="1"/>
          </p:cNvSpPr>
          <p:nvPr>
            <p:ph type="dt" sz="half" idx="10"/>
          </p:nvPr>
        </p:nvSpPr>
        <p:spPr/>
        <p:txBody>
          <a:bodyPr/>
          <a:lstStyle/>
          <a:p>
            <a:fld id="{916B85E3-3F26-4931-9378-98579BCCDB13}" type="datetimeFigureOut">
              <a:rPr lang="ko-KR" altLang="en-US" smtClean="0"/>
              <a:t>2026-09-12</a:t>
            </a:fld>
            <a:endParaRPr lang="ko-KR" altLang="en-US"/>
          </a:p>
        </p:txBody>
      </p:sp>
      <p:sp>
        <p:nvSpPr>
          <p:cNvPr id="5" name="바닥글 개체 틀 4">
            <a:extLst>
              <a:ext uri="{FF2B5EF4-FFF2-40B4-BE49-F238E27FC236}">
                <a16:creationId xmlns:a16="http://schemas.microsoft.com/office/drawing/2014/main" id="{49DE1C8E-52B1-1C28-79CB-87C0D5AF161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686BFB5-04B2-2318-55C4-563D5B02752D}"/>
              </a:ext>
            </a:extLst>
          </p:cNvPr>
          <p:cNvSpPr>
            <a:spLocks noGrp="1"/>
          </p:cNvSpPr>
          <p:nvPr>
            <p:ph type="sldNum" sz="quarter" idx="12"/>
          </p:nvPr>
        </p:nvSpPr>
        <p:spPr/>
        <p:txBody>
          <a:bodyPr/>
          <a:lstStyle/>
          <a:p>
            <a:fld id="{91FA9868-F4C7-48E4-A91F-515FCC583EA8}" type="slidenum">
              <a:rPr lang="ko-KR" altLang="en-US" smtClean="0"/>
              <a:t>‹#›</a:t>
            </a:fld>
            <a:endParaRPr lang="ko-KR" altLang="en-US"/>
          </a:p>
        </p:txBody>
      </p:sp>
    </p:spTree>
    <p:extLst>
      <p:ext uri="{BB962C8B-B14F-4D97-AF65-F5344CB8AC3E}">
        <p14:creationId xmlns:p14="http://schemas.microsoft.com/office/powerpoint/2010/main" val="13287176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D6150AF9-B02A-831F-D625-2823059F23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dirty="0"/>
              <a:t>마스터 제목 스타일 편집</a:t>
            </a:r>
          </a:p>
        </p:txBody>
      </p:sp>
      <p:sp>
        <p:nvSpPr>
          <p:cNvPr id="3" name="텍스트 개체 틀 2">
            <a:extLst>
              <a:ext uri="{FF2B5EF4-FFF2-40B4-BE49-F238E27FC236}">
                <a16:creationId xmlns:a16="http://schemas.microsoft.com/office/drawing/2014/main" id="{E76F7CBD-C5B4-6970-50BD-1F730ADD59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48302B4-4D1A-9D80-C727-EB5E97CCA9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16B85E3-3F26-4931-9378-98579BCCDB13}" type="datetimeFigureOut">
              <a:rPr lang="ko-KR" altLang="en-US" smtClean="0"/>
              <a:t>2026-09-12</a:t>
            </a:fld>
            <a:endParaRPr lang="ko-KR" altLang="en-US"/>
          </a:p>
        </p:txBody>
      </p:sp>
      <p:sp>
        <p:nvSpPr>
          <p:cNvPr id="5" name="바닥글 개체 틀 4">
            <a:extLst>
              <a:ext uri="{FF2B5EF4-FFF2-40B4-BE49-F238E27FC236}">
                <a16:creationId xmlns:a16="http://schemas.microsoft.com/office/drawing/2014/main" id="{B2F288A1-9CBB-4C3A-3728-7910B1B637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C2DEACB1-5581-917D-9A1E-150C4099F4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1FA9868-F4C7-48E4-A91F-515FCC583EA8}" type="slidenum">
              <a:rPr lang="ko-KR" altLang="en-US" smtClean="0"/>
              <a:t>‹#›</a:t>
            </a:fld>
            <a:endParaRPr lang="ko-KR" altLang="en-US" dirty="0"/>
          </a:p>
        </p:txBody>
      </p:sp>
    </p:spTree>
    <p:extLst>
      <p:ext uri="{BB962C8B-B14F-4D97-AF65-F5344CB8AC3E}">
        <p14:creationId xmlns:p14="http://schemas.microsoft.com/office/powerpoint/2010/main" val="3288442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rxiv.org/abs/2608.25883"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arxiv.org/search/nucl-th?searchtype=author&amp;query=Lee,+D" TargetMode="External"/><Relationship Id="rId5" Type="http://schemas.openxmlformats.org/officeDocument/2006/relationships/hyperlink" Target="https://arxiv.org/search/nucl-th?searchtype=author&amp;query=Ma,+Y" TargetMode="External"/><Relationship Id="rId4" Type="http://schemas.openxmlformats.org/officeDocument/2006/relationships/hyperlink" Target="https://arxiv.org/search/nucl-th?searchtype=author&amp;query=Song,+Y"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5.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8" Type="http://schemas.openxmlformats.org/officeDocument/2006/relationships/hyperlink" Target="https://arxiv.org/abs/2608.25883" TargetMode="External"/><Relationship Id="rId3" Type="http://schemas.openxmlformats.org/officeDocument/2006/relationships/image" Target="../media/image3.png"/><Relationship Id="rId7"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4.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그림 10" descr="빛, 우주, 스크린샷, 일렉트릭 블루이(가) 표시된 사진&#10;&#10;자동 생성된 설명">
            <a:extLst>
              <a:ext uri="{FF2B5EF4-FFF2-40B4-BE49-F238E27FC236}">
                <a16:creationId xmlns:a16="http://schemas.microsoft.com/office/drawing/2014/main" id="{D1E24FB7-B379-E35B-C045-142C05A3C77C}"/>
              </a:ext>
            </a:extLst>
          </p:cNvPr>
          <p:cNvPicPr>
            <a:picLocks noChangeAspect="1"/>
          </p:cNvPicPr>
          <p:nvPr/>
        </p:nvPicPr>
        <p:blipFill rotWithShape="1">
          <a:blip r:embed="rId2"/>
          <a:srcRect t="34178" b="41771"/>
          <a:stretch/>
        </p:blipFill>
        <p:spPr>
          <a:xfrm>
            <a:off x="0" y="1"/>
            <a:ext cx="12192000" cy="1675616"/>
          </a:xfrm>
          <a:prstGeom prst="rect">
            <a:avLst/>
          </a:prstGeom>
        </p:spPr>
      </p:pic>
      <p:sp>
        <p:nvSpPr>
          <p:cNvPr id="4" name="직사각형 3">
            <a:extLst>
              <a:ext uri="{FF2B5EF4-FFF2-40B4-BE49-F238E27FC236}">
                <a16:creationId xmlns:a16="http://schemas.microsoft.com/office/drawing/2014/main" id="{BC0E2BE3-85A1-8B59-C7D1-646A89DD5721}"/>
              </a:ext>
            </a:extLst>
          </p:cNvPr>
          <p:cNvSpPr/>
          <p:nvPr/>
        </p:nvSpPr>
        <p:spPr>
          <a:xfrm>
            <a:off x="0" y="1675617"/>
            <a:ext cx="12192000" cy="5201634"/>
          </a:xfrm>
          <a:prstGeom prst="rect">
            <a:avLst/>
          </a:prstGeom>
          <a:solidFill>
            <a:srgbClr val="004098">
              <a:alpha val="89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5E6719FA-86E2-B139-2CAD-DDCBFF492781}"/>
              </a:ext>
            </a:extLst>
          </p:cNvPr>
          <p:cNvSpPr txBox="1"/>
          <p:nvPr/>
        </p:nvSpPr>
        <p:spPr>
          <a:xfrm>
            <a:off x="819830" y="2556417"/>
            <a:ext cx="10086063" cy="769441"/>
          </a:xfrm>
          <a:prstGeom prst="rect">
            <a:avLst/>
          </a:prstGeom>
          <a:noFill/>
        </p:spPr>
        <p:txBody>
          <a:bodyPr wrap="square" rtlCol="0">
            <a:spAutoFit/>
          </a:bodyPr>
          <a:lstStyle/>
          <a:p>
            <a:r>
              <a:rPr lang="en-US" altLang="ko-KR" sz="4400" dirty="0">
                <a:solidFill>
                  <a:schemeClr val="bg1"/>
                </a:solidFill>
                <a:ea typeface="SUIT ExtraBold" pitchFamily="50" charset="-127"/>
                <a:cs typeface="Pretendard ExtraBold" panose="02000903000000020004" pitchFamily="50" charset="-127"/>
              </a:rPr>
              <a:t>Neutron</a:t>
            </a:r>
            <a:r>
              <a:rPr lang="ko-KR" altLang="en-US" sz="4400" dirty="0">
                <a:solidFill>
                  <a:schemeClr val="bg1"/>
                </a:solidFill>
                <a:ea typeface="SUIT ExtraBold" pitchFamily="50" charset="-127"/>
                <a:cs typeface="Pretendard ExtraBold" panose="02000903000000020004" pitchFamily="50" charset="-127"/>
              </a:rPr>
              <a:t> </a:t>
            </a:r>
            <a:r>
              <a:rPr lang="en-US" altLang="ko-KR" sz="4400" dirty="0">
                <a:solidFill>
                  <a:schemeClr val="bg1"/>
                </a:solidFill>
                <a:ea typeface="SUIT ExtraBold" pitchFamily="50" charset="-127"/>
                <a:cs typeface="Pretendard ExtraBold" panose="02000903000000020004" pitchFamily="50" charset="-127"/>
              </a:rPr>
              <a:t>correlations</a:t>
            </a:r>
            <a:r>
              <a:rPr lang="ko-KR" altLang="en-US" sz="4400" dirty="0">
                <a:solidFill>
                  <a:schemeClr val="bg1"/>
                </a:solidFill>
                <a:ea typeface="SUIT ExtraBold" pitchFamily="50" charset="-127"/>
                <a:cs typeface="Pretendard ExtraBold" panose="02000903000000020004" pitchFamily="50" charset="-127"/>
              </a:rPr>
              <a:t> </a:t>
            </a:r>
            <a:r>
              <a:rPr lang="en-US" altLang="ko-KR" sz="4400" dirty="0">
                <a:solidFill>
                  <a:schemeClr val="bg1"/>
                </a:solidFill>
                <a:ea typeface="SUIT ExtraBold" pitchFamily="50" charset="-127"/>
                <a:cs typeface="Pretendard ExtraBold" panose="02000903000000020004" pitchFamily="50" charset="-127"/>
              </a:rPr>
              <a:t>in</a:t>
            </a:r>
            <a:r>
              <a:rPr lang="ko-KR" altLang="en-US" sz="4400" dirty="0">
                <a:solidFill>
                  <a:schemeClr val="bg1"/>
                </a:solidFill>
                <a:ea typeface="SUIT ExtraBold" pitchFamily="50" charset="-127"/>
                <a:cs typeface="Pretendard ExtraBold" panose="02000903000000020004" pitchFamily="50" charset="-127"/>
              </a:rPr>
              <a:t> </a:t>
            </a:r>
            <a:r>
              <a:rPr lang="en-US" altLang="ko-KR" sz="4400" dirty="0">
                <a:solidFill>
                  <a:schemeClr val="bg1"/>
                </a:solidFill>
                <a:ea typeface="SUIT ExtraBold" pitchFamily="50" charset="-127"/>
                <a:cs typeface="Pretendard ExtraBold" panose="02000903000000020004" pitchFamily="50" charset="-127"/>
              </a:rPr>
              <a:t>Helium</a:t>
            </a:r>
            <a:r>
              <a:rPr lang="ko-KR" altLang="en-US" sz="4400" dirty="0">
                <a:solidFill>
                  <a:schemeClr val="bg1"/>
                </a:solidFill>
                <a:ea typeface="SUIT ExtraBold" pitchFamily="50" charset="-127"/>
                <a:cs typeface="Pretendard ExtraBold" panose="02000903000000020004" pitchFamily="50" charset="-127"/>
              </a:rPr>
              <a:t> </a:t>
            </a:r>
            <a:r>
              <a:rPr lang="en-US" altLang="ko-KR" sz="4400" dirty="0">
                <a:solidFill>
                  <a:schemeClr val="bg1"/>
                </a:solidFill>
                <a:ea typeface="SUIT ExtraBold" pitchFamily="50" charset="-127"/>
                <a:cs typeface="Pretendard ExtraBold" panose="02000903000000020004" pitchFamily="50" charset="-127"/>
              </a:rPr>
              <a:t>isotopes</a:t>
            </a:r>
            <a:endParaRPr lang="ko-KR" altLang="en-US" sz="4400" dirty="0">
              <a:solidFill>
                <a:schemeClr val="bg1"/>
              </a:solidFill>
              <a:ea typeface="SUIT ExtraBold" pitchFamily="50" charset="-127"/>
              <a:cs typeface="Pretendard ExtraBold" panose="02000903000000020004" pitchFamily="50" charset="-127"/>
            </a:endParaRPr>
          </a:p>
        </p:txBody>
      </p:sp>
      <p:sp>
        <p:nvSpPr>
          <p:cNvPr id="9" name="TextBox 8">
            <a:extLst>
              <a:ext uri="{FF2B5EF4-FFF2-40B4-BE49-F238E27FC236}">
                <a16:creationId xmlns:a16="http://schemas.microsoft.com/office/drawing/2014/main" id="{62786282-5402-7A3C-32C6-7A2741493667}"/>
              </a:ext>
            </a:extLst>
          </p:cNvPr>
          <p:cNvSpPr txBox="1"/>
          <p:nvPr/>
        </p:nvSpPr>
        <p:spPr>
          <a:xfrm>
            <a:off x="819830" y="4680075"/>
            <a:ext cx="10454053" cy="954107"/>
          </a:xfrm>
          <a:prstGeom prst="rect">
            <a:avLst/>
          </a:prstGeom>
          <a:noFill/>
        </p:spPr>
        <p:txBody>
          <a:bodyPr wrap="square" rtlCol="0">
            <a:spAutoFit/>
          </a:bodyPr>
          <a:lstStyle/>
          <a:p>
            <a:pPr lvl="1"/>
            <a:r>
              <a:rPr lang="en-US" altLang="ko-KR" sz="2800" u="sng" dirty="0">
                <a:solidFill>
                  <a:schemeClr val="bg1"/>
                </a:solidFill>
              </a:rPr>
              <a:t>Young-Ho Song (IRIS, IBS), </a:t>
            </a:r>
          </a:p>
          <a:p>
            <a:pPr lvl="1"/>
            <a:r>
              <a:rPr lang="en-US" altLang="ko-KR" sz="2800" dirty="0" err="1">
                <a:solidFill>
                  <a:schemeClr val="bg1"/>
                </a:solidFill>
              </a:rPr>
              <a:t>Yuanzhuo</a:t>
            </a:r>
            <a:r>
              <a:rPr lang="en-US" altLang="ko-KR" sz="2800" dirty="0">
                <a:solidFill>
                  <a:schemeClr val="bg1"/>
                </a:solidFill>
              </a:rPr>
              <a:t> Ma(FRIB,MSU) and Dean Lee(FRIB,MSU)</a:t>
            </a:r>
            <a:endParaRPr lang="en-US" dirty="0">
              <a:solidFill>
                <a:schemeClr val="bg1"/>
              </a:solidFill>
            </a:endParaRPr>
          </a:p>
        </p:txBody>
      </p:sp>
      <p:pic>
        <p:nvPicPr>
          <p:cNvPr id="3" name="그림 2" descr="텍스트, 폰트, 그래픽, 스크린샷이(가) 표시된 사진&#10;&#10;자동 생성된 설명">
            <a:extLst>
              <a:ext uri="{FF2B5EF4-FFF2-40B4-BE49-F238E27FC236}">
                <a16:creationId xmlns:a16="http://schemas.microsoft.com/office/drawing/2014/main" id="{B4C5BB82-97A8-0197-3CE6-2D92FB4CC7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923" y="5936852"/>
            <a:ext cx="2340232" cy="468869"/>
          </a:xfrm>
          <a:prstGeom prst="rect">
            <a:avLst/>
          </a:prstGeom>
        </p:spPr>
      </p:pic>
      <p:sp>
        <p:nvSpPr>
          <p:cNvPr id="8" name="TextBox 7">
            <a:extLst>
              <a:ext uri="{FF2B5EF4-FFF2-40B4-BE49-F238E27FC236}">
                <a16:creationId xmlns:a16="http://schemas.microsoft.com/office/drawing/2014/main" id="{62786282-5402-7A3C-32C6-7A2741493667}"/>
              </a:ext>
            </a:extLst>
          </p:cNvPr>
          <p:cNvSpPr txBox="1"/>
          <p:nvPr/>
        </p:nvSpPr>
        <p:spPr>
          <a:xfrm>
            <a:off x="5553307" y="6171286"/>
            <a:ext cx="6043961" cy="369332"/>
          </a:xfrm>
          <a:prstGeom prst="rect">
            <a:avLst/>
          </a:prstGeom>
          <a:noFill/>
        </p:spPr>
        <p:txBody>
          <a:bodyPr wrap="square" rtlCol="0">
            <a:spAutoFit/>
          </a:bodyPr>
          <a:lstStyle/>
          <a:p>
            <a:pPr lvl="1"/>
            <a:r>
              <a:rPr lang="en-US" dirty="0">
                <a:solidFill>
                  <a:schemeClr val="bg1"/>
                </a:solidFill>
              </a:rPr>
              <a:t>2026.09.15. JPS meeting, University of Tokyo</a:t>
            </a:r>
          </a:p>
        </p:txBody>
      </p:sp>
    </p:spTree>
    <p:extLst>
      <p:ext uri="{BB962C8B-B14F-4D97-AF65-F5344CB8AC3E}">
        <p14:creationId xmlns:p14="http://schemas.microsoft.com/office/powerpoint/2010/main" val="30912871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6442477"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OUTLINE</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5" name="직사각형 4"/>
          <p:cNvSpPr/>
          <p:nvPr/>
        </p:nvSpPr>
        <p:spPr>
          <a:xfrm>
            <a:off x="583579" y="1342807"/>
            <a:ext cx="10478431" cy="3564053"/>
          </a:xfrm>
          <a:prstGeom prst="rect">
            <a:avLst/>
          </a:prstGeom>
        </p:spPr>
        <p:txBody>
          <a:bodyPr wrap="square">
            <a:spAutoFit/>
          </a:bodyPr>
          <a:lstStyle/>
          <a:p>
            <a:pPr marL="457200" lvl="0" indent="-457200" latinLnBrk="0">
              <a:spcBef>
                <a:spcPct val="20000"/>
              </a:spcBef>
              <a:buClr>
                <a:srgbClr val="93A299"/>
              </a:buClr>
              <a:buSzPct val="85000"/>
              <a:buFont typeface="+mj-lt"/>
              <a:buAutoNum type="arabicPeriod"/>
            </a:pPr>
            <a:r>
              <a:rPr lang="en-US" altLang="ko-KR" sz="2400" dirty="0">
                <a:solidFill>
                  <a:srgbClr val="292934"/>
                </a:solidFill>
                <a:latin typeface="Arial"/>
                <a:ea typeface="돋움" panose="020B0600000101010101" pitchFamily="50" charset="-127"/>
              </a:rPr>
              <a:t>Introduction</a:t>
            </a:r>
          </a:p>
          <a:p>
            <a:pPr marL="914400" lvl="1" indent="-457200" latinLnBrk="0">
              <a:spcBef>
                <a:spcPct val="20000"/>
              </a:spcBef>
              <a:buClr>
                <a:srgbClr val="93A299"/>
              </a:buClr>
              <a:buSzPct val="85000"/>
              <a:buFont typeface="Arial" panose="020B0604020202020204" pitchFamily="34" charset="0"/>
              <a:buChar char="•"/>
            </a:pPr>
            <a:r>
              <a:rPr lang="en-US" altLang="ko-KR" sz="2400" dirty="0">
                <a:solidFill>
                  <a:srgbClr val="292934"/>
                </a:solidFill>
                <a:ea typeface="돋움" panose="020B0600000101010101" pitchFamily="50" charset="-127"/>
              </a:rPr>
              <a:t>Multimodal Superfluidity of Neutrons</a:t>
            </a:r>
            <a:endParaRPr lang="en-US" altLang="ko-KR" sz="2400" dirty="0">
              <a:solidFill>
                <a:srgbClr val="292934"/>
              </a:solidFill>
              <a:latin typeface="Arial"/>
              <a:ea typeface="돋움" panose="020B0600000101010101" pitchFamily="50" charset="-127"/>
            </a:endParaRPr>
          </a:p>
          <a:p>
            <a:pPr marL="457200" lvl="0" indent="-457200" latinLnBrk="0">
              <a:spcBef>
                <a:spcPct val="20000"/>
              </a:spcBef>
              <a:buClr>
                <a:srgbClr val="93A299"/>
              </a:buClr>
              <a:buSzPct val="85000"/>
              <a:buFont typeface="+mj-lt"/>
              <a:buAutoNum type="arabicPeriod"/>
            </a:pPr>
            <a:r>
              <a:rPr lang="en-US" altLang="ko-KR" sz="2400" dirty="0">
                <a:solidFill>
                  <a:srgbClr val="292934"/>
                </a:solidFill>
                <a:latin typeface="Arial"/>
                <a:ea typeface="돋움" panose="020B0600000101010101" pitchFamily="50" charset="-127"/>
              </a:rPr>
              <a:t>No core shell model analysis</a:t>
            </a:r>
          </a:p>
          <a:p>
            <a:pPr marL="914400" lvl="1" indent="-457200" latinLnBrk="0">
              <a:spcBef>
                <a:spcPct val="20000"/>
              </a:spcBef>
              <a:buClr>
                <a:srgbClr val="93A299"/>
              </a:buClr>
              <a:buSzPct val="85000"/>
              <a:buFont typeface="Arial" panose="020B0604020202020204" pitchFamily="34" charset="0"/>
              <a:buChar char="•"/>
            </a:pPr>
            <a:r>
              <a:rPr lang="en-US" altLang="ko-KR" sz="2400" dirty="0">
                <a:solidFill>
                  <a:srgbClr val="292934"/>
                </a:solidFill>
                <a:ea typeface="돋움" panose="020B0600000101010101" pitchFamily="50" charset="-127"/>
              </a:rPr>
              <a:t>Daejeon16 </a:t>
            </a:r>
            <a:r>
              <a:rPr lang="en-US" altLang="ko-KR" sz="2400" dirty="0">
                <a:solidFill>
                  <a:srgbClr val="292934"/>
                </a:solidFill>
                <a:latin typeface="Arial"/>
                <a:ea typeface="돋움" panose="020B0600000101010101" pitchFamily="50" charset="-127"/>
              </a:rPr>
              <a:t>interaction</a:t>
            </a:r>
          </a:p>
          <a:p>
            <a:pPr marL="914400" lvl="1" indent="-457200" latinLnBrk="0">
              <a:spcBef>
                <a:spcPct val="20000"/>
              </a:spcBef>
              <a:buClr>
                <a:srgbClr val="93A299"/>
              </a:buClr>
              <a:buSzPct val="85000"/>
              <a:buFont typeface="Arial" panose="020B0604020202020204" pitchFamily="34" charset="0"/>
              <a:buChar char="•"/>
            </a:pPr>
            <a:r>
              <a:rPr lang="en-US" altLang="ko-KR" sz="2400" dirty="0">
                <a:solidFill>
                  <a:srgbClr val="292934"/>
                </a:solidFill>
                <a:latin typeface="Arial"/>
                <a:ea typeface="돋움" panose="020B0600000101010101" pitchFamily="50" charset="-127"/>
              </a:rPr>
              <a:t>Partial wave contributions in 3-point energy difference</a:t>
            </a:r>
          </a:p>
          <a:p>
            <a:pPr marL="914400" lvl="1" indent="-457200" latinLnBrk="0">
              <a:spcBef>
                <a:spcPct val="20000"/>
              </a:spcBef>
              <a:buClr>
                <a:srgbClr val="93A299"/>
              </a:buClr>
              <a:buSzPct val="85000"/>
              <a:buFont typeface="Arial" panose="020B0604020202020204" pitchFamily="34" charset="0"/>
              <a:buChar char="•"/>
            </a:pPr>
            <a:r>
              <a:rPr lang="en-US" altLang="ko-KR" sz="2400" dirty="0">
                <a:solidFill>
                  <a:srgbClr val="292934"/>
                </a:solidFill>
                <a:latin typeface="Arial"/>
                <a:ea typeface="돋움" panose="020B0600000101010101" pitchFamily="50" charset="-127"/>
              </a:rPr>
              <a:t>Attractive rank</a:t>
            </a:r>
          </a:p>
          <a:p>
            <a:pPr marL="914400" lvl="1" indent="-457200" latinLnBrk="0">
              <a:spcBef>
                <a:spcPct val="20000"/>
              </a:spcBef>
              <a:buClr>
                <a:srgbClr val="93A299"/>
              </a:buClr>
              <a:buSzPct val="85000"/>
              <a:buFont typeface="Arial" panose="020B0604020202020204" pitchFamily="34" charset="0"/>
              <a:buChar char="•"/>
            </a:pPr>
            <a:r>
              <a:rPr lang="en-US" altLang="ko-KR" sz="2400" dirty="0">
                <a:solidFill>
                  <a:srgbClr val="292934"/>
                </a:solidFill>
                <a:latin typeface="Arial"/>
                <a:ea typeface="돋움" panose="020B0600000101010101" pitchFamily="50" charset="-127"/>
              </a:rPr>
              <a:t>Four-body cumulants</a:t>
            </a:r>
          </a:p>
          <a:p>
            <a:pPr marL="457200" lvl="0" indent="-457200" latinLnBrk="0">
              <a:spcBef>
                <a:spcPct val="20000"/>
              </a:spcBef>
              <a:buClr>
                <a:srgbClr val="93A299"/>
              </a:buClr>
              <a:buSzPct val="85000"/>
              <a:buFont typeface="+mj-lt"/>
              <a:buAutoNum type="arabicPeriod"/>
            </a:pPr>
            <a:r>
              <a:rPr lang="en-US" altLang="ko-KR" sz="2400" dirty="0">
                <a:solidFill>
                  <a:srgbClr val="292934"/>
                </a:solidFill>
                <a:latin typeface="Arial"/>
                <a:ea typeface="돋움" panose="020B0600000101010101" pitchFamily="50" charset="-127"/>
              </a:rPr>
              <a:t>Summary</a:t>
            </a:r>
          </a:p>
        </p:txBody>
      </p:sp>
      <p:sp>
        <p:nvSpPr>
          <p:cNvPr id="2" name="TextBox 1">
            <a:extLst>
              <a:ext uri="{FF2B5EF4-FFF2-40B4-BE49-F238E27FC236}">
                <a16:creationId xmlns:a16="http://schemas.microsoft.com/office/drawing/2014/main" id="{CDECA3AF-4EA9-4CA9-88B6-B95D8009A3D1}"/>
              </a:ext>
            </a:extLst>
          </p:cNvPr>
          <p:cNvSpPr txBox="1"/>
          <p:nvPr/>
        </p:nvSpPr>
        <p:spPr>
          <a:xfrm>
            <a:off x="923571" y="5382364"/>
            <a:ext cx="9369005" cy="1200329"/>
          </a:xfrm>
          <a:prstGeom prst="rect">
            <a:avLst/>
          </a:prstGeom>
          <a:noFill/>
        </p:spPr>
        <p:txBody>
          <a:bodyPr wrap="square" rtlCol="0">
            <a:spAutoFit/>
          </a:bodyPr>
          <a:lstStyle/>
          <a:p>
            <a:r>
              <a:rPr lang="en-US" altLang="ko-KR" u="sng" dirty="0">
                <a:hlinkClick r:id="rId4"/>
              </a:rPr>
              <a:t>Based</a:t>
            </a:r>
            <a:r>
              <a:rPr lang="ko-KR" altLang="en-US" u="sng" dirty="0">
                <a:hlinkClick r:id="rId4"/>
              </a:rPr>
              <a:t> </a:t>
            </a:r>
            <a:r>
              <a:rPr lang="en-US" altLang="ko-KR" u="sng" dirty="0">
                <a:hlinkClick r:id="rId4"/>
              </a:rPr>
              <a:t>on</a:t>
            </a:r>
            <a:r>
              <a:rPr lang="ko-KR" altLang="en-US" u="sng" dirty="0">
                <a:hlinkClick r:id="rId4"/>
              </a:rPr>
              <a:t> </a:t>
            </a:r>
            <a:endParaRPr lang="en-US" altLang="ko-KR" u="sng" dirty="0">
              <a:hlinkClick r:id="rId4"/>
            </a:endParaRPr>
          </a:p>
          <a:p>
            <a:r>
              <a:rPr lang="it-IT" altLang="ko-KR" u="sng" dirty="0">
                <a:hlinkClick r:id="rId4"/>
              </a:rPr>
              <a:t>Young-Ho Song</a:t>
            </a:r>
            <a:r>
              <a:rPr lang="it-IT" altLang="ko-KR" dirty="0"/>
              <a:t>, </a:t>
            </a:r>
            <a:r>
              <a:rPr lang="it-IT" altLang="ko-KR" dirty="0">
                <a:hlinkClick r:id="rId5"/>
              </a:rPr>
              <a:t>Yuan-Zhuo Ma</a:t>
            </a:r>
            <a:r>
              <a:rPr lang="it-IT" altLang="ko-KR" dirty="0"/>
              <a:t>, </a:t>
            </a:r>
            <a:r>
              <a:rPr lang="it-IT" altLang="ko-KR" dirty="0">
                <a:hlinkClick r:id="rId6"/>
              </a:rPr>
              <a:t>Dean Lee</a:t>
            </a:r>
            <a:endParaRPr lang="it-IT" altLang="ko-KR" dirty="0"/>
          </a:p>
          <a:p>
            <a:r>
              <a:rPr lang="en-US" altLang="ko-KR" dirty="0">
                <a:hlinkClick r:id="rId7"/>
              </a:rPr>
              <a:t> ‘Evidence for Quartet Binding of Valence Neutrons in 8He’ </a:t>
            </a:r>
          </a:p>
          <a:p>
            <a:r>
              <a:rPr lang="en-US" altLang="ko-KR" dirty="0">
                <a:hlinkClick r:id="rId7"/>
              </a:rPr>
              <a:t> arXiv:2608.25883</a:t>
            </a:r>
            <a:endParaRPr lang="en-US" dirty="0"/>
          </a:p>
        </p:txBody>
      </p:sp>
    </p:spTree>
    <p:extLst>
      <p:ext uri="{BB962C8B-B14F-4D97-AF65-F5344CB8AC3E}">
        <p14:creationId xmlns:p14="http://schemas.microsoft.com/office/powerpoint/2010/main" val="21563567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Introduction</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2" name="TextBox 1">
            <a:extLst>
              <a:ext uri="{FF2B5EF4-FFF2-40B4-BE49-F238E27FC236}">
                <a16:creationId xmlns:a16="http://schemas.microsoft.com/office/drawing/2014/main" id="{182AF362-81DF-40EB-A4FC-0086649AD28B}"/>
              </a:ext>
            </a:extLst>
          </p:cNvPr>
          <p:cNvSpPr txBox="1"/>
          <p:nvPr/>
        </p:nvSpPr>
        <p:spPr>
          <a:xfrm>
            <a:off x="923571" y="1382751"/>
            <a:ext cx="9982322" cy="923330"/>
          </a:xfrm>
          <a:prstGeom prst="rect">
            <a:avLst/>
          </a:prstGeom>
          <a:noFill/>
        </p:spPr>
        <p:txBody>
          <a:bodyPr wrap="square" rtlCol="0">
            <a:spAutoFit/>
          </a:bodyPr>
          <a:lstStyle/>
          <a:p>
            <a:pPr marL="285750" indent="-285750">
              <a:buFont typeface="Arial" panose="020B0604020202020204" pitchFamily="34" charset="0"/>
              <a:buChar char="•"/>
            </a:pPr>
            <a:r>
              <a:rPr lang="en-US" dirty="0"/>
              <a:t>8He</a:t>
            </a:r>
            <a:r>
              <a:rPr lang="ko-KR" altLang="en-US" dirty="0"/>
              <a:t> </a:t>
            </a:r>
            <a:endParaRPr lang="en-US" altLang="ko-KR" dirty="0"/>
          </a:p>
          <a:p>
            <a:pPr marL="742950" lvl="1" indent="-285750">
              <a:buFont typeface="Arial" panose="020B0604020202020204" pitchFamily="34" charset="0"/>
              <a:buChar char="•"/>
            </a:pPr>
            <a:r>
              <a:rPr lang="en-US" dirty="0"/>
              <a:t>Only neutron rich light nuclei which shows binding of neutron pairs increase </a:t>
            </a:r>
          </a:p>
          <a:p>
            <a:pPr lvl="1"/>
            <a:r>
              <a:rPr lang="en-US" dirty="0"/>
              <a:t>	with additional neutron pairs</a:t>
            </a:r>
          </a:p>
        </p:txBody>
      </p:sp>
      <p:sp>
        <p:nvSpPr>
          <p:cNvPr id="3" name="TextBox 2">
            <a:extLst>
              <a:ext uri="{FF2B5EF4-FFF2-40B4-BE49-F238E27FC236}">
                <a16:creationId xmlns:a16="http://schemas.microsoft.com/office/drawing/2014/main" id="{A1CF7D96-0415-47BE-B2FF-3CFBBA54AA56}"/>
              </a:ext>
            </a:extLst>
          </p:cNvPr>
          <p:cNvSpPr txBox="1"/>
          <p:nvPr/>
        </p:nvSpPr>
        <p:spPr>
          <a:xfrm>
            <a:off x="6969512" y="2575932"/>
            <a:ext cx="4449337" cy="1477328"/>
          </a:xfrm>
          <a:prstGeom prst="rect">
            <a:avLst/>
          </a:prstGeom>
          <a:noFill/>
        </p:spPr>
        <p:txBody>
          <a:bodyPr wrap="square" rtlCol="0">
            <a:spAutoFit/>
          </a:bodyPr>
          <a:lstStyle/>
          <a:p>
            <a:pPr marL="285750" indent="-285750">
              <a:buFont typeface="Arial" panose="020B0604020202020204" pitchFamily="34" charset="0"/>
              <a:buChar char="•"/>
            </a:pPr>
            <a:r>
              <a:rPr lang="en-US" dirty="0"/>
              <a:t>Simplest explanation :</a:t>
            </a:r>
          </a:p>
          <a:p>
            <a:r>
              <a:rPr lang="en-US" dirty="0"/>
              <a:t>    Shell closure at (0p3/2) orbit </a:t>
            </a:r>
          </a:p>
          <a:p>
            <a:endParaRPr lang="en-US" dirty="0"/>
          </a:p>
          <a:p>
            <a:pPr marL="285750" indent="-285750">
              <a:buFont typeface="Arial" panose="020B0604020202020204" pitchFamily="34" charset="0"/>
              <a:buChar char="•"/>
            </a:pPr>
            <a:r>
              <a:rPr lang="en-US" dirty="0"/>
              <a:t>But, there may be something more.</a:t>
            </a:r>
          </a:p>
          <a:p>
            <a:r>
              <a:rPr lang="en-US" dirty="0"/>
              <a:t>    </a:t>
            </a:r>
            <a:r>
              <a:rPr lang="en-US" dirty="0">
                <a:sym typeface="Wingdings" panose="05000000000000000000" pitchFamily="2" charset="2"/>
              </a:rPr>
              <a:t> pairing structure of neutrons </a:t>
            </a:r>
            <a:endParaRPr lang="en-US" dirty="0"/>
          </a:p>
        </p:txBody>
      </p:sp>
      <p:pic>
        <p:nvPicPr>
          <p:cNvPr id="1026" name="Picture 2" descr="Two-neutron separation energies versus even neutron number">
            <a:extLst>
              <a:ext uri="{FF2B5EF4-FFF2-40B4-BE49-F238E27FC236}">
                <a16:creationId xmlns:a16="http://schemas.microsoft.com/office/drawing/2014/main" id="{995ED7A3-6E95-4583-9B27-9C8345D605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369" y="2575932"/>
            <a:ext cx="6561019" cy="36910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3400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Multimodal superfluidity</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5" name="TextBox 4">
            <a:extLst>
              <a:ext uri="{FF2B5EF4-FFF2-40B4-BE49-F238E27FC236}">
                <a16:creationId xmlns:a16="http://schemas.microsoft.com/office/drawing/2014/main" id="{9479784C-3E55-486E-857B-03A18D0AB245}"/>
              </a:ext>
            </a:extLst>
          </p:cNvPr>
          <p:cNvSpPr txBox="1"/>
          <p:nvPr/>
        </p:nvSpPr>
        <p:spPr>
          <a:xfrm>
            <a:off x="923571" y="1516566"/>
            <a:ext cx="9580878" cy="3970318"/>
          </a:xfrm>
          <a:prstGeom prst="rect">
            <a:avLst/>
          </a:prstGeom>
          <a:noFill/>
        </p:spPr>
        <p:txBody>
          <a:bodyPr wrap="square" rtlCol="0">
            <a:spAutoFit/>
          </a:bodyPr>
          <a:lstStyle/>
          <a:p>
            <a:pPr marL="285750" indent="-285750">
              <a:buFont typeface="Arial" panose="020B0604020202020204" pitchFamily="34" charset="0"/>
              <a:buChar char="•"/>
            </a:pPr>
            <a:r>
              <a:rPr lang="en-US" dirty="0"/>
              <a:t>Conventional picture</a:t>
            </a:r>
          </a:p>
          <a:p>
            <a:pPr marL="742950" lvl="1" indent="-285750">
              <a:buFont typeface="Arial" panose="020B0604020202020204" pitchFamily="34" charset="0"/>
              <a:buChar char="•"/>
            </a:pPr>
            <a:r>
              <a:rPr lang="en-US" dirty="0"/>
              <a:t> Nuclear binding exhibits strong neutron-pairing correlations</a:t>
            </a:r>
          </a:p>
          <a:p>
            <a:pPr marL="742950" lvl="1" indent="-285750">
              <a:buFont typeface="Arial" panose="020B0604020202020204" pitchFamily="34" charset="0"/>
              <a:buChar char="•"/>
            </a:pPr>
            <a:r>
              <a:rPr lang="en-US" dirty="0"/>
              <a:t> Neutron superfluidity is often described by one dominant pairing mode</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Multimodal neutron superfluidity</a:t>
            </a:r>
          </a:p>
          <a:p>
            <a:pPr marL="742950" lvl="1" indent="-285750">
              <a:buFont typeface="Arial" panose="020B0604020202020204" pitchFamily="34" charset="0"/>
              <a:buChar char="•"/>
            </a:pPr>
            <a:r>
              <a:rPr lang="en-US" dirty="0"/>
              <a:t>spin-singlet s-wave pairs</a:t>
            </a:r>
          </a:p>
          <a:p>
            <a:pPr marL="742950" lvl="1" indent="-285750">
              <a:buFont typeface="Arial" panose="020B0604020202020204" pitchFamily="34" charset="0"/>
              <a:buChar char="•"/>
            </a:pPr>
            <a:r>
              <a:rPr lang="en-US" dirty="0"/>
              <a:t>p-wave pairs </a:t>
            </a:r>
          </a:p>
          <a:p>
            <a:pPr marL="742950" lvl="1" indent="-285750">
              <a:buFont typeface="Arial" panose="020B0604020202020204" pitchFamily="34" charset="0"/>
              <a:buChar char="•"/>
            </a:pPr>
            <a:r>
              <a:rPr lang="en-US" dirty="0"/>
              <a:t>Quartets formed as bound states of two s-wave pairs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Motivating question</a:t>
            </a:r>
          </a:p>
          <a:p>
            <a:pPr marL="742950" lvl="1" indent="-285750">
              <a:buFont typeface="Arial" panose="020B0604020202020204" pitchFamily="34" charset="0"/>
              <a:buChar char="•"/>
            </a:pPr>
            <a:r>
              <a:rPr lang="en-US" dirty="0"/>
              <a:t>Could the four valence neutrons of ⁸He realize a finite-system analogue?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Y.-Z. Ma et al., arXiv:2602.17611 (2026), “Evidence for Multimodal Superfluidity of Neutrons”, </a:t>
            </a:r>
          </a:p>
        </p:txBody>
      </p:sp>
    </p:spTree>
    <p:extLst>
      <p:ext uri="{BB962C8B-B14F-4D97-AF65-F5344CB8AC3E}">
        <p14:creationId xmlns:p14="http://schemas.microsoft.com/office/powerpoint/2010/main" val="130328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Multimodal superfluidity of neutrons</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2" name="그림 1">
            <a:extLst>
              <a:ext uri="{FF2B5EF4-FFF2-40B4-BE49-F238E27FC236}">
                <a16:creationId xmlns:a16="http://schemas.microsoft.com/office/drawing/2014/main" id="{DFE6486B-9B7F-4251-8824-02C70EEE2688}"/>
              </a:ext>
            </a:extLst>
          </p:cNvPr>
          <p:cNvPicPr>
            <a:picLocks noChangeAspect="1"/>
          </p:cNvPicPr>
          <p:nvPr/>
        </p:nvPicPr>
        <p:blipFill>
          <a:blip r:embed="rId4"/>
          <a:stretch>
            <a:fillRect/>
          </a:stretch>
        </p:blipFill>
        <p:spPr>
          <a:xfrm>
            <a:off x="475347" y="1220145"/>
            <a:ext cx="10178744" cy="4653532"/>
          </a:xfrm>
          <a:prstGeom prst="rect">
            <a:avLst/>
          </a:prstGeom>
        </p:spPr>
      </p:pic>
      <p:sp>
        <p:nvSpPr>
          <p:cNvPr id="3" name="직사각형 2">
            <a:extLst>
              <a:ext uri="{FF2B5EF4-FFF2-40B4-BE49-F238E27FC236}">
                <a16:creationId xmlns:a16="http://schemas.microsoft.com/office/drawing/2014/main" id="{5D138EAB-C876-4DD5-8F52-2A019122D020}"/>
              </a:ext>
            </a:extLst>
          </p:cNvPr>
          <p:cNvSpPr/>
          <p:nvPr/>
        </p:nvSpPr>
        <p:spPr>
          <a:xfrm>
            <a:off x="1698701" y="5999879"/>
            <a:ext cx="7913649" cy="646331"/>
          </a:xfrm>
          <a:prstGeom prst="rect">
            <a:avLst/>
          </a:prstGeom>
        </p:spPr>
        <p:txBody>
          <a:bodyPr wrap="square">
            <a:spAutoFit/>
          </a:bodyPr>
          <a:lstStyle/>
          <a:p>
            <a:pPr marL="285750" indent="-285750">
              <a:buFont typeface="Arial" panose="020B0604020202020204" pitchFamily="34" charset="0"/>
              <a:buChar char="•"/>
            </a:pPr>
            <a:r>
              <a:rPr lang="en-US" altLang="ko-KR" dirty="0"/>
              <a:t>Yuan-</a:t>
            </a:r>
            <a:r>
              <a:rPr lang="en-US" altLang="ko-KR" dirty="0" err="1"/>
              <a:t>Zhuo</a:t>
            </a:r>
            <a:r>
              <a:rPr lang="en-US" altLang="ko-KR" dirty="0"/>
              <a:t> Ma et al, “Evidence for Multimodal Superfluidity of Neutrons”, </a:t>
            </a:r>
          </a:p>
          <a:p>
            <a:r>
              <a:rPr lang="en-US" altLang="ko-KR" dirty="0"/>
              <a:t>    arXiv:2602.17611</a:t>
            </a:r>
          </a:p>
        </p:txBody>
      </p:sp>
    </p:spTree>
    <p:extLst>
      <p:ext uri="{BB962C8B-B14F-4D97-AF65-F5344CB8AC3E}">
        <p14:creationId xmlns:p14="http://schemas.microsoft.com/office/powerpoint/2010/main" val="846352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Multimodal superfluidity of neutrons</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3" name="직사각형 2">
            <a:extLst>
              <a:ext uri="{FF2B5EF4-FFF2-40B4-BE49-F238E27FC236}">
                <a16:creationId xmlns:a16="http://schemas.microsoft.com/office/drawing/2014/main" id="{5D138EAB-C876-4DD5-8F52-2A019122D020}"/>
              </a:ext>
            </a:extLst>
          </p:cNvPr>
          <p:cNvSpPr/>
          <p:nvPr/>
        </p:nvSpPr>
        <p:spPr>
          <a:xfrm>
            <a:off x="1698701" y="5999879"/>
            <a:ext cx="7913649" cy="646331"/>
          </a:xfrm>
          <a:prstGeom prst="rect">
            <a:avLst/>
          </a:prstGeom>
        </p:spPr>
        <p:txBody>
          <a:bodyPr wrap="square">
            <a:spAutoFit/>
          </a:bodyPr>
          <a:lstStyle/>
          <a:p>
            <a:pPr marL="285750" indent="-285750">
              <a:buFont typeface="Arial" panose="020B0604020202020204" pitchFamily="34" charset="0"/>
              <a:buChar char="•"/>
            </a:pPr>
            <a:r>
              <a:rPr lang="en-US" altLang="ko-KR" dirty="0"/>
              <a:t>Yuan-</a:t>
            </a:r>
            <a:r>
              <a:rPr lang="en-US" altLang="ko-KR" dirty="0" err="1"/>
              <a:t>Zhuo</a:t>
            </a:r>
            <a:r>
              <a:rPr lang="en-US" altLang="ko-KR" dirty="0"/>
              <a:t> Ma et al, “Evidence for Multimodal Superfluidity of Neutrons”, </a:t>
            </a:r>
          </a:p>
          <a:p>
            <a:r>
              <a:rPr lang="en-US" altLang="ko-KR" dirty="0"/>
              <a:t>    arXiv:2602.17611</a:t>
            </a:r>
          </a:p>
        </p:txBody>
      </p:sp>
      <p:sp>
        <p:nvSpPr>
          <p:cNvPr id="4" name="TextBox 3">
            <a:extLst>
              <a:ext uri="{FF2B5EF4-FFF2-40B4-BE49-F238E27FC236}">
                <a16:creationId xmlns:a16="http://schemas.microsoft.com/office/drawing/2014/main" id="{8AB45F22-4DC7-48B0-928D-00F797F23E9D}"/>
              </a:ext>
            </a:extLst>
          </p:cNvPr>
          <p:cNvSpPr txBox="1"/>
          <p:nvPr/>
        </p:nvSpPr>
        <p:spPr>
          <a:xfrm>
            <a:off x="923571" y="1449659"/>
            <a:ext cx="7752078" cy="369332"/>
          </a:xfrm>
          <a:prstGeom prst="rect">
            <a:avLst/>
          </a:prstGeom>
          <a:noFill/>
        </p:spPr>
        <p:txBody>
          <a:bodyPr wrap="square" rtlCol="0">
            <a:spAutoFit/>
          </a:bodyPr>
          <a:lstStyle/>
          <a:p>
            <a:pPr marL="285750" indent="-285750">
              <a:buFont typeface="Arial" panose="020B0604020202020204" pitchFamily="34" charset="0"/>
              <a:buChar char="•"/>
            </a:pPr>
            <a:r>
              <a:rPr lang="en-US" dirty="0"/>
              <a:t>generalized attractive extended (GAE) Hubbard model in 3D lattice</a:t>
            </a:r>
          </a:p>
        </p:txBody>
      </p:sp>
      <p:pic>
        <p:nvPicPr>
          <p:cNvPr id="6" name="그림 5">
            <a:extLst>
              <a:ext uri="{FF2B5EF4-FFF2-40B4-BE49-F238E27FC236}">
                <a16:creationId xmlns:a16="http://schemas.microsoft.com/office/drawing/2014/main" id="{4CFD9891-F79E-418C-97D2-C651C2A7642F}"/>
              </a:ext>
            </a:extLst>
          </p:cNvPr>
          <p:cNvPicPr>
            <a:picLocks noChangeAspect="1"/>
          </p:cNvPicPr>
          <p:nvPr/>
        </p:nvPicPr>
        <p:blipFill>
          <a:blip r:embed="rId4"/>
          <a:stretch>
            <a:fillRect/>
          </a:stretch>
        </p:blipFill>
        <p:spPr>
          <a:xfrm>
            <a:off x="839619" y="1910455"/>
            <a:ext cx="10303727" cy="3559218"/>
          </a:xfrm>
          <a:prstGeom prst="rect">
            <a:avLst/>
          </a:prstGeom>
        </p:spPr>
      </p:pic>
    </p:spTree>
    <p:extLst>
      <p:ext uri="{BB962C8B-B14F-4D97-AF65-F5344CB8AC3E}">
        <p14:creationId xmlns:p14="http://schemas.microsoft.com/office/powerpoint/2010/main" val="3984252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Multimodal superfluidity of neutrons</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3" name="직사각형 2">
            <a:extLst>
              <a:ext uri="{FF2B5EF4-FFF2-40B4-BE49-F238E27FC236}">
                <a16:creationId xmlns:a16="http://schemas.microsoft.com/office/drawing/2014/main" id="{5D138EAB-C876-4DD5-8F52-2A019122D020}"/>
              </a:ext>
            </a:extLst>
          </p:cNvPr>
          <p:cNvSpPr/>
          <p:nvPr/>
        </p:nvSpPr>
        <p:spPr>
          <a:xfrm>
            <a:off x="1698701" y="5999879"/>
            <a:ext cx="7913649" cy="646331"/>
          </a:xfrm>
          <a:prstGeom prst="rect">
            <a:avLst/>
          </a:prstGeom>
        </p:spPr>
        <p:txBody>
          <a:bodyPr wrap="square">
            <a:spAutoFit/>
          </a:bodyPr>
          <a:lstStyle/>
          <a:p>
            <a:pPr marL="285750" indent="-285750">
              <a:buFont typeface="Arial" panose="020B0604020202020204" pitchFamily="34" charset="0"/>
              <a:buChar char="•"/>
            </a:pPr>
            <a:r>
              <a:rPr lang="en-US" altLang="ko-KR" dirty="0"/>
              <a:t>Yuan-</a:t>
            </a:r>
            <a:r>
              <a:rPr lang="en-US" altLang="ko-KR" dirty="0" err="1"/>
              <a:t>Zhuo</a:t>
            </a:r>
            <a:r>
              <a:rPr lang="en-US" altLang="ko-KR" dirty="0"/>
              <a:t> Ma et al, “Evidence for Multimodal Superfluidity of Neutrons”, </a:t>
            </a:r>
          </a:p>
          <a:p>
            <a:r>
              <a:rPr lang="en-US" altLang="ko-KR" dirty="0"/>
              <a:t>    arXiv:2602.17611</a:t>
            </a:r>
          </a:p>
        </p:txBody>
      </p:sp>
      <p:sp>
        <p:nvSpPr>
          <p:cNvPr id="4" name="TextBox 3">
            <a:extLst>
              <a:ext uri="{FF2B5EF4-FFF2-40B4-BE49-F238E27FC236}">
                <a16:creationId xmlns:a16="http://schemas.microsoft.com/office/drawing/2014/main" id="{8AB45F22-4DC7-48B0-928D-00F797F23E9D}"/>
              </a:ext>
            </a:extLst>
          </p:cNvPr>
          <p:cNvSpPr txBox="1"/>
          <p:nvPr/>
        </p:nvSpPr>
        <p:spPr>
          <a:xfrm>
            <a:off x="923571" y="1382752"/>
            <a:ext cx="7752078" cy="369332"/>
          </a:xfrm>
          <a:prstGeom prst="rect">
            <a:avLst/>
          </a:prstGeom>
          <a:noFill/>
        </p:spPr>
        <p:txBody>
          <a:bodyPr wrap="square" rtlCol="0">
            <a:spAutoFit/>
          </a:bodyPr>
          <a:lstStyle/>
          <a:p>
            <a:pPr marL="285750" indent="-285750">
              <a:buFont typeface="Arial" panose="020B0604020202020204" pitchFamily="34" charset="0"/>
              <a:buChar char="•"/>
            </a:pPr>
            <a:r>
              <a:rPr lang="en-US" dirty="0"/>
              <a:t>Realistic ab initio NLEFT interaction in 3D lattice </a:t>
            </a:r>
          </a:p>
        </p:txBody>
      </p:sp>
      <p:pic>
        <p:nvPicPr>
          <p:cNvPr id="5" name="그림 4">
            <a:extLst>
              <a:ext uri="{FF2B5EF4-FFF2-40B4-BE49-F238E27FC236}">
                <a16:creationId xmlns:a16="http://schemas.microsoft.com/office/drawing/2014/main" id="{30175EDD-9376-433D-BABA-8DB3B9A27F29}"/>
              </a:ext>
            </a:extLst>
          </p:cNvPr>
          <p:cNvPicPr>
            <a:picLocks noChangeAspect="1"/>
          </p:cNvPicPr>
          <p:nvPr/>
        </p:nvPicPr>
        <p:blipFill>
          <a:blip r:embed="rId4"/>
          <a:stretch>
            <a:fillRect/>
          </a:stretch>
        </p:blipFill>
        <p:spPr>
          <a:xfrm>
            <a:off x="1345141" y="1935474"/>
            <a:ext cx="8367571" cy="3852615"/>
          </a:xfrm>
          <a:prstGeom prst="rect">
            <a:avLst/>
          </a:prstGeom>
        </p:spPr>
      </p:pic>
    </p:spTree>
    <p:extLst>
      <p:ext uri="{BB962C8B-B14F-4D97-AF65-F5344CB8AC3E}">
        <p14:creationId xmlns:p14="http://schemas.microsoft.com/office/powerpoint/2010/main" val="12287867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Scope and method</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2" name="TextBox 1">
            <a:extLst>
              <a:ext uri="{FF2B5EF4-FFF2-40B4-BE49-F238E27FC236}">
                <a16:creationId xmlns:a16="http://schemas.microsoft.com/office/drawing/2014/main" id="{992CB96F-C73F-46FE-8C59-DD155F3759BA}"/>
              </a:ext>
            </a:extLst>
          </p:cNvPr>
          <p:cNvSpPr txBox="1"/>
          <p:nvPr/>
        </p:nvSpPr>
        <p:spPr>
          <a:xfrm>
            <a:off x="390293" y="1003482"/>
            <a:ext cx="10682868" cy="5078313"/>
          </a:xfrm>
          <a:prstGeom prst="rect">
            <a:avLst/>
          </a:prstGeom>
          <a:noFill/>
        </p:spPr>
        <p:txBody>
          <a:bodyPr wrap="square" rtlCol="0">
            <a:spAutoFit/>
          </a:bodyPr>
          <a:lstStyle/>
          <a:p>
            <a:pPr marL="285750" indent="-285750">
              <a:buFont typeface="Arial" panose="020B0604020202020204" pitchFamily="34" charset="0"/>
              <a:buChar char="•"/>
            </a:pPr>
            <a:r>
              <a:rPr lang="en-US" altLang="ko-KR" dirty="0"/>
              <a:t>Scientific question</a:t>
            </a:r>
          </a:p>
          <a:p>
            <a:pPr marL="742950" lvl="1" indent="-285750">
              <a:buFont typeface="Arial" panose="020B0604020202020204" pitchFamily="34" charset="0"/>
              <a:buChar char="•"/>
            </a:pPr>
            <a:r>
              <a:rPr lang="en-US" altLang="ko-KR" dirty="0"/>
              <a:t>Do the four valence neutrons in ⁸He exhibit a finite-system analogue of quartet binding?</a:t>
            </a:r>
          </a:p>
          <a:p>
            <a:endParaRPr lang="en-US" altLang="ko-KR" dirty="0"/>
          </a:p>
          <a:p>
            <a:pPr marL="285750" indent="-285750">
              <a:buFont typeface="Arial" panose="020B0604020202020204" pitchFamily="34" charset="0"/>
              <a:buChar char="•"/>
            </a:pPr>
            <a:r>
              <a:rPr lang="en-US" altLang="ko-KR" dirty="0"/>
              <a:t>Method</a:t>
            </a:r>
          </a:p>
          <a:p>
            <a:pPr marL="742950" lvl="1" indent="-285750">
              <a:buFont typeface="Arial" panose="020B0604020202020204" pitchFamily="34" charset="0"/>
              <a:buChar char="•"/>
            </a:pPr>
            <a:r>
              <a:rPr lang="en-US" altLang="ko-KR" dirty="0"/>
              <a:t>Ab initio no-core shell-model calculations of ⁴He, ⁶He, and ⁸He</a:t>
            </a:r>
          </a:p>
          <a:p>
            <a:pPr marL="742950" lvl="1" indent="-285750">
              <a:buFont typeface="Arial" panose="020B0604020202020204" pitchFamily="34" charset="0"/>
              <a:buChar char="•"/>
            </a:pPr>
            <a:r>
              <a:rPr lang="en-US" altLang="ko-KR" dirty="0"/>
              <a:t>Daejeon16 nucleon–nucleon interaction plus Coulomb interaction</a:t>
            </a:r>
          </a:p>
          <a:p>
            <a:pPr marL="742950" lvl="1" indent="-285750">
              <a:buFont typeface="Arial" panose="020B0604020202020204" pitchFamily="34" charset="0"/>
              <a:buChar char="•"/>
            </a:pPr>
            <a:r>
              <a:rPr lang="en-US" altLang="ko-KR" dirty="0"/>
              <a:t>Two-body matrix elements: </a:t>
            </a:r>
            <a:r>
              <a:rPr lang="en-US" altLang="ko-KR" dirty="0" err="1"/>
              <a:t>NuHamil</a:t>
            </a:r>
            <a:r>
              <a:rPr lang="en-US" altLang="ko-KR" dirty="0"/>
              <a:t> (T. Miyagi, EPA J59, 150 (2023). )</a:t>
            </a:r>
          </a:p>
          <a:p>
            <a:pPr marL="742950" lvl="1" indent="-285750">
              <a:buFont typeface="Arial" panose="020B0604020202020204" pitchFamily="34" charset="0"/>
              <a:buChar char="•"/>
            </a:pPr>
            <a:r>
              <a:rPr lang="en-US" altLang="ko-KR" dirty="0"/>
              <a:t>Many-body diagonalization: BIGSTICK (C. W. Johnson et al, </a:t>
            </a:r>
            <a:r>
              <a:rPr lang="fr-FR" altLang="ko-KR" dirty="0"/>
              <a:t>CPC 184, 2761 (2013) )</a:t>
            </a:r>
          </a:p>
          <a:p>
            <a:pPr marL="742950" lvl="1" indent="-285750">
              <a:buFont typeface="Arial" panose="020B0604020202020204" pitchFamily="34" charset="0"/>
              <a:buChar char="•"/>
            </a:pPr>
            <a:endParaRPr lang="en-US" altLang="ko-KR" dirty="0"/>
          </a:p>
          <a:p>
            <a:pPr marL="285750" indent="-285750">
              <a:buFont typeface="Arial" panose="020B0604020202020204" pitchFamily="34" charset="0"/>
              <a:buChar char="•"/>
            </a:pPr>
            <a:r>
              <a:rPr lang="en-US" altLang="ko-KR" dirty="0"/>
              <a:t>Why this framework?</a:t>
            </a:r>
          </a:p>
          <a:p>
            <a:pPr marL="742950" lvl="1" indent="-285750">
              <a:buFont typeface="Arial" panose="020B0604020202020204" pitchFamily="34" charset="0"/>
              <a:buChar char="•"/>
            </a:pPr>
            <a:r>
              <a:rPr lang="en-US" altLang="ko-KR" dirty="0"/>
              <a:t>An independent, non-lattice test of the proposed mechanism</a:t>
            </a:r>
          </a:p>
          <a:p>
            <a:pPr marL="285750" indent="-285750">
              <a:buFont typeface="Arial" panose="020B0604020202020204" pitchFamily="34" charset="0"/>
              <a:buChar char="•"/>
            </a:pPr>
            <a:endParaRPr lang="en-US" altLang="ko-KR" dirty="0"/>
          </a:p>
          <a:p>
            <a:pPr marL="285750" indent="-285750">
              <a:buFont typeface="Arial" panose="020B0604020202020204" pitchFamily="34" charset="0"/>
              <a:buChar char="•"/>
            </a:pPr>
            <a:r>
              <a:rPr lang="en-US" altLang="ko-KR" dirty="0"/>
              <a:t>Interpretation and limitations</a:t>
            </a:r>
          </a:p>
          <a:p>
            <a:pPr marL="742950" lvl="1" indent="-285750">
              <a:buFont typeface="Arial" panose="020B0604020202020204" pitchFamily="34" charset="0"/>
              <a:buChar char="•"/>
            </a:pPr>
            <a:r>
              <a:rPr lang="en-US" altLang="ko-KR" dirty="0"/>
              <a:t>A neutron quartet is </a:t>
            </a:r>
            <a:r>
              <a:rPr lang="en-US" altLang="ko-KR" dirty="0">
                <a:solidFill>
                  <a:srgbClr val="FF0000"/>
                </a:solidFill>
              </a:rPr>
              <a:t>not a free tetraneutron</a:t>
            </a:r>
          </a:p>
          <a:p>
            <a:pPr marL="742950" lvl="1" indent="-285750">
              <a:buFont typeface="Arial" panose="020B0604020202020204" pitchFamily="34" charset="0"/>
              <a:buChar char="•"/>
            </a:pPr>
            <a:r>
              <a:rPr lang="en-US" altLang="ko-KR" dirty="0"/>
              <a:t>We study correlations and a binding mechanism—</a:t>
            </a:r>
            <a:r>
              <a:rPr lang="en-US" altLang="ko-KR" dirty="0">
                <a:solidFill>
                  <a:srgbClr val="FF0000"/>
                </a:solidFill>
              </a:rPr>
              <a:t>not a distinct bound quartet state</a:t>
            </a:r>
          </a:p>
          <a:p>
            <a:pPr marL="742950" lvl="1" indent="-285750">
              <a:buFont typeface="Arial" panose="020B0604020202020204" pitchFamily="34" charset="0"/>
              <a:buChar char="•"/>
            </a:pPr>
            <a:r>
              <a:rPr lang="en-US" altLang="ko-KR" dirty="0"/>
              <a:t>Conclusions are </a:t>
            </a:r>
            <a:r>
              <a:rPr lang="en-US" altLang="ko-KR" dirty="0">
                <a:solidFill>
                  <a:srgbClr val="FF0000"/>
                </a:solidFill>
              </a:rPr>
              <a:t>specific to the Daejeon16 </a:t>
            </a:r>
            <a:r>
              <a:rPr lang="en-US" altLang="ko-KR" dirty="0"/>
              <a:t>NCSM calculation</a:t>
            </a:r>
          </a:p>
          <a:p>
            <a:pPr marL="742950" lvl="1" indent="-285750">
              <a:buFont typeface="Arial" panose="020B0604020202020204" pitchFamily="34" charset="0"/>
              <a:buChar char="•"/>
            </a:pPr>
            <a:r>
              <a:rPr lang="en-US" altLang="ko-KR" dirty="0"/>
              <a:t>Continuum </a:t>
            </a:r>
            <a:r>
              <a:rPr lang="en-US" altLang="ko-KR" dirty="0" err="1"/>
              <a:t>asymptotics</a:t>
            </a:r>
            <a:r>
              <a:rPr lang="en-US" altLang="ko-KR" dirty="0"/>
              <a:t> are </a:t>
            </a:r>
            <a:r>
              <a:rPr lang="en-US" altLang="ko-KR" dirty="0">
                <a:solidFill>
                  <a:srgbClr val="FF0000"/>
                </a:solidFill>
              </a:rPr>
              <a:t>not</a:t>
            </a:r>
            <a:r>
              <a:rPr lang="en-US" altLang="ko-KR" dirty="0"/>
              <a:t> treated explicitly</a:t>
            </a:r>
          </a:p>
          <a:p>
            <a:endParaRPr lang="en-US" dirty="0"/>
          </a:p>
        </p:txBody>
      </p:sp>
    </p:spTree>
    <p:extLst>
      <p:ext uri="{BB962C8B-B14F-4D97-AF65-F5344CB8AC3E}">
        <p14:creationId xmlns:p14="http://schemas.microsoft.com/office/powerpoint/2010/main" val="2781389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Daejeon 16 interaction</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2" name="TextBox 1">
            <a:extLst>
              <a:ext uri="{FF2B5EF4-FFF2-40B4-BE49-F238E27FC236}">
                <a16:creationId xmlns:a16="http://schemas.microsoft.com/office/drawing/2014/main" id="{72A7BDCA-7DAA-41EC-888A-3AE94693A41F}"/>
              </a:ext>
            </a:extLst>
          </p:cNvPr>
          <p:cNvSpPr txBox="1"/>
          <p:nvPr/>
        </p:nvSpPr>
        <p:spPr>
          <a:xfrm>
            <a:off x="1081667" y="1326995"/>
            <a:ext cx="10593659" cy="2031325"/>
          </a:xfrm>
          <a:prstGeom prst="rect">
            <a:avLst/>
          </a:prstGeom>
          <a:noFill/>
        </p:spPr>
        <p:txBody>
          <a:bodyPr wrap="square" rtlCol="0">
            <a:spAutoFit/>
          </a:bodyPr>
          <a:lstStyle/>
          <a:p>
            <a:pPr marL="285750" indent="-285750">
              <a:buFont typeface="Arial" panose="020B0604020202020204" pitchFamily="34" charset="0"/>
              <a:buChar char="•"/>
            </a:pPr>
            <a:r>
              <a:rPr lang="en-US" dirty="0"/>
              <a:t>Daejeon 16 </a:t>
            </a:r>
            <a:r>
              <a:rPr lang="en-US" dirty="0">
                <a:solidFill>
                  <a:srgbClr val="0075C2"/>
                </a:solidFill>
              </a:rPr>
              <a:t>(</a:t>
            </a:r>
            <a:r>
              <a:rPr lang="fi-FI" altLang="ko-KR" dirty="0"/>
              <a:t>A. M. Shirokov et al</a:t>
            </a:r>
            <a:r>
              <a:rPr lang="en-US" altLang="ko-KR" dirty="0"/>
              <a:t>, Phys. Lett. B 761, 87 (2016)</a:t>
            </a:r>
            <a:r>
              <a:rPr lang="en-US" dirty="0">
                <a:solidFill>
                  <a:srgbClr val="0075C2"/>
                </a:solidFill>
              </a:rPr>
              <a:t>)</a:t>
            </a:r>
          </a:p>
          <a:p>
            <a:pPr marL="285750" indent="-285750">
              <a:buFont typeface="Arial" panose="020B0604020202020204" pitchFamily="34" charset="0"/>
              <a:buChar char="•"/>
            </a:pPr>
            <a:endParaRPr lang="en-US" dirty="0">
              <a:solidFill>
                <a:srgbClr val="0075C2"/>
              </a:solidFill>
            </a:endParaRPr>
          </a:p>
          <a:p>
            <a:pPr marL="742950" lvl="1" indent="-285750">
              <a:buFont typeface="Arial" panose="020B0604020202020204" pitchFamily="34" charset="0"/>
              <a:buChar char="•"/>
            </a:pPr>
            <a:r>
              <a:rPr lang="en-US" dirty="0"/>
              <a:t>Based on SRG evolved chiral N3LO interaction</a:t>
            </a:r>
          </a:p>
          <a:p>
            <a:pPr marL="742950" lvl="1" indent="-285750">
              <a:buFont typeface="Arial" panose="020B0604020202020204" pitchFamily="34" charset="0"/>
              <a:buChar char="•"/>
            </a:pPr>
            <a:r>
              <a:rPr lang="en-US" dirty="0"/>
              <a:t>Phase Equivalent transformation </a:t>
            </a:r>
          </a:p>
          <a:p>
            <a:pPr marL="742950" lvl="1" indent="-285750">
              <a:buFont typeface="Arial" panose="020B0604020202020204" pitchFamily="34" charset="0"/>
              <a:buChar char="•"/>
            </a:pPr>
            <a:r>
              <a:rPr lang="en-US" dirty="0"/>
              <a:t>Adjusted to light nuclei</a:t>
            </a:r>
          </a:p>
          <a:p>
            <a:pPr marL="742950" lvl="1" indent="-285750">
              <a:buFont typeface="Arial" panose="020B0604020202020204" pitchFamily="34" charset="0"/>
              <a:buChar char="•"/>
            </a:pPr>
            <a:r>
              <a:rPr lang="en-US" altLang="ko-KR" dirty="0"/>
              <a:t>Comparatively rapid </a:t>
            </a:r>
            <a:r>
              <a:rPr lang="en-US" altLang="ko-KR" dirty="0" err="1"/>
              <a:t>Nmax</a:t>
            </a:r>
            <a:r>
              <a:rPr lang="en-US" altLang="ko-KR" dirty="0"/>
              <a:t> convergence</a:t>
            </a:r>
          </a:p>
          <a:p>
            <a:pPr marL="742950" lvl="1" indent="-285750">
              <a:buFont typeface="Arial" panose="020B0604020202020204" pitchFamily="34" charset="0"/>
              <a:buChar char="•"/>
            </a:pPr>
            <a:r>
              <a:rPr lang="en-US" altLang="ko-KR" dirty="0"/>
              <a:t>Good description of many light-nucleus observables </a:t>
            </a:r>
            <a:r>
              <a:rPr lang="en-US" dirty="0">
                <a:solidFill>
                  <a:srgbClr val="FF0000"/>
                </a:solidFill>
              </a:rPr>
              <a:t>without explicit 3-body force</a:t>
            </a:r>
          </a:p>
        </p:txBody>
      </p:sp>
      <p:pic>
        <p:nvPicPr>
          <p:cNvPr id="2050" name="Picture 2" descr="Refer to caption">
            <a:extLst>
              <a:ext uri="{FF2B5EF4-FFF2-40B4-BE49-F238E27FC236}">
                <a16:creationId xmlns:a16="http://schemas.microsoft.com/office/drawing/2014/main" id="{8E42F35C-8F9D-4420-AFBC-12DB6C2C77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43284" y="3499681"/>
            <a:ext cx="4296700" cy="298852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A3DC924-35B0-4C66-BDCE-B2BDACCC7517}"/>
              </a:ext>
            </a:extLst>
          </p:cNvPr>
          <p:cNvSpPr txBox="1"/>
          <p:nvPr/>
        </p:nvSpPr>
        <p:spPr>
          <a:xfrm>
            <a:off x="5754029" y="6276878"/>
            <a:ext cx="3771097" cy="369332"/>
          </a:xfrm>
          <a:prstGeom prst="rect">
            <a:avLst/>
          </a:prstGeom>
          <a:noFill/>
        </p:spPr>
        <p:txBody>
          <a:bodyPr wrap="none" rtlCol="0">
            <a:spAutoFit/>
          </a:bodyPr>
          <a:lstStyle/>
          <a:p>
            <a:r>
              <a:rPr lang="en-US" dirty="0"/>
              <a:t>https://arxiv.org/html/1908.00155v1</a:t>
            </a:r>
          </a:p>
        </p:txBody>
      </p:sp>
    </p:spTree>
    <p:extLst>
      <p:ext uri="{BB962C8B-B14F-4D97-AF65-F5344CB8AC3E}">
        <p14:creationId xmlns:p14="http://schemas.microsoft.com/office/powerpoint/2010/main" val="21800857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Three point energy difference</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2" name="그림 1">
            <a:extLst>
              <a:ext uri="{FF2B5EF4-FFF2-40B4-BE49-F238E27FC236}">
                <a16:creationId xmlns:a16="http://schemas.microsoft.com/office/drawing/2014/main" id="{B3F3CE31-3559-4C0C-92BD-8B4054532527}"/>
              </a:ext>
            </a:extLst>
          </p:cNvPr>
          <p:cNvPicPr>
            <a:picLocks noChangeAspect="1"/>
          </p:cNvPicPr>
          <p:nvPr/>
        </p:nvPicPr>
        <p:blipFill>
          <a:blip r:embed="rId4"/>
          <a:stretch>
            <a:fillRect/>
          </a:stretch>
        </p:blipFill>
        <p:spPr>
          <a:xfrm>
            <a:off x="475564" y="1283662"/>
            <a:ext cx="5375547" cy="4651134"/>
          </a:xfrm>
          <a:prstGeom prst="rect">
            <a:avLst/>
          </a:prstGeom>
        </p:spPr>
      </p:pic>
      <p:sp>
        <p:nvSpPr>
          <p:cNvPr id="6" name="TextBox 5">
            <a:extLst>
              <a:ext uri="{FF2B5EF4-FFF2-40B4-BE49-F238E27FC236}">
                <a16:creationId xmlns:a16="http://schemas.microsoft.com/office/drawing/2014/main" id="{B502F4B3-4A5C-42A0-9E5E-FBA21D3BEAB4}"/>
              </a:ext>
            </a:extLst>
          </p:cNvPr>
          <p:cNvSpPr txBox="1"/>
          <p:nvPr/>
        </p:nvSpPr>
        <p:spPr>
          <a:xfrm>
            <a:off x="5999356" y="1639229"/>
            <a:ext cx="6192644" cy="2308324"/>
          </a:xfrm>
          <a:prstGeom prst="rect">
            <a:avLst/>
          </a:prstGeom>
          <a:noFill/>
        </p:spPr>
        <p:txBody>
          <a:bodyPr wrap="square" rtlCol="0">
            <a:spAutoFit/>
          </a:bodyPr>
          <a:lstStyle/>
          <a:p>
            <a:pPr marL="285750" indent="-285750">
              <a:buFont typeface="Arial" panose="020B0604020202020204" pitchFamily="34" charset="0"/>
              <a:buChar char="•"/>
            </a:pPr>
            <a:r>
              <a:rPr lang="en-US" dirty="0" err="1"/>
              <a:t>hw</a:t>
            </a:r>
            <a:r>
              <a:rPr lang="ko-KR" altLang="en-US" dirty="0"/>
              <a:t> </a:t>
            </a:r>
            <a:r>
              <a:rPr lang="en-US" altLang="ko-KR" dirty="0"/>
              <a:t>=</a:t>
            </a:r>
            <a:r>
              <a:rPr lang="ko-KR" altLang="en-US" dirty="0"/>
              <a:t> </a:t>
            </a:r>
            <a:r>
              <a:rPr lang="en-US" altLang="ko-KR" dirty="0"/>
              <a:t>15</a:t>
            </a:r>
            <a:r>
              <a:rPr lang="ko-KR" altLang="en-US" dirty="0"/>
              <a:t> </a:t>
            </a:r>
            <a:r>
              <a:rPr lang="en-US" altLang="ko-KR" dirty="0"/>
              <a:t>MeV</a:t>
            </a:r>
          </a:p>
          <a:p>
            <a:pPr marL="742950" lvl="1" indent="-285750">
              <a:buFont typeface="Arial" panose="020B0604020202020204" pitchFamily="34" charset="0"/>
              <a:buChar char="•"/>
            </a:pPr>
            <a:r>
              <a:rPr lang="en-US" dirty="0"/>
              <a:t>Rapid </a:t>
            </a:r>
            <a:r>
              <a:rPr lang="en-US" dirty="0" err="1"/>
              <a:t>Nmax</a:t>
            </a:r>
            <a:r>
              <a:rPr lang="en-US" dirty="0"/>
              <a:t> convergence to experimental values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err="1"/>
              <a:t>hw</a:t>
            </a:r>
            <a:r>
              <a:rPr lang="en-US" dirty="0"/>
              <a:t>= 25 MeV</a:t>
            </a:r>
          </a:p>
          <a:p>
            <a:pPr marL="742950" lvl="1" indent="-285750">
              <a:buFont typeface="Arial" panose="020B0604020202020204" pitchFamily="34" charset="0"/>
              <a:buChar char="•"/>
            </a:pPr>
            <a:r>
              <a:rPr lang="en-US" dirty="0"/>
              <a:t>Similar </a:t>
            </a:r>
          </a:p>
          <a:p>
            <a:pPr marL="742950" lvl="1" indent="-285750">
              <a:buFont typeface="Arial" panose="020B0604020202020204" pitchFamily="34" charset="0"/>
              <a:buChar char="•"/>
            </a:pPr>
            <a:r>
              <a:rPr lang="en-US" dirty="0"/>
              <a:t>Slower </a:t>
            </a:r>
            <a:r>
              <a:rPr lang="en-US" dirty="0" err="1"/>
              <a:t>Nmax</a:t>
            </a:r>
            <a:r>
              <a:rPr lang="en-US" dirty="0"/>
              <a:t> convergence </a:t>
            </a:r>
            <a:r>
              <a:rPr lang="en-US" dirty="0" err="1"/>
              <a:t>w.r.t.</a:t>
            </a:r>
            <a:r>
              <a:rPr lang="en-US" dirty="0"/>
              <a:t> </a:t>
            </a:r>
            <a:r>
              <a:rPr lang="en-US" dirty="0" err="1"/>
              <a:t>hw</a:t>
            </a:r>
            <a:r>
              <a:rPr lang="en-US" dirty="0"/>
              <a:t>=15 MeV</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 use </a:t>
            </a:r>
            <a:r>
              <a:rPr lang="en-US" dirty="0" err="1"/>
              <a:t>hw</a:t>
            </a:r>
            <a:r>
              <a:rPr lang="en-US" dirty="0"/>
              <a:t>=15 MeV , </a:t>
            </a:r>
            <a:r>
              <a:rPr lang="en-US" dirty="0" err="1"/>
              <a:t>Nmax</a:t>
            </a:r>
            <a:r>
              <a:rPr lang="en-US" dirty="0"/>
              <a:t>=10 as reference. </a:t>
            </a:r>
          </a:p>
        </p:txBody>
      </p:sp>
    </p:spTree>
    <p:extLst>
      <p:ext uri="{BB962C8B-B14F-4D97-AF65-F5344CB8AC3E}">
        <p14:creationId xmlns:p14="http://schemas.microsoft.com/office/powerpoint/2010/main" val="21642980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Three point energy difference</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6" name="그림 5">
            <a:extLst>
              <a:ext uri="{FF2B5EF4-FFF2-40B4-BE49-F238E27FC236}">
                <a16:creationId xmlns:a16="http://schemas.microsoft.com/office/drawing/2014/main" id="{D6228E99-5C89-45C5-A6FC-E3729D02EBC6}"/>
              </a:ext>
            </a:extLst>
          </p:cNvPr>
          <p:cNvPicPr>
            <a:picLocks noChangeAspect="1"/>
          </p:cNvPicPr>
          <p:nvPr/>
        </p:nvPicPr>
        <p:blipFill>
          <a:blip r:embed="rId4"/>
          <a:stretch>
            <a:fillRect/>
          </a:stretch>
        </p:blipFill>
        <p:spPr>
          <a:xfrm>
            <a:off x="1229895" y="3728018"/>
            <a:ext cx="9341884" cy="3012711"/>
          </a:xfrm>
          <a:prstGeom prst="rect">
            <a:avLst/>
          </a:prstGeom>
        </p:spPr>
      </p:pic>
      <p:pic>
        <p:nvPicPr>
          <p:cNvPr id="8" name="그림 7">
            <a:extLst>
              <a:ext uri="{FF2B5EF4-FFF2-40B4-BE49-F238E27FC236}">
                <a16:creationId xmlns:a16="http://schemas.microsoft.com/office/drawing/2014/main" id="{E5B33216-3226-49D7-A88E-FB18E3FC30A3}"/>
              </a:ext>
            </a:extLst>
          </p:cNvPr>
          <p:cNvPicPr>
            <a:picLocks noChangeAspect="1"/>
          </p:cNvPicPr>
          <p:nvPr/>
        </p:nvPicPr>
        <p:blipFill>
          <a:blip r:embed="rId5"/>
          <a:stretch>
            <a:fillRect/>
          </a:stretch>
        </p:blipFill>
        <p:spPr>
          <a:xfrm>
            <a:off x="923571" y="1220145"/>
            <a:ext cx="3710518" cy="456211"/>
          </a:xfrm>
          <a:prstGeom prst="rect">
            <a:avLst/>
          </a:prstGeom>
        </p:spPr>
      </p:pic>
      <p:pic>
        <p:nvPicPr>
          <p:cNvPr id="9" name="그림 8">
            <a:extLst>
              <a:ext uri="{FF2B5EF4-FFF2-40B4-BE49-F238E27FC236}">
                <a16:creationId xmlns:a16="http://schemas.microsoft.com/office/drawing/2014/main" id="{B968F4FA-578C-416B-9A8F-C0E731E7878F}"/>
              </a:ext>
            </a:extLst>
          </p:cNvPr>
          <p:cNvPicPr>
            <a:picLocks noChangeAspect="1"/>
          </p:cNvPicPr>
          <p:nvPr/>
        </p:nvPicPr>
        <p:blipFill>
          <a:blip r:embed="rId6"/>
          <a:stretch>
            <a:fillRect/>
          </a:stretch>
        </p:blipFill>
        <p:spPr>
          <a:xfrm>
            <a:off x="6665416" y="1608141"/>
            <a:ext cx="3816730" cy="491182"/>
          </a:xfrm>
          <a:prstGeom prst="rect">
            <a:avLst/>
          </a:prstGeom>
        </p:spPr>
      </p:pic>
      <p:sp>
        <p:nvSpPr>
          <p:cNvPr id="10" name="TextBox 9">
            <a:extLst>
              <a:ext uri="{FF2B5EF4-FFF2-40B4-BE49-F238E27FC236}">
                <a16:creationId xmlns:a16="http://schemas.microsoft.com/office/drawing/2014/main" id="{3AEA4F09-AA16-443E-8AA9-39E1F279FCB9}"/>
              </a:ext>
            </a:extLst>
          </p:cNvPr>
          <p:cNvSpPr txBox="1"/>
          <p:nvPr/>
        </p:nvSpPr>
        <p:spPr>
          <a:xfrm>
            <a:off x="6579056" y="1215955"/>
            <a:ext cx="3087606" cy="369332"/>
          </a:xfrm>
          <a:prstGeom prst="rect">
            <a:avLst/>
          </a:prstGeom>
          <a:noFill/>
        </p:spPr>
        <p:txBody>
          <a:bodyPr wrap="square" rtlCol="0">
            <a:spAutoFit/>
          </a:bodyPr>
          <a:lstStyle/>
          <a:p>
            <a:r>
              <a:rPr lang="en-US" dirty="0"/>
              <a:t>Second mass difference</a:t>
            </a:r>
          </a:p>
        </p:txBody>
      </p:sp>
      <p:pic>
        <p:nvPicPr>
          <p:cNvPr id="11" name="그림 10">
            <a:extLst>
              <a:ext uri="{FF2B5EF4-FFF2-40B4-BE49-F238E27FC236}">
                <a16:creationId xmlns:a16="http://schemas.microsoft.com/office/drawing/2014/main" id="{DDC673AB-15F7-49E8-8DBA-E4672D73DB83}"/>
              </a:ext>
            </a:extLst>
          </p:cNvPr>
          <p:cNvPicPr>
            <a:picLocks noChangeAspect="1"/>
          </p:cNvPicPr>
          <p:nvPr/>
        </p:nvPicPr>
        <p:blipFill>
          <a:blip r:embed="rId7"/>
          <a:stretch>
            <a:fillRect/>
          </a:stretch>
        </p:blipFill>
        <p:spPr>
          <a:xfrm>
            <a:off x="6690990" y="2099323"/>
            <a:ext cx="2631430" cy="345105"/>
          </a:xfrm>
          <a:prstGeom prst="rect">
            <a:avLst/>
          </a:prstGeom>
        </p:spPr>
      </p:pic>
      <p:sp>
        <p:nvSpPr>
          <p:cNvPr id="12" name="TextBox 11">
            <a:extLst>
              <a:ext uri="{FF2B5EF4-FFF2-40B4-BE49-F238E27FC236}">
                <a16:creationId xmlns:a16="http://schemas.microsoft.com/office/drawing/2014/main" id="{7A57FF1F-25A0-4FD5-AAEF-397B12CFEB01}"/>
              </a:ext>
            </a:extLst>
          </p:cNvPr>
          <p:cNvSpPr txBox="1"/>
          <p:nvPr/>
        </p:nvSpPr>
        <p:spPr>
          <a:xfrm>
            <a:off x="838291" y="2616130"/>
            <a:ext cx="4926376" cy="646331"/>
          </a:xfrm>
          <a:prstGeom prst="rect">
            <a:avLst/>
          </a:prstGeom>
          <a:noFill/>
        </p:spPr>
        <p:txBody>
          <a:bodyPr wrap="square" rtlCol="0">
            <a:spAutoFit/>
          </a:bodyPr>
          <a:lstStyle/>
          <a:p>
            <a:pPr marL="285750" indent="-285750">
              <a:buFont typeface="Arial" panose="020B0604020202020204" pitchFamily="34" charset="0"/>
              <a:buChar char="•"/>
            </a:pPr>
            <a:r>
              <a:rPr lang="en-US" dirty="0"/>
              <a:t>Simple independent particle model</a:t>
            </a:r>
          </a:p>
          <a:p>
            <a:r>
              <a:rPr lang="en-US" dirty="0"/>
              <a:t>    Simple additive pairing model</a:t>
            </a:r>
          </a:p>
        </p:txBody>
      </p:sp>
      <p:pic>
        <p:nvPicPr>
          <p:cNvPr id="13" name="그림 12">
            <a:extLst>
              <a:ext uri="{FF2B5EF4-FFF2-40B4-BE49-F238E27FC236}">
                <a16:creationId xmlns:a16="http://schemas.microsoft.com/office/drawing/2014/main" id="{7D284487-26AA-4896-9281-2317DE9A198E}"/>
              </a:ext>
            </a:extLst>
          </p:cNvPr>
          <p:cNvPicPr>
            <a:picLocks noChangeAspect="1"/>
          </p:cNvPicPr>
          <p:nvPr/>
        </p:nvPicPr>
        <p:blipFill>
          <a:blip r:embed="rId8"/>
          <a:stretch>
            <a:fillRect/>
          </a:stretch>
        </p:blipFill>
        <p:spPr>
          <a:xfrm>
            <a:off x="1635602" y="3271731"/>
            <a:ext cx="1143228" cy="372056"/>
          </a:xfrm>
          <a:prstGeom prst="rect">
            <a:avLst/>
          </a:prstGeom>
        </p:spPr>
      </p:pic>
      <p:sp>
        <p:nvSpPr>
          <p:cNvPr id="14" name="TextBox 13">
            <a:extLst>
              <a:ext uri="{FF2B5EF4-FFF2-40B4-BE49-F238E27FC236}">
                <a16:creationId xmlns:a16="http://schemas.microsoft.com/office/drawing/2014/main" id="{07D6D5D3-2646-4FAC-9A24-E2A5876B95D2}"/>
              </a:ext>
            </a:extLst>
          </p:cNvPr>
          <p:cNvSpPr txBox="1"/>
          <p:nvPr/>
        </p:nvSpPr>
        <p:spPr>
          <a:xfrm>
            <a:off x="6579056" y="2716406"/>
            <a:ext cx="4926376" cy="646331"/>
          </a:xfrm>
          <a:prstGeom prst="rect">
            <a:avLst/>
          </a:prstGeom>
          <a:noFill/>
        </p:spPr>
        <p:txBody>
          <a:bodyPr wrap="square" rtlCol="0">
            <a:spAutoFit/>
          </a:bodyPr>
          <a:lstStyle/>
          <a:p>
            <a:pPr marL="285750" indent="-285750">
              <a:buFont typeface="Arial" panose="020B0604020202020204" pitchFamily="34" charset="0"/>
              <a:buChar char="•"/>
            </a:pPr>
            <a:r>
              <a:rPr lang="en-US" dirty="0"/>
              <a:t>Nonzero value quantifies nonlinearity </a:t>
            </a:r>
          </a:p>
          <a:p>
            <a:r>
              <a:rPr lang="en-US" dirty="0" err="1"/>
              <a:t>w.r.t.</a:t>
            </a:r>
            <a:r>
              <a:rPr lang="en-US" dirty="0"/>
              <a:t> neutron numbers</a:t>
            </a:r>
          </a:p>
        </p:txBody>
      </p:sp>
    </p:spTree>
    <p:extLst>
      <p:ext uri="{BB962C8B-B14F-4D97-AF65-F5344CB8AC3E}">
        <p14:creationId xmlns:p14="http://schemas.microsoft.com/office/powerpoint/2010/main" val="967508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Anatomy of Energy </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14" name="그림 13">
            <a:extLst>
              <a:ext uri="{FF2B5EF4-FFF2-40B4-BE49-F238E27FC236}">
                <a16:creationId xmlns:a16="http://schemas.microsoft.com/office/drawing/2014/main" id="{9BC43883-DEAA-4081-A333-A562EE79716F}"/>
              </a:ext>
            </a:extLst>
          </p:cNvPr>
          <p:cNvPicPr>
            <a:picLocks noChangeAspect="1"/>
          </p:cNvPicPr>
          <p:nvPr/>
        </p:nvPicPr>
        <p:blipFill>
          <a:blip r:embed="rId4"/>
          <a:stretch>
            <a:fillRect/>
          </a:stretch>
        </p:blipFill>
        <p:spPr>
          <a:xfrm>
            <a:off x="185343" y="1142086"/>
            <a:ext cx="6353964" cy="4980581"/>
          </a:xfrm>
          <a:prstGeom prst="rect">
            <a:avLst/>
          </a:prstGeom>
        </p:spPr>
      </p:pic>
      <p:sp>
        <p:nvSpPr>
          <p:cNvPr id="15" name="TextBox 14">
            <a:extLst>
              <a:ext uri="{FF2B5EF4-FFF2-40B4-BE49-F238E27FC236}">
                <a16:creationId xmlns:a16="http://schemas.microsoft.com/office/drawing/2014/main" id="{FD4AD2D2-2F52-4382-9486-DE9CD5899003}"/>
              </a:ext>
            </a:extLst>
          </p:cNvPr>
          <p:cNvSpPr txBox="1"/>
          <p:nvPr/>
        </p:nvSpPr>
        <p:spPr>
          <a:xfrm>
            <a:off x="6657278" y="1438507"/>
            <a:ext cx="5134469" cy="2031325"/>
          </a:xfrm>
          <a:prstGeom prst="rect">
            <a:avLst/>
          </a:prstGeom>
          <a:noFill/>
        </p:spPr>
        <p:txBody>
          <a:bodyPr wrap="square" rtlCol="0">
            <a:spAutoFit/>
          </a:bodyPr>
          <a:lstStyle/>
          <a:p>
            <a:pPr marL="285750" indent="-285750">
              <a:buFont typeface="Arial" panose="020B0604020202020204" pitchFamily="34" charset="0"/>
              <a:buChar char="•"/>
            </a:pPr>
            <a:r>
              <a:rPr lang="en-US" dirty="0"/>
              <a:t>X</a:t>
            </a:r>
            <a:r>
              <a:rPr lang="en-US" baseline="-25000" dirty="0"/>
              <a:t>H</a:t>
            </a:r>
            <a:r>
              <a:rPr lang="en-US" dirty="0"/>
              <a:t> is a residual of large cancellation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Both </a:t>
            </a:r>
            <a:r>
              <a:rPr lang="en-US" dirty="0" err="1"/>
              <a:t>pn</a:t>
            </a:r>
            <a:r>
              <a:rPr lang="en-US" dirty="0"/>
              <a:t> interaction and </a:t>
            </a:r>
            <a:r>
              <a:rPr lang="en-US" dirty="0" err="1"/>
              <a:t>nn</a:t>
            </a:r>
            <a:r>
              <a:rPr lang="en-US" dirty="0"/>
              <a:t> interaction are significant in </a:t>
            </a:r>
            <a:r>
              <a:rPr lang="en-US" altLang="ko-KR" dirty="0"/>
              <a:t>X</a:t>
            </a:r>
            <a:r>
              <a:rPr lang="en-US" altLang="ko-KR" baseline="-25000" dirty="0"/>
              <a:t>H</a:t>
            </a: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altLang="ko-KR" dirty="0"/>
              <a:t>X</a:t>
            </a:r>
            <a:r>
              <a:rPr lang="en-US" altLang="ko-KR" baseline="-25000" dirty="0"/>
              <a:t>H</a:t>
            </a:r>
            <a:r>
              <a:rPr lang="en-US" dirty="0"/>
              <a:t> &lt; 0 alone does not give much information on the structure.</a:t>
            </a:r>
          </a:p>
        </p:txBody>
      </p:sp>
    </p:spTree>
    <p:extLst>
      <p:ext uri="{BB962C8B-B14F-4D97-AF65-F5344CB8AC3E}">
        <p14:creationId xmlns:p14="http://schemas.microsoft.com/office/powerpoint/2010/main" val="1151790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Restricted (0p3/2) model</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2" name="TextBox 1">
            <a:extLst>
              <a:ext uri="{FF2B5EF4-FFF2-40B4-BE49-F238E27FC236}">
                <a16:creationId xmlns:a16="http://schemas.microsoft.com/office/drawing/2014/main" id="{5811D98C-E893-4340-AAAF-BE23A859631E}"/>
              </a:ext>
            </a:extLst>
          </p:cNvPr>
          <p:cNvSpPr txBox="1"/>
          <p:nvPr/>
        </p:nvSpPr>
        <p:spPr>
          <a:xfrm>
            <a:off x="702527" y="1260088"/>
            <a:ext cx="7895063" cy="369332"/>
          </a:xfrm>
          <a:prstGeom prst="rect">
            <a:avLst/>
          </a:prstGeom>
          <a:noFill/>
        </p:spPr>
        <p:txBody>
          <a:bodyPr wrap="square" rtlCol="0">
            <a:spAutoFit/>
          </a:bodyPr>
          <a:lstStyle/>
          <a:p>
            <a:pPr marL="285750" indent="-285750">
              <a:buFont typeface="Arial" panose="020B0604020202020204" pitchFamily="34" charset="0"/>
              <a:buChar char="•"/>
            </a:pPr>
            <a:r>
              <a:rPr lang="en-US" dirty="0"/>
              <a:t>n = 0, 2, 4  (0p3/2)^n </a:t>
            </a:r>
          </a:p>
        </p:txBody>
      </p:sp>
      <p:pic>
        <p:nvPicPr>
          <p:cNvPr id="3" name="그림 2">
            <a:extLst>
              <a:ext uri="{FF2B5EF4-FFF2-40B4-BE49-F238E27FC236}">
                <a16:creationId xmlns:a16="http://schemas.microsoft.com/office/drawing/2014/main" id="{D8DE3C2E-4248-4025-BA33-E8BB0FA47466}"/>
              </a:ext>
            </a:extLst>
          </p:cNvPr>
          <p:cNvPicPr>
            <a:picLocks noChangeAspect="1"/>
          </p:cNvPicPr>
          <p:nvPr/>
        </p:nvPicPr>
        <p:blipFill>
          <a:blip r:embed="rId4"/>
          <a:stretch>
            <a:fillRect/>
          </a:stretch>
        </p:blipFill>
        <p:spPr>
          <a:xfrm>
            <a:off x="970157" y="1729496"/>
            <a:ext cx="5397189" cy="630022"/>
          </a:xfrm>
          <a:prstGeom prst="rect">
            <a:avLst/>
          </a:prstGeom>
        </p:spPr>
      </p:pic>
      <p:sp>
        <p:nvSpPr>
          <p:cNvPr id="4" name="TextBox 3">
            <a:extLst>
              <a:ext uri="{FF2B5EF4-FFF2-40B4-BE49-F238E27FC236}">
                <a16:creationId xmlns:a16="http://schemas.microsoft.com/office/drawing/2014/main" id="{C480B24E-5C47-4A26-8B58-9F94E432D565}"/>
              </a:ext>
            </a:extLst>
          </p:cNvPr>
          <p:cNvSpPr txBox="1"/>
          <p:nvPr/>
        </p:nvSpPr>
        <p:spPr>
          <a:xfrm>
            <a:off x="702526" y="2393270"/>
            <a:ext cx="8296507" cy="369332"/>
          </a:xfrm>
          <a:prstGeom prst="rect">
            <a:avLst/>
          </a:prstGeom>
          <a:noFill/>
        </p:spPr>
        <p:txBody>
          <a:bodyPr wrap="square" rtlCol="0">
            <a:spAutoFit/>
          </a:bodyPr>
          <a:lstStyle/>
          <a:p>
            <a:pPr marL="285750" indent="-285750">
              <a:buFont typeface="Arial" panose="020B0604020202020204" pitchFamily="34" charset="0"/>
              <a:buChar char="•"/>
            </a:pPr>
            <a:r>
              <a:rPr lang="en-US" dirty="0"/>
              <a:t>Allowed shell-model neutron pair angular momentum : J = 0 and J=2</a:t>
            </a:r>
          </a:p>
        </p:txBody>
      </p:sp>
      <p:pic>
        <p:nvPicPr>
          <p:cNvPr id="5" name="그림 4">
            <a:extLst>
              <a:ext uri="{FF2B5EF4-FFF2-40B4-BE49-F238E27FC236}">
                <a16:creationId xmlns:a16="http://schemas.microsoft.com/office/drawing/2014/main" id="{301F6B13-796F-4AF4-B782-7D468F20F549}"/>
              </a:ext>
            </a:extLst>
          </p:cNvPr>
          <p:cNvPicPr>
            <a:picLocks noChangeAspect="1"/>
          </p:cNvPicPr>
          <p:nvPr/>
        </p:nvPicPr>
        <p:blipFill>
          <a:blip r:embed="rId5"/>
          <a:stretch>
            <a:fillRect/>
          </a:stretch>
        </p:blipFill>
        <p:spPr>
          <a:xfrm>
            <a:off x="970157" y="2762602"/>
            <a:ext cx="6077414" cy="602469"/>
          </a:xfrm>
          <a:prstGeom prst="rect">
            <a:avLst/>
          </a:prstGeom>
        </p:spPr>
      </p:pic>
      <p:pic>
        <p:nvPicPr>
          <p:cNvPr id="8" name="그림 7">
            <a:extLst>
              <a:ext uri="{FF2B5EF4-FFF2-40B4-BE49-F238E27FC236}">
                <a16:creationId xmlns:a16="http://schemas.microsoft.com/office/drawing/2014/main" id="{D043C3CD-5D7A-4684-A264-54D58924E59A}"/>
              </a:ext>
            </a:extLst>
          </p:cNvPr>
          <p:cNvPicPr>
            <a:picLocks noChangeAspect="1"/>
          </p:cNvPicPr>
          <p:nvPr/>
        </p:nvPicPr>
        <p:blipFill>
          <a:blip r:embed="rId6"/>
          <a:stretch>
            <a:fillRect/>
          </a:stretch>
        </p:blipFill>
        <p:spPr>
          <a:xfrm>
            <a:off x="7559726" y="2762602"/>
            <a:ext cx="2075728" cy="511519"/>
          </a:xfrm>
          <a:prstGeom prst="rect">
            <a:avLst/>
          </a:prstGeom>
        </p:spPr>
      </p:pic>
      <p:pic>
        <p:nvPicPr>
          <p:cNvPr id="9" name="그림 8">
            <a:extLst>
              <a:ext uri="{FF2B5EF4-FFF2-40B4-BE49-F238E27FC236}">
                <a16:creationId xmlns:a16="http://schemas.microsoft.com/office/drawing/2014/main" id="{F113A510-7536-4167-B0C2-5C98281655F7}"/>
              </a:ext>
            </a:extLst>
          </p:cNvPr>
          <p:cNvPicPr>
            <a:picLocks noChangeAspect="1"/>
          </p:cNvPicPr>
          <p:nvPr/>
        </p:nvPicPr>
        <p:blipFill>
          <a:blip r:embed="rId7"/>
          <a:stretch>
            <a:fillRect/>
          </a:stretch>
        </p:blipFill>
        <p:spPr>
          <a:xfrm>
            <a:off x="702527" y="3429000"/>
            <a:ext cx="9567746" cy="2683483"/>
          </a:xfrm>
          <a:prstGeom prst="rect">
            <a:avLst/>
          </a:prstGeom>
        </p:spPr>
      </p:pic>
      <p:sp>
        <p:nvSpPr>
          <p:cNvPr id="10" name="TextBox 9">
            <a:extLst>
              <a:ext uri="{FF2B5EF4-FFF2-40B4-BE49-F238E27FC236}">
                <a16:creationId xmlns:a16="http://schemas.microsoft.com/office/drawing/2014/main" id="{E12A3D7C-DC99-49BE-B34D-546BD20A0B32}"/>
              </a:ext>
            </a:extLst>
          </p:cNvPr>
          <p:cNvSpPr txBox="1"/>
          <p:nvPr/>
        </p:nvSpPr>
        <p:spPr>
          <a:xfrm>
            <a:off x="10329746" y="4266625"/>
            <a:ext cx="1770001" cy="369332"/>
          </a:xfrm>
          <a:prstGeom prst="rect">
            <a:avLst/>
          </a:prstGeom>
          <a:noFill/>
        </p:spPr>
        <p:txBody>
          <a:bodyPr wrap="square" rtlCol="0">
            <a:spAutoFit/>
          </a:bodyPr>
          <a:lstStyle/>
          <a:p>
            <a:r>
              <a:rPr lang="en-US" dirty="0"/>
              <a:t> DJ16 TBME</a:t>
            </a:r>
          </a:p>
        </p:txBody>
      </p:sp>
    </p:spTree>
    <p:extLst>
      <p:ext uri="{BB962C8B-B14F-4D97-AF65-F5344CB8AC3E}">
        <p14:creationId xmlns:p14="http://schemas.microsoft.com/office/powerpoint/2010/main" val="3787022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Subshell Cluster energy</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6" name="그림 5">
            <a:extLst>
              <a:ext uri="{FF2B5EF4-FFF2-40B4-BE49-F238E27FC236}">
                <a16:creationId xmlns:a16="http://schemas.microsoft.com/office/drawing/2014/main" id="{A2B12B51-02A5-414E-979F-431175C26CA0}"/>
              </a:ext>
            </a:extLst>
          </p:cNvPr>
          <p:cNvPicPr>
            <a:picLocks noChangeAspect="1"/>
          </p:cNvPicPr>
          <p:nvPr/>
        </p:nvPicPr>
        <p:blipFill>
          <a:blip r:embed="rId4"/>
          <a:stretch>
            <a:fillRect/>
          </a:stretch>
        </p:blipFill>
        <p:spPr>
          <a:xfrm>
            <a:off x="768090" y="1220145"/>
            <a:ext cx="4277322" cy="1352739"/>
          </a:xfrm>
          <a:prstGeom prst="rect">
            <a:avLst/>
          </a:prstGeom>
        </p:spPr>
      </p:pic>
      <p:pic>
        <p:nvPicPr>
          <p:cNvPr id="11" name="그림 10">
            <a:extLst>
              <a:ext uri="{FF2B5EF4-FFF2-40B4-BE49-F238E27FC236}">
                <a16:creationId xmlns:a16="http://schemas.microsoft.com/office/drawing/2014/main" id="{D35C3B48-21ED-4C2C-B321-AD339E6A44A3}"/>
              </a:ext>
            </a:extLst>
          </p:cNvPr>
          <p:cNvPicPr>
            <a:picLocks noChangeAspect="1"/>
          </p:cNvPicPr>
          <p:nvPr/>
        </p:nvPicPr>
        <p:blipFill>
          <a:blip r:embed="rId5"/>
          <a:stretch>
            <a:fillRect/>
          </a:stretch>
        </p:blipFill>
        <p:spPr>
          <a:xfrm>
            <a:off x="7981241" y="1202545"/>
            <a:ext cx="3810506" cy="947824"/>
          </a:xfrm>
          <a:prstGeom prst="rect">
            <a:avLst/>
          </a:prstGeom>
        </p:spPr>
      </p:pic>
      <p:pic>
        <p:nvPicPr>
          <p:cNvPr id="12" name="그림 11">
            <a:extLst>
              <a:ext uri="{FF2B5EF4-FFF2-40B4-BE49-F238E27FC236}">
                <a16:creationId xmlns:a16="http://schemas.microsoft.com/office/drawing/2014/main" id="{BA47A102-7E86-4201-9A73-4C67E969831F}"/>
              </a:ext>
            </a:extLst>
          </p:cNvPr>
          <p:cNvPicPr>
            <a:picLocks noChangeAspect="1"/>
          </p:cNvPicPr>
          <p:nvPr/>
        </p:nvPicPr>
        <p:blipFill>
          <a:blip r:embed="rId6"/>
          <a:stretch>
            <a:fillRect/>
          </a:stretch>
        </p:blipFill>
        <p:spPr>
          <a:xfrm>
            <a:off x="923571" y="2652116"/>
            <a:ext cx="6354062" cy="543001"/>
          </a:xfrm>
          <a:prstGeom prst="rect">
            <a:avLst/>
          </a:prstGeom>
        </p:spPr>
      </p:pic>
      <p:graphicFrame>
        <p:nvGraphicFramePr>
          <p:cNvPr id="3" name="표 2">
            <a:extLst>
              <a:ext uri="{FF2B5EF4-FFF2-40B4-BE49-F238E27FC236}">
                <a16:creationId xmlns:a16="http://schemas.microsoft.com/office/drawing/2014/main" id="{C9F36068-AEC9-439A-95DC-C186FA3ABC2A}"/>
              </a:ext>
            </a:extLst>
          </p:cNvPr>
          <p:cNvGraphicFramePr>
            <a:graphicFrameLocks noGrp="1"/>
          </p:cNvGraphicFramePr>
          <p:nvPr>
            <p:extLst>
              <p:ext uri="{D42A27DB-BD31-4B8C-83A1-F6EECF244321}">
                <p14:modId xmlns:p14="http://schemas.microsoft.com/office/powerpoint/2010/main" val="3185474422"/>
              </p:ext>
            </p:extLst>
          </p:nvPr>
        </p:nvGraphicFramePr>
        <p:xfrm>
          <a:off x="284403" y="3493481"/>
          <a:ext cx="11423910" cy="2161974"/>
        </p:xfrm>
        <a:graphic>
          <a:graphicData uri="http://schemas.openxmlformats.org/drawingml/2006/table">
            <a:tbl>
              <a:tblPr firstRow="1" bandRow="1">
                <a:tableStyleId>{5C22544A-7EE6-4342-B048-85BDC9FD1C3A}</a:tableStyleId>
              </a:tblPr>
              <a:tblGrid>
                <a:gridCol w="1903985">
                  <a:extLst>
                    <a:ext uri="{9D8B030D-6E8A-4147-A177-3AD203B41FA5}">
                      <a16:colId xmlns:a16="http://schemas.microsoft.com/office/drawing/2014/main" val="3523254705"/>
                    </a:ext>
                  </a:extLst>
                </a:gridCol>
                <a:gridCol w="1903985">
                  <a:extLst>
                    <a:ext uri="{9D8B030D-6E8A-4147-A177-3AD203B41FA5}">
                      <a16:colId xmlns:a16="http://schemas.microsoft.com/office/drawing/2014/main" val="2200372998"/>
                    </a:ext>
                  </a:extLst>
                </a:gridCol>
                <a:gridCol w="1903985">
                  <a:extLst>
                    <a:ext uri="{9D8B030D-6E8A-4147-A177-3AD203B41FA5}">
                      <a16:colId xmlns:a16="http://schemas.microsoft.com/office/drawing/2014/main" val="2259586529"/>
                    </a:ext>
                  </a:extLst>
                </a:gridCol>
                <a:gridCol w="1903985">
                  <a:extLst>
                    <a:ext uri="{9D8B030D-6E8A-4147-A177-3AD203B41FA5}">
                      <a16:colId xmlns:a16="http://schemas.microsoft.com/office/drawing/2014/main" val="3382885222"/>
                    </a:ext>
                  </a:extLst>
                </a:gridCol>
                <a:gridCol w="1903985">
                  <a:extLst>
                    <a:ext uri="{9D8B030D-6E8A-4147-A177-3AD203B41FA5}">
                      <a16:colId xmlns:a16="http://schemas.microsoft.com/office/drawing/2014/main" val="4003033842"/>
                    </a:ext>
                  </a:extLst>
                </a:gridCol>
                <a:gridCol w="1903985">
                  <a:extLst>
                    <a:ext uri="{9D8B030D-6E8A-4147-A177-3AD203B41FA5}">
                      <a16:colId xmlns:a16="http://schemas.microsoft.com/office/drawing/2014/main" val="2773192330"/>
                    </a:ext>
                  </a:extLst>
                </a:gridCol>
              </a:tblGrid>
              <a:tr h="516054">
                <a:tc>
                  <a:txBody>
                    <a:bodyPr/>
                    <a:lstStyle/>
                    <a:p>
                      <a:r>
                        <a:rPr lang="en-US" altLang="ko-KR" dirty="0"/>
                        <a:t>Subshell contribution</a:t>
                      </a:r>
                      <a:endParaRPr lang="en-US" dirty="0"/>
                    </a:p>
                  </a:txBody>
                  <a:tcPr/>
                </a:tc>
                <a:tc>
                  <a:txBody>
                    <a:bodyPr/>
                    <a:lstStyle/>
                    <a:p>
                      <a:r>
                        <a:rPr lang="en-US" altLang="ko-KR" dirty="0"/>
                        <a:t>¹S₀</a:t>
                      </a:r>
                      <a:endParaRPr lang="en-US" dirty="0"/>
                    </a:p>
                  </a:txBody>
                  <a:tcPr/>
                </a:tc>
                <a:tc>
                  <a:txBody>
                    <a:bodyPr/>
                    <a:lstStyle/>
                    <a:p>
                      <a:r>
                        <a:rPr lang="en-US" altLang="ko-KR" dirty="0"/>
                        <a:t>¹D₂</a:t>
                      </a:r>
                      <a:endParaRPr lang="en-US" dirty="0"/>
                    </a:p>
                  </a:txBody>
                  <a:tcPr/>
                </a:tc>
                <a:tc>
                  <a:txBody>
                    <a:bodyPr/>
                    <a:lstStyle/>
                    <a:p>
                      <a:r>
                        <a:rPr lang="en-US" altLang="ko-KR" dirty="0"/>
                        <a:t>³P₀</a:t>
                      </a:r>
                      <a:endParaRPr lang="en-US" dirty="0"/>
                    </a:p>
                  </a:txBody>
                  <a:tcPr/>
                </a:tc>
                <a:tc>
                  <a:txBody>
                    <a:bodyPr/>
                    <a:lstStyle/>
                    <a:p>
                      <a:r>
                        <a:rPr lang="en-US" altLang="ko-KR" dirty="0"/>
                        <a:t>³P₁</a:t>
                      </a:r>
                      <a:endParaRPr lang="en-US" dirty="0"/>
                    </a:p>
                  </a:txBody>
                  <a:tcPr/>
                </a:tc>
                <a:tc>
                  <a:txBody>
                    <a:bodyPr/>
                    <a:lstStyle/>
                    <a:p>
                      <a:r>
                        <a:rPr lang="en-US" altLang="ko-KR" dirty="0"/>
                        <a:t>³P₂</a:t>
                      </a:r>
                      <a:endParaRPr lang="en-US" dirty="0"/>
                    </a:p>
                  </a:txBody>
                  <a:tcPr/>
                </a:tc>
                <a:extLst>
                  <a:ext uri="{0D108BD9-81ED-4DB2-BD59-A6C34878D82A}">
                    <a16:rowId xmlns:a16="http://schemas.microsoft.com/office/drawing/2014/main" val="1320985002"/>
                  </a:ext>
                </a:extLst>
              </a:tr>
              <a:tr h="298984">
                <a:tc>
                  <a:txBody>
                    <a:bodyPr/>
                    <a:lstStyle/>
                    <a:p>
                      <a:r>
                        <a:rPr lang="en-US" altLang="ko-KR" dirty="0"/>
                        <a:t>Isolated (0p₃/₂)</a:t>
                      </a:r>
                      <a:endParaRPr lang="en-US" dirty="0"/>
                    </a:p>
                  </a:txBody>
                  <a:tcPr/>
                </a:tc>
                <a:tc>
                  <a:txBody>
                    <a:bodyPr/>
                    <a:lstStyle/>
                    <a:p>
                      <a:r>
                        <a:rPr lang="en-US" altLang="ko-KR" dirty="0"/>
                        <a:t>−2.217</a:t>
                      </a:r>
                      <a:endParaRPr lang="en-US" dirty="0"/>
                    </a:p>
                  </a:txBody>
                  <a:tcPr/>
                </a:tc>
                <a:tc>
                  <a:txBody>
                    <a:bodyPr/>
                    <a:lstStyle/>
                    <a:p>
                      <a:r>
                        <a:rPr lang="en-US" altLang="ko-KR" dirty="0"/>
                        <a:t>−0.370</a:t>
                      </a:r>
                      <a:endParaRPr lang="en-US" dirty="0"/>
                    </a:p>
                  </a:txBody>
                  <a:tcPr/>
                </a:tc>
                <a:tc>
                  <a:txBody>
                    <a:bodyPr/>
                    <a:lstStyle/>
                    <a:p>
                      <a:r>
                        <a:rPr lang="en-US" altLang="ko-KR" dirty="0"/>
                        <a:t>0.000</a:t>
                      </a:r>
                      <a:endParaRPr lang="en-US" dirty="0"/>
                    </a:p>
                  </a:txBody>
                  <a:tcPr/>
                </a:tc>
                <a:tc>
                  <a:txBody>
                    <a:bodyPr/>
                    <a:lstStyle/>
                    <a:p>
                      <a:r>
                        <a:rPr lang="en-US" altLang="ko-KR" dirty="0"/>
                        <a:t>+1.791</a:t>
                      </a:r>
                      <a:endParaRPr lang="en-US" dirty="0"/>
                    </a:p>
                  </a:txBody>
                  <a:tcPr/>
                </a:tc>
                <a:tc>
                  <a:txBody>
                    <a:bodyPr/>
                    <a:lstStyle/>
                    <a:p>
                      <a:r>
                        <a:rPr lang="en-US" altLang="ko-KR" dirty="0"/>
                        <a:t>−3.204</a:t>
                      </a:r>
                      <a:endParaRPr lang="en-US" dirty="0"/>
                    </a:p>
                  </a:txBody>
                  <a:tcPr/>
                </a:tc>
                <a:extLst>
                  <a:ext uri="{0D108BD9-81ED-4DB2-BD59-A6C34878D82A}">
                    <a16:rowId xmlns:a16="http://schemas.microsoft.com/office/drawing/2014/main" val="1497962228"/>
                  </a:ext>
                </a:extLst>
              </a:tr>
              <a:tr h="516054">
                <a:tc>
                  <a:txBody>
                    <a:bodyPr/>
                    <a:lstStyle/>
                    <a:p>
                      <a:r>
                        <a:rPr lang="en-US" altLang="ko-KR" dirty="0"/>
                        <a:t>All (𝒮 = 3) clusters</a:t>
                      </a:r>
                      <a:endParaRPr lang="en-US" dirty="0"/>
                    </a:p>
                  </a:txBody>
                  <a:tcPr/>
                </a:tc>
                <a:tc>
                  <a:txBody>
                    <a:bodyPr/>
                    <a:lstStyle/>
                    <a:p>
                      <a:r>
                        <a:rPr lang="en-US" altLang="ko-KR" dirty="0"/>
                        <a:t>−0.295</a:t>
                      </a:r>
                      <a:endParaRPr lang="en-US" dirty="0"/>
                    </a:p>
                  </a:txBody>
                  <a:tcPr/>
                </a:tc>
                <a:tc>
                  <a:txBody>
                    <a:bodyPr/>
                    <a:lstStyle/>
                    <a:p>
                      <a:r>
                        <a:rPr lang="en-US" altLang="ko-KR" dirty="0"/>
                        <a:t>+0.015</a:t>
                      </a:r>
                      <a:endParaRPr lang="en-US" dirty="0"/>
                    </a:p>
                  </a:txBody>
                  <a:tcPr/>
                </a:tc>
                <a:tc>
                  <a:txBody>
                    <a:bodyPr/>
                    <a:lstStyle/>
                    <a:p>
                      <a:r>
                        <a:rPr lang="en-US" altLang="ko-KR" dirty="0"/>
                        <a:t>−0.004</a:t>
                      </a:r>
                      <a:endParaRPr lang="en-US" dirty="0"/>
                    </a:p>
                  </a:txBody>
                  <a:tcPr/>
                </a:tc>
                <a:tc>
                  <a:txBody>
                    <a:bodyPr/>
                    <a:lstStyle/>
                    <a:p>
                      <a:r>
                        <a:rPr lang="en-US" altLang="ko-KR" dirty="0"/>
                        <a:t>−0.047</a:t>
                      </a:r>
                      <a:endParaRPr lang="en-US" dirty="0"/>
                    </a:p>
                  </a:txBody>
                  <a:tcPr/>
                </a:tc>
                <a:tc>
                  <a:txBody>
                    <a:bodyPr/>
                    <a:lstStyle/>
                    <a:p>
                      <a:r>
                        <a:rPr lang="en-US" altLang="ko-KR" dirty="0"/>
                        <a:t>−1.034</a:t>
                      </a:r>
                      <a:endParaRPr lang="en-US" dirty="0"/>
                    </a:p>
                  </a:txBody>
                  <a:tcPr/>
                </a:tc>
                <a:extLst>
                  <a:ext uri="{0D108BD9-81ED-4DB2-BD59-A6C34878D82A}">
                    <a16:rowId xmlns:a16="http://schemas.microsoft.com/office/drawing/2014/main" val="1248752455"/>
                  </a:ext>
                </a:extLst>
              </a:tr>
              <a:tr h="516054">
                <a:tc>
                  <a:txBody>
                    <a:bodyPr/>
                    <a:lstStyle/>
                    <a:p>
                      <a:r>
                        <a:rPr lang="en-US" altLang="ko-KR" dirty="0"/>
                        <a:t>All cluster sizes</a:t>
                      </a:r>
                      <a:endParaRPr lang="en-US" dirty="0"/>
                    </a:p>
                  </a:txBody>
                  <a:tcPr/>
                </a:tc>
                <a:tc>
                  <a:txBody>
                    <a:bodyPr/>
                    <a:lstStyle/>
                    <a:p>
                      <a:r>
                        <a:rPr lang="en-US" altLang="ko-KR" dirty="0"/>
                        <a:t>−2.884</a:t>
                      </a:r>
                      <a:endParaRPr lang="en-US" dirty="0"/>
                    </a:p>
                  </a:txBody>
                  <a:tcPr/>
                </a:tc>
                <a:tc>
                  <a:txBody>
                    <a:bodyPr/>
                    <a:lstStyle/>
                    <a:p>
                      <a:r>
                        <a:rPr lang="en-US" altLang="ko-KR" dirty="0"/>
                        <a:t>−0.367</a:t>
                      </a:r>
                      <a:endParaRPr lang="en-US" dirty="0"/>
                    </a:p>
                  </a:txBody>
                  <a:tcPr/>
                </a:tc>
                <a:tc>
                  <a:txBody>
                    <a:bodyPr/>
                    <a:lstStyle/>
                    <a:p>
                      <a:r>
                        <a:rPr lang="en-US" altLang="ko-KR" dirty="0"/>
                        <a:t>+0.022</a:t>
                      </a:r>
                      <a:endParaRPr lang="en-US" dirty="0"/>
                    </a:p>
                  </a:txBody>
                  <a:tcPr/>
                </a:tc>
                <a:tc>
                  <a:txBody>
                    <a:bodyPr/>
                    <a:lstStyle/>
                    <a:p>
                      <a:r>
                        <a:rPr lang="en-US" altLang="ko-KR" dirty="0"/>
                        <a:t>+2.632</a:t>
                      </a:r>
                      <a:endParaRPr lang="en-US" dirty="0"/>
                    </a:p>
                  </a:txBody>
                  <a:tcPr/>
                </a:tc>
                <a:tc>
                  <a:txBody>
                    <a:bodyPr/>
                    <a:lstStyle/>
                    <a:p>
                      <a:r>
                        <a:rPr lang="en-US" altLang="ko-KR" dirty="0"/>
                        <a:t>−5.171</a:t>
                      </a:r>
                      <a:endParaRPr lang="en-US" dirty="0"/>
                    </a:p>
                  </a:txBody>
                  <a:tcPr/>
                </a:tc>
                <a:extLst>
                  <a:ext uri="{0D108BD9-81ED-4DB2-BD59-A6C34878D82A}">
                    <a16:rowId xmlns:a16="http://schemas.microsoft.com/office/drawing/2014/main" val="935993504"/>
                  </a:ext>
                </a:extLst>
              </a:tr>
            </a:tbl>
          </a:graphicData>
        </a:graphic>
      </p:graphicFrame>
    </p:spTree>
    <p:extLst>
      <p:ext uri="{BB962C8B-B14F-4D97-AF65-F5344CB8AC3E}">
        <p14:creationId xmlns:p14="http://schemas.microsoft.com/office/powerpoint/2010/main" val="15124439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Subshell Cluster energy</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2" name="그림 1">
            <a:extLst>
              <a:ext uri="{FF2B5EF4-FFF2-40B4-BE49-F238E27FC236}">
                <a16:creationId xmlns:a16="http://schemas.microsoft.com/office/drawing/2014/main" id="{66F1923D-641D-4D52-BC00-96197013E8DB}"/>
              </a:ext>
            </a:extLst>
          </p:cNvPr>
          <p:cNvPicPr>
            <a:picLocks noChangeAspect="1"/>
          </p:cNvPicPr>
          <p:nvPr/>
        </p:nvPicPr>
        <p:blipFill>
          <a:blip r:embed="rId4"/>
          <a:stretch>
            <a:fillRect/>
          </a:stretch>
        </p:blipFill>
        <p:spPr>
          <a:xfrm>
            <a:off x="130756" y="1099463"/>
            <a:ext cx="5225546" cy="5728395"/>
          </a:xfrm>
          <a:prstGeom prst="rect">
            <a:avLst/>
          </a:prstGeom>
        </p:spPr>
      </p:pic>
      <p:sp>
        <p:nvSpPr>
          <p:cNvPr id="3" name="TextBox 2">
            <a:extLst>
              <a:ext uri="{FF2B5EF4-FFF2-40B4-BE49-F238E27FC236}">
                <a16:creationId xmlns:a16="http://schemas.microsoft.com/office/drawing/2014/main" id="{43B4776C-1584-4EE8-8B3B-7314AEA9AA74}"/>
              </a:ext>
            </a:extLst>
          </p:cNvPr>
          <p:cNvSpPr txBox="1"/>
          <p:nvPr/>
        </p:nvSpPr>
        <p:spPr>
          <a:xfrm>
            <a:off x="5931315" y="3317329"/>
            <a:ext cx="5225546" cy="646331"/>
          </a:xfrm>
          <a:prstGeom prst="rect">
            <a:avLst/>
          </a:prstGeom>
          <a:noFill/>
        </p:spPr>
        <p:txBody>
          <a:bodyPr wrap="square" rtlCol="0">
            <a:spAutoFit/>
          </a:bodyPr>
          <a:lstStyle/>
          <a:p>
            <a:pPr marL="285750" indent="-285750">
              <a:buFont typeface="Arial" panose="020B0604020202020204" pitchFamily="34" charset="0"/>
              <a:buChar char="•"/>
            </a:pPr>
            <a:r>
              <a:rPr lang="en-US" dirty="0"/>
              <a:t>Importance of 3P2 attraction </a:t>
            </a:r>
          </a:p>
          <a:p>
            <a:pPr marL="285750" indent="-285750">
              <a:buFont typeface="Arial" panose="020B0604020202020204" pitchFamily="34" charset="0"/>
              <a:buChar char="•"/>
            </a:pPr>
            <a:r>
              <a:rPr lang="en-US" dirty="0"/>
              <a:t>multiple subshells</a:t>
            </a:r>
          </a:p>
        </p:txBody>
      </p:sp>
      <p:sp>
        <p:nvSpPr>
          <p:cNvPr id="12" name="TextBox 11">
            <a:extLst>
              <a:ext uri="{FF2B5EF4-FFF2-40B4-BE49-F238E27FC236}">
                <a16:creationId xmlns:a16="http://schemas.microsoft.com/office/drawing/2014/main" id="{76555FC5-497C-45D2-BCFB-77A401B142D9}"/>
              </a:ext>
            </a:extLst>
          </p:cNvPr>
          <p:cNvSpPr txBox="1"/>
          <p:nvPr/>
        </p:nvSpPr>
        <p:spPr>
          <a:xfrm>
            <a:off x="5973550" y="1887564"/>
            <a:ext cx="5405162" cy="369332"/>
          </a:xfrm>
          <a:prstGeom prst="rect">
            <a:avLst/>
          </a:prstGeom>
          <a:noFill/>
        </p:spPr>
        <p:txBody>
          <a:bodyPr wrap="square" rtlCol="0">
            <a:spAutoFit/>
          </a:bodyPr>
          <a:lstStyle/>
          <a:p>
            <a:r>
              <a:rPr lang="en-US" dirty="0"/>
              <a:t>Sum of other partial wave = -0.026 MeV</a:t>
            </a:r>
          </a:p>
        </p:txBody>
      </p:sp>
      <p:sp>
        <p:nvSpPr>
          <p:cNvPr id="13" name="TextBox 12">
            <a:extLst>
              <a:ext uri="{FF2B5EF4-FFF2-40B4-BE49-F238E27FC236}">
                <a16:creationId xmlns:a16="http://schemas.microsoft.com/office/drawing/2014/main" id="{C91892C4-0658-4A46-8956-292B2677A79A}"/>
              </a:ext>
            </a:extLst>
          </p:cNvPr>
          <p:cNvSpPr txBox="1"/>
          <p:nvPr/>
        </p:nvSpPr>
        <p:spPr>
          <a:xfrm>
            <a:off x="5973550" y="1400202"/>
            <a:ext cx="4556479" cy="369332"/>
          </a:xfrm>
          <a:prstGeom prst="rect">
            <a:avLst/>
          </a:prstGeom>
          <a:noFill/>
        </p:spPr>
        <p:txBody>
          <a:bodyPr wrap="square" rtlCol="0">
            <a:spAutoFit/>
          </a:bodyPr>
          <a:lstStyle/>
          <a:p>
            <a:r>
              <a:rPr lang="en-US" dirty="0"/>
              <a:t>Sum of 5 channels = -5.769 MeV</a:t>
            </a:r>
          </a:p>
        </p:txBody>
      </p:sp>
      <p:sp>
        <p:nvSpPr>
          <p:cNvPr id="18" name="TextBox 17">
            <a:extLst>
              <a:ext uri="{FF2B5EF4-FFF2-40B4-BE49-F238E27FC236}">
                <a16:creationId xmlns:a16="http://schemas.microsoft.com/office/drawing/2014/main" id="{E4426F47-3A27-4558-85A8-9BE0D4DE36A8}"/>
              </a:ext>
            </a:extLst>
          </p:cNvPr>
          <p:cNvSpPr txBox="1"/>
          <p:nvPr/>
        </p:nvSpPr>
        <p:spPr>
          <a:xfrm>
            <a:off x="6096000" y="2374926"/>
            <a:ext cx="2754351" cy="369332"/>
          </a:xfrm>
          <a:prstGeom prst="rect">
            <a:avLst/>
          </a:prstGeom>
          <a:noFill/>
        </p:spPr>
        <p:txBody>
          <a:bodyPr wrap="square" rtlCol="0">
            <a:spAutoFit/>
          </a:bodyPr>
          <a:lstStyle/>
          <a:p>
            <a:r>
              <a:rPr lang="en-US" dirty="0" err="1"/>
              <a:t>X</a:t>
            </a:r>
            <a:r>
              <a:rPr lang="en-US" baseline="-25000" dirty="0" err="1"/>
              <a:t>nnV</a:t>
            </a:r>
            <a:r>
              <a:rPr lang="en-US" dirty="0"/>
              <a:t> = -5.795 MeV</a:t>
            </a:r>
          </a:p>
        </p:txBody>
      </p:sp>
    </p:spTree>
    <p:extLst>
      <p:ext uri="{BB962C8B-B14F-4D97-AF65-F5344CB8AC3E}">
        <p14:creationId xmlns:p14="http://schemas.microsoft.com/office/powerpoint/2010/main" val="4128242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Attractive rank</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3" name="그림 2">
            <a:extLst>
              <a:ext uri="{FF2B5EF4-FFF2-40B4-BE49-F238E27FC236}">
                <a16:creationId xmlns:a16="http://schemas.microsoft.com/office/drawing/2014/main" id="{75A4D79E-2211-4341-B7AD-DE2596DD09AB}"/>
              </a:ext>
            </a:extLst>
          </p:cNvPr>
          <p:cNvPicPr>
            <a:picLocks noChangeAspect="1"/>
          </p:cNvPicPr>
          <p:nvPr/>
        </p:nvPicPr>
        <p:blipFill>
          <a:blip r:embed="rId4"/>
          <a:stretch>
            <a:fillRect/>
          </a:stretch>
        </p:blipFill>
        <p:spPr>
          <a:xfrm>
            <a:off x="1256967" y="1957583"/>
            <a:ext cx="4188545" cy="660971"/>
          </a:xfrm>
          <a:prstGeom prst="rect">
            <a:avLst/>
          </a:prstGeom>
        </p:spPr>
      </p:pic>
      <p:sp>
        <p:nvSpPr>
          <p:cNvPr id="8" name="TextBox 7">
            <a:extLst>
              <a:ext uri="{FF2B5EF4-FFF2-40B4-BE49-F238E27FC236}">
                <a16:creationId xmlns:a16="http://schemas.microsoft.com/office/drawing/2014/main" id="{327592E1-40A3-483D-8BF0-2B9CEDB98464}"/>
              </a:ext>
            </a:extLst>
          </p:cNvPr>
          <p:cNvSpPr txBox="1"/>
          <p:nvPr/>
        </p:nvSpPr>
        <p:spPr>
          <a:xfrm>
            <a:off x="613897" y="1294014"/>
            <a:ext cx="9772459" cy="646331"/>
          </a:xfrm>
          <a:prstGeom prst="rect">
            <a:avLst/>
          </a:prstGeom>
          <a:noFill/>
        </p:spPr>
        <p:txBody>
          <a:bodyPr wrap="square" rtlCol="0">
            <a:spAutoFit/>
          </a:bodyPr>
          <a:lstStyle/>
          <a:p>
            <a:r>
              <a:rPr lang="en-US" altLang="ko-KR" dirty="0"/>
              <a:t>To characterize pair structures strong enough to matter,</a:t>
            </a:r>
            <a:endParaRPr lang="en-US" dirty="0"/>
          </a:p>
          <a:p>
            <a:pPr marL="285750" indent="-285750">
              <a:buFont typeface="Arial" panose="020B0604020202020204" pitchFamily="34" charset="0"/>
              <a:buChar char="•"/>
            </a:pPr>
            <a:r>
              <a:rPr lang="en-US" dirty="0"/>
              <a:t>Attractive part of two neutron interactions in finite antisymmetric two neutron Hilbert space</a:t>
            </a:r>
          </a:p>
        </p:txBody>
      </p:sp>
      <p:sp>
        <p:nvSpPr>
          <p:cNvPr id="9" name="TextBox 8">
            <a:extLst>
              <a:ext uri="{FF2B5EF4-FFF2-40B4-BE49-F238E27FC236}">
                <a16:creationId xmlns:a16="http://schemas.microsoft.com/office/drawing/2014/main" id="{486BC7FD-F24E-4B84-80EF-2E42783B881C}"/>
              </a:ext>
            </a:extLst>
          </p:cNvPr>
          <p:cNvSpPr txBox="1"/>
          <p:nvPr/>
        </p:nvSpPr>
        <p:spPr>
          <a:xfrm>
            <a:off x="613897" y="2732218"/>
            <a:ext cx="9513970" cy="1754326"/>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FF0000"/>
                </a:solidFill>
              </a:rPr>
              <a:t>Attractive rank </a:t>
            </a:r>
            <a:r>
              <a:rPr lang="en-US" dirty="0"/>
              <a:t>= </a:t>
            </a:r>
            <a:r>
              <a:rPr lang="en-US" altLang="ko-KR" dirty="0"/>
              <a:t>number of sufficiently strong independent pair modes (count multiplicity)</a:t>
            </a:r>
          </a:p>
          <a:p>
            <a:endParaRPr lang="en-US" altLang="ko-KR" dirty="0"/>
          </a:p>
          <a:p>
            <a:pPr marL="742950" lvl="1" indent="-285750">
              <a:buFont typeface="Arial" panose="020B0604020202020204" pitchFamily="34" charset="0"/>
              <a:buChar char="•"/>
            </a:pPr>
            <a:r>
              <a:rPr lang="en-US" altLang="ko-KR" dirty="0"/>
              <a:t>Defined only after all attractive and repulsive interaction components are combined</a:t>
            </a:r>
          </a:p>
          <a:p>
            <a:pPr marL="742950" lvl="1" indent="-285750">
              <a:buFont typeface="Arial" panose="020B0604020202020204" pitchFamily="34" charset="0"/>
              <a:buChar char="•"/>
            </a:pPr>
            <a:r>
              <a:rPr lang="en-US" altLang="ko-KR" dirty="0"/>
              <a:t>Depends on the chosen two-particle space and threshold</a:t>
            </a:r>
          </a:p>
          <a:p>
            <a:pPr marL="742950" lvl="1" indent="-285750">
              <a:buFont typeface="Arial" panose="020B0604020202020204" pitchFamily="34" charset="0"/>
              <a:buChar char="•"/>
            </a:pPr>
            <a:r>
              <a:rPr lang="en-US" altLang="ko-KR" dirty="0"/>
              <a:t>At (</a:t>
            </a:r>
            <a:r>
              <a:rPr lang="el-GR" altLang="ko-KR" dirty="0"/>
              <a:t>ε</a:t>
            </a:r>
            <a:r>
              <a:rPr lang="en-US" altLang="ko-KR" dirty="0"/>
              <a:t>=0), it reduces to the ordinary rank of (W)</a:t>
            </a:r>
          </a:p>
          <a:p>
            <a:pPr marL="742950" lvl="1" indent="-285750">
              <a:buFont typeface="Arial" panose="020B0604020202020204" pitchFamily="34" charset="0"/>
              <a:buChar char="•"/>
            </a:pPr>
            <a:r>
              <a:rPr lang="en-US" altLang="ko-KR" dirty="0">
                <a:solidFill>
                  <a:srgbClr val="FF0000"/>
                </a:solidFill>
              </a:rPr>
              <a:t>Conceptual tool</a:t>
            </a:r>
            <a:r>
              <a:rPr lang="en-US" altLang="ko-KR" dirty="0"/>
              <a:t>, not additional quality in full NCSM calculation</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B6E452F-3E36-4E29-94EF-C858A9F8473B}"/>
                  </a:ext>
                </a:extLst>
              </p:cNvPr>
              <p:cNvSpPr txBox="1"/>
              <p:nvPr/>
            </p:nvSpPr>
            <p:spPr>
              <a:xfrm>
                <a:off x="6194352" y="2093444"/>
                <a:ext cx="4750419" cy="369332"/>
              </a:xfrm>
              <a:prstGeom prst="rect">
                <a:avLst/>
              </a:prstGeom>
              <a:noFill/>
            </p:spPr>
            <p:txBody>
              <a:bodyPr wrap="square" rtlCol="0">
                <a:spAutoFit/>
              </a:bodyPr>
              <a:lstStyle/>
              <a:p>
                <a14:m>
                  <m:oMath xmlns:m="http://schemas.openxmlformats.org/officeDocument/2006/math">
                    <m:r>
                      <a:rPr lang="en-US" altLang="ko-KR" i="1">
                        <a:latin typeface="Cambria Math" panose="02040503050406030204" pitchFamily="18" charset="0"/>
                      </a:rPr>
                      <m:t>|</m:t>
                    </m:r>
                    <m:sSub>
                      <m:sSubPr>
                        <m:ctrlPr>
                          <a:rPr lang="en-US" altLang="ko-KR" i="1">
                            <a:latin typeface="Cambria Math" panose="02040503050406030204" pitchFamily="18" charset="0"/>
                          </a:rPr>
                        </m:ctrlPr>
                      </m:sSubPr>
                      <m:e>
                        <m:r>
                          <a:rPr lang="en-US" altLang="ko-KR" i="1">
                            <a:latin typeface="Cambria Math" panose="02040503050406030204" pitchFamily="18" charset="0"/>
                          </a:rPr>
                          <m:t>𝜙</m:t>
                        </m:r>
                      </m:e>
                      <m:sub>
                        <m:r>
                          <a:rPr lang="en-US" altLang="ko-KR" i="1">
                            <a:latin typeface="Cambria Math" panose="02040503050406030204" pitchFamily="18" charset="0"/>
                          </a:rPr>
                          <m:t>𝛼</m:t>
                        </m:r>
                      </m:sub>
                    </m:sSub>
                    <m:r>
                      <a:rPr lang="en-US" altLang="ko-KR" i="1">
                        <a:latin typeface="Cambria Math" panose="02040503050406030204" pitchFamily="18" charset="0"/>
                      </a:rPr>
                      <m:t>&gt;</m:t>
                    </m:r>
                  </m:oMath>
                </a14:m>
                <a:r>
                  <a:rPr lang="en-US" dirty="0"/>
                  <a:t> : </a:t>
                </a:r>
                <a:r>
                  <a:rPr lang="en-US" altLang="ko-KR" dirty="0"/>
                  <a:t>orthonormal attractive pair mode</a:t>
                </a:r>
                <a:endParaRPr lang="en-US" dirty="0"/>
              </a:p>
            </p:txBody>
          </p:sp>
        </mc:Choice>
        <mc:Fallback>
          <p:sp>
            <p:nvSpPr>
              <p:cNvPr id="10" name="TextBox 9">
                <a:extLst>
                  <a:ext uri="{FF2B5EF4-FFF2-40B4-BE49-F238E27FC236}">
                    <a16:creationId xmlns:a16="http://schemas.microsoft.com/office/drawing/2014/main" id="{9B6E452F-3E36-4E29-94EF-C858A9F8473B}"/>
                  </a:ext>
                </a:extLst>
              </p:cNvPr>
              <p:cNvSpPr txBox="1">
                <a:spLocks noRot="1" noChangeAspect="1" noMove="1" noResize="1" noEditPoints="1" noAdjustHandles="1" noChangeArrowheads="1" noChangeShapeType="1" noTextEdit="1"/>
              </p:cNvSpPr>
              <p:nvPr/>
            </p:nvSpPr>
            <p:spPr>
              <a:xfrm>
                <a:off x="6194352" y="2093444"/>
                <a:ext cx="4750419" cy="369332"/>
              </a:xfrm>
              <a:prstGeom prst="rect">
                <a:avLst/>
              </a:prstGeom>
              <a:blipFill>
                <a:blip r:embed="rId5"/>
                <a:stretch>
                  <a:fillRect l="-385" t="-8197" b="-24590"/>
                </a:stretch>
              </a:blipFill>
            </p:spPr>
            <p:txBody>
              <a:bodyPr/>
              <a:lstStyle/>
              <a:p>
                <a:r>
                  <a:rPr lang="en-US">
                    <a:noFill/>
                  </a:rPr>
                  <a:t> </a:t>
                </a:r>
              </a:p>
            </p:txBody>
          </p:sp>
        </mc:Fallback>
      </mc:AlternateContent>
      <p:pic>
        <p:nvPicPr>
          <p:cNvPr id="13" name="그림 12">
            <a:extLst>
              <a:ext uri="{FF2B5EF4-FFF2-40B4-BE49-F238E27FC236}">
                <a16:creationId xmlns:a16="http://schemas.microsoft.com/office/drawing/2014/main" id="{A5EC0EC7-8933-433E-8615-5AE4E8595DF3}"/>
              </a:ext>
            </a:extLst>
          </p:cNvPr>
          <p:cNvPicPr>
            <a:picLocks noChangeAspect="1"/>
          </p:cNvPicPr>
          <p:nvPr/>
        </p:nvPicPr>
        <p:blipFill>
          <a:blip r:embed="rId6"/>
          <a:stretch>
            <a:fillRect/>
          </a:stretch>
        </p:blipFill>
        <p:spPr>
          <a:xfrm>
            <a:off x="7045970" y="5308226"/>
            <a:ext cx="2075728" cy="511519"/>
          </a:xfrm>
          <a:prstGeom prst="rect">
            <a:avLst/>
          </a:prstGeom>
        </p:spPr>
      </p:pic>
      <p:sp>
        <p:nvSpPr>
          <p:cNvPr id="11" name="TextBox 10">
            <a:extLst>
              <a:ext uri="{FF2B5EF4-FFF2-40B4-BE49-F238E27FC236}">
                <a16:creationId xmlns:a16="http://schemas.microsoft.com/office/drawing/2014/main" id="{CBC1019C-0127-4BC9-83BE-2759A5F6E4C4}"/>
              </a:ext>
            </a:extLst>
          </p:cNvPr>
          <p:cNvSpPr txBox="1"/>
          <p:nvPr/>
        </p:nvSpPr>
        <p:spPr>
          <a:xfrm>
            <a:off x="613897" y="5219580"/>
            <a:ext cx="5172429" cy="1200329"/>
          </a:xfrm>
          <a:prstGeom prst="rect">
            <a:avLst/>
          </a:prstGeom>
          <a:noFill/>
        </p:spPr>
        <p:txBody>
          <a:bodyPr wrap="square" rtlCol="0">
            <a:spAutoFit/>
          </a:bodyPr>
          <a:lstStyle/>
          <a:p>
            <a:pPr marL="285750" indent="-285750">
              <a:buFont typeface="Arial" panose="020B0604020202020204" pitchFamily="34" charset="0"/>
              <a:buChar char="•"/>
            </a:pPr>
            <a:r>
              <a:rPr lang="en-US" dirty="0"/>
              <a:t>For example :  (0p3/2) model:</a:t>
            </a:r>
          </a:p>
          <a:p>
            <a:pPr marL="742950" lvl="1" indent="-285750">
              <a:buFont typeface="Arial" panose="020B0604020202020204" pitchFamily="34" charset="0"/>
              <a:buChar char="•"/>
            </a:pPr>
            <a:r>
              <a:rPr lang="el-GR" altLang="ko-KR" dirty="0"/>
              <a:t>ε</a:t>
            </a:r>
            <a:r>
              <a:rPr lang="en-US" altLang="ko-KR" dirty="0"/>
              <a:t>=0, there are one J=0 and 5 J=0 modes</a:t>
            </a:r>
          </a:p>
          <a:p>
            <a:pPr marL="742950" lvl="1" indent="-285750">
              <a:buFont typeface="Arial" panose="020B0604020202020204" pitchFamily="34" charset="0"/>
              <a:buChar char="•"/>
            </a:pPr>
            <a:r>
              <a:rPr lang="el-GR" altLang="ko-KR" dirty="0"/>
              <a:t>ε</a:t>
            </a:r>
            <a:r>
              <a:rPr lang="en-US" altLang="ko-KR" dirty="0"/>
              <a:t>&gt; 1, there are only one J=0 mode</a:t>
            </a:r>
            <a:endParaRPr lang="en-US" dirty="0"/>
          </a:p>
          <a:p>
            <a:endParaRPr lang="en-US" dirty="0"/>
          </a:p>
        </p:txBody>
      </p:sp>
    </p:spTree>
    <p:extLst>
      <p:ext uri="{BB962C8B-B14F-4D97-AF65-F5344CB8AC3E}">
        <p14:creationId xmlns:p14="http://schemas.microsoft.com/office/powerpoint/2010/main" val="1869176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Attractive rank one limit</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2" name="TextBox 1">
            <a:extLst>
              <a:ext uri="{FF2B5EF4-FFF2-40B4-BE49-F238E27FC236}">
                <a16:creationId xmlns:a16="http://schemas.microsoft.com/office/drawing/2014/main" id="{0AAA5129-EE9C-45A3-A411-1E9E30F8B62A}"/>
              </a:ext>
            </a:extLst>
          </p:cNvPr>
          <p:cNvSpPr txBox="1"/>
          <p:nvPr/>
        </p:nvSpPr>
        <p:spPr>
          <a:xfrm>
            <a:off x="674648" y="1051699"/>
            <a:ext cx="10181063" cy="923330"/>
          </a:xfrm>
          <a:prstGeom prst="rect">
            <a:avLst/>
          </a:prstGeom>
          <a:noFill/>
        </p:spPr>
        <p:txBody>
          <a:bodyPr wrap="square" rtlCol="0">
            <a:spAutoFit/>
          </a:bodyPr>
          <a:lstStyle/>
          <a:p>
            <a:pPr marL="285750" indent="-285750">
              <a:buFont typeface="Arial" panose="020B0604020202020204" pitchFamily="34" charset="0"/>
              <a:buChar char="•"/>
            </a:pPr>
            <a:r>
              <a:rPr lang="en-US" dirty="0"/>
              <a:t>If the interaction is </a:t>
            </a:r>
            <a:r>
              <a:rPr lang="en-US" dirty="0">
                <a:solidFill>
                  <a:srgbClr val="FF0000"/>
                </a:solidFill>
              </a:rPr>
              <a:t>strictly attractive rank one </a:t>
            </a:r>
            <a:r>
              <a:rPr lang="el-GR" altLang="ko-KR" dirty="0"/>
              <a:t>ε</a:t>
            </a:r>
            <a:r>
              <a:rPr lang="en-US" altLang="ko-KR" dirty="0"/>
              <a:t>=0 limit</a:t>
            </a:r>
            <a:endParaRPr lang="en-US" dirty="0">
              <a:solidFill>
                <a:srgbClr val="FF0000"/>
              </a:solidFill>
            </a:endParaRPr>
          </a:p>
          <a:p>
            <a:pPr marL="285750" indent="-285750">
              <a:buFont typeface="Arial" panose="020B0604020202020204" pitchFamily="34" charset="0"/>
              <a:buChar char="•"/>
            </a:pPr>
            <a:endParaRPr lang="en-US" dirty="0">
              <a:solidFill>
                <a:srgbClr val="FF0000"/>
              </a:solidFill>
            </a:endParaRPr>
          </a:p>
          <a:p>
            <a:pPr marL="285750" indent="-285750">
              <a:buFont typeface="Arial" panose="020B0604020202020204" pitchFamily="34" charset="0"/>
              <a:buChar char="•"/>
            </a:pPr>
            <a:r>
              <a:rPr lang="en-US" dirty="0">
                <a:sym typeface="Wingdings" panose="05000000000000000000" pitchFamily="2" charset="2"/>
              </a:rPr>
              <a:t> </a:t>
            </a:r>
            <a:r>
              <a:rPr lang="en-US" altLang="ko-KR" dirty="0"/>
              <a:t>Pauli blocking imposes a lower bound on the rank-one four-neutron interaction energy</a:t>
            </a:r>
            <a:endParaRPr lang="en-US" dirty="0"/>
          </a:p>
        </p:txBody>
      </p:sp>
      <p:pic>
        <p:nvPicPr>
          <p:cNvPr id="4" name="그림 3">
            <a:extLst>
              <a:ext uri="{FF2B5EF4-FFF2-40B4-BE49-F238E27FC236}">
                <a16:creationId xmlns:a16="http://schemas.microsoft.com/office/drawing/2014/main" id="{612A74FE-990F-475F-8685-E356CFC7DCA8}"/>
              </a:ext>
            </a:extLst>
          </p:cNvPr>
          <p:cNvPicPr>
            <a:picLocks noChangeAspect="1"/>
          </p:cNvPicPr>
          <p:nvPr/>
        </p:nvPicPr>
        <p:blipFill>
          <a:blip r:embed="rId4"/>
          <a:stretch>
            <a:fillRect/>
          </a:stretch>
        </p:blipFill>
        <p:spPr>
          <a:xfrm>
            <a:off x="1102979" y="2102139"/>
            <a:ext cx="4662201" cy="470660"/>
          </a:xfrm>
          <a:prstGeom prst="rect">
            <a:avLst/>
          </a:prstGeom>
        </p:spPr>
      </p:pic>
      <p:sp>
        <p:nvSpPr>
          <p:cNvPr id="17" name="TextBox 16">
            <a:extLst>
              <a:ext uri="{FF2B5EF4-FFF2-40B4-BE49-F238E27FC236}">
                <a16:creationId xmlns:a16="http://schemas.microsoft.com/office/drawing/2014/main" id="{2A23282C-7AF2-4162-A99F-718D2CE821F6}"/>
              </a:ext>
            </a:extLst>
          </p:cNvPr>
          <p:cNvSpPr txBox="1"/>
          <p:nvPr/>
        </p:nvSpPr>
        <p:spPr>
          <a:xfrm>
            <a:off x="1067880" y="2708928"/>
            <a:ext cx="7518558" cy="369332"/>
          </a:xfrm>
          <a:prstGeom prst="rect">
            <a:avLst/>
          </a:prstGeom>
          <a:noFill/>
        </p:spPr>
        <p:txBody>
          <a:bodyPr wrap="square" rtlCol="0">
            <a:spAutoFit/>
          </a:bodyPr>
          <a:lstStyle/>
          <a:p>
            <a:r>
              <a:rPr lang="en-US" dirty="0"/>
              <a:t>E</a:t>
            </a:r>
            <a:r>
              <a:rPr lang="en-US" baseline="-25000" dirty="0"/>
              <a:t>N</a:t>
            </a:r>
            <a:r>
              <a:rPr lang="en-US" dirty="0"/>
              <a:t> :The lowest eigenvalue of attractive interaction in N-particle sector</a:t>
            </a:r>
          </a:p>
        </p:txBody>
      </p:sp>
      <p:pic>
        <p:nvPicPr>
          <p:cNvPr id="18" name="그림 17">
            <a:extLst>
              <a:ext uri="{FF2B5EF4-FFF2-40B4-BE49-F238E27FC236}">
                <a16:creationId xmlns:a16="http://schemas.microsoft.com/office/drawing/2014/main" id="{2EC265C2-2244-4D56-8D53-1B1354200B6D}"/>
              </a:ext>
            </a:extLst>
          </p:cNvPr>
          <p:cNvPicPr>
            <a:picLocks noChangeAspect="1"/>
          </p:cNvPicPr>
          <p:nvPr/>
        </p:nvPicPr>
        <p:blipFill>
          <a:blip r:embed="rId5"/>
          <a:stretch>
            <a:fillRect/>
          </a:stretch>
        </p:blipFill>
        <p:spPr>
          <a:xfrm>
            <a:off x="1351116" y="3061926"/>
            <a:ext cx="1200951" cy="499097"/>
          </a:xfrm>
          <a:prstGeom prst="rect">
            <a:avLst/>
          </a:prstGeom>
        </p:spPr>
      </p:pic>
      <p:pic>
        <p:nvPicPr>
          <p:cNvPr id="20" name="그림 19">
            <a:extLst>
              <a:ext uri="{FF2B5EF4-FFF2-40B4-BE49-F238E27FC236}">
                <a16:creationId xmlns:a16="http://schemas.microsoft.com/office/drawing/2014/main" id="{D5006413-83C3-45C9-B32B-34136748B670}"/>
              </a:ext>
            </a:extLst>
          </p:cNvPr>
          <p:cNvPicPr>
            <a:picLocks noChangeAspect="1"/>
          </p:cNvPicPr>
          <p:nvPr/>
        </p:nvPicPr>
        <p:blipFill>
          <a:blip r:embed="rId6"/>
          <a:stretch>
            <a:fillRect/>
          </a:stretch>
        </p:blipFill>
        <p:spPr>
          <a:xfrm>
            <a:off x="1351116" y="3637435"/>
            <a:ext cx="1200951" cy="354711"/>
          </a:xfrm>
          <a:prstGeom prst="rect">
            <a:avLst/>
          </a:prstGeom>
        </p:spPr>
      </p:pic>
      <p:pic>
        <p:nvPicPr>
          <p:cNvPr id="21" name="그림 20">
            <a:extLst>
              <a:ext uri="{FF2B5EF4-FFF2-40B4-BE49-F238E27FC236}">
                <a16:creationId xmlns:a16="http://schemas.microsoft.com/office/drawing/2014/main" id="{C14C52F6-ABE4-4C74-A2C6-A9063283B4F8}"/>
              </a:ext>
            </a:extLst>
          </p:cNvPr>
          <p:cNvPicPr>
            <a:picLocks noChangeAspect="1"/>
          </p:cNvPicPr>
          <p:nvPr/>
        </p:nvPicPr>
        <p:blipFill>
          <a:blip r:embed="rId7"/>
          <a:stretch>
            <a:fillRect/>
          </a:stretch>
        </p:blipFill>
        <p:spPr>
          <a:xfrm>
            <a:off x="1306973" y="4168168"/>
            <a:ext cx="1893428" cy="498270"/>
          </a:xfrm>
          <a:prstGeom prst="rect">
            <a:avLst/>
          </a:prstGeom>
        </p:spPr>
      </p:pic>
      <p:sp>
        <p:nvSpPr>
          <p:cNvPr id="22" name="TextBox 21">
            <a:extLst>
              <a:ext uri="{FF2B5EF4-FFF2-40B4-BE49-F238E27FC236}">
                <a16:creationId xmlns:a16="http://schemas.microsoft.com/office/drawing/2014/main" id="{ECB8D3FF-FDA8-4EE2-8C8D-078388FCFBC0}"/>
              </a:ext>
            </a:extLst>
          </p:cNvPr>
          <p:cNvSpPr txBox="1"/>
          <p:nvPr/>
        </p:nvSpPr>
        <p:spPr>
          <a:xfrm>
            <a:off x="691375" y="4733498"/>
            <a:ext cx="10361463" cy="2031325"/>
          </a:xfrm>
          <a:prstGeom prst="rect">
            <a:avLst/>
          </a:prstGeom>
          <a:noFill/>
        </p:spPr>
        <p:txBody>
          <a:bodyPr wrap="square" rtlCol="0">
            <a:spAutoFit/>
          </a:bodyPr>
          <a:lstStyle/>
          <a:p>
            <a:pPr marL="285750" indent="-285750">
              <a:buFont typeface="Arial" panose="020B0604020202020204" pitchFamily="34" charset="0"/>
              <a:buChar char="•"/>
            </a:pPr>
            <a:r>
              <a:rPr lang="en-US" dirty="0"/>
              <a:t>To have non-additive attraction of four neutrons, attractive rank have to be larger than one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Realistic interaction is not strictly attractive rank one.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3P2 provides another structure that four-neutron system can use when </a:t>
            </a:r>
            <a:r>
              <a:rPr lang="en-US" altLang="ko-KR" dirty="0"/>
              <a:t>repetition of the first pair mode is limited by Pauli blocking.</a:t>
            </a:r>
          </a:p>
          <a:p>
            <a:pPr marL="285750" indent="-285750">
              <a:buFont typeface="Arial" panose="020B0604020202020204" pitchFamily="34" charset="0"/>
              <a:buChar char="•"/>
            </a:pPr>
            <a:endParaRPr lang="en-US" dirty="0"/>
          </a:p>
        </p:txBody>
      </p:sp>
      <p:sp>
        <p:nvSpPr>
          <p:cNvPr id="23" name="TextBox 22">
            <a:extLst>
              <a:ext uri="{FF2B5EF4-FFF2-40B4-BE49-F238E27FC236}">
                <a16:creationId xmlns:a16="http://schemas.microsoft.com/office/drawing/2014/main" id="{BDCBD112-183C-40C2-8207-BBD5B7DEF088}"/>
              </a:ext>
            </a:extLst>
          </p:cNvPr>
          <p:cNvSpPr txBox="1"/>
          <p:nvPr/>
        </p:nvSpPr>
        <p:spPr>
          <a:xfrm>
            <a:off x="3455231" y="3544689"/>
            <a:ext cx="5131207" cy="369332"/>
          </a:xfrm>
          <a:prstGeom prst="rect">
            <a:avLst/>
          </a:prstGeom>
          <a:noFill/>
        </p:spPr>
        <p:txBody>
          <a:bodyPr wrap="square" rtlCol="0">
            <a:spAutoFit/>
          </a:bodyPr>
          <a:lstStyle/>
          <a:p>
            <a:r>
              <a:rPr lang="en-US" dirty="0"/>
              <a:t>(proof in Supplement in </a:t>
            </a:r>
            <a:r>
              <a:rPr lang="en-US" altLang="ko-KR" dirty="0">
                <a:hlinkClick r:id="rId8"/>
              </a:rPr>
              <a:t>arXiv:2608.25883</a:t>
            </a:r>
            <a:r>
              <a:rPr lang="en-US" altLang="ko-KR" dirty="0"/>
              <a:t> )</a:t>
            </a:r>
            <a:r>
              <a:rPr lang="en-US" dirty="0"/>
              <a:t> </a:t>
            </a:r>
          </a:p>
        </p:txBody>
      </p:sp>
    </p:spTree>
    <p:extLst>
      <p:ext uri="{BB962C8B-B14F-4D97-AF65-F5344CB8AC3E}">
        <p14:creationId xmlns:p14="http://schemas.microsoft.com/office/powerpoint/2010/main" val="2028722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923571" y="211790"/>
            <a:ext cx="7494288"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Four-body Cumulants</a:t>
            </a:r>
            <a:endParaRPr lang="ko-KR" altLang="en-US" sz="2400" dirty="0">
              <a:solidFill>
                <a:schemeClr val="bg1"/>
              </a:solidFill>
              <a:ea typeface="SUIT SemiBold" pitchFamily="50" charset="-127"/>
              <a:cs typeface="Pretendard Medium" panose="02000603000000020004" pitchFamily="50" charset="-127"/>
            </a:endParaRP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pic>
        <p:nvPicPr>
          <p:cNvPr id="3" name="그림 2">
            <a:extLst>
              <a:ext uri="{FF2B5EF4-FFF2-40B4-BE49-F238E27FC236}">
                <a16:creationId xmlns:a16="http://schemas.microsoft.com/office/drawing/2014/main" id="{732C5F2D-9BD0-4A1C-9881-70CD8B331890}"/>
              </a:ext>
            </a:extLst>
          </p:cNvPr>
          <p:cNvPicPr>
            <a:picLocks noChangeAspect="1"/>
          </p:cNvPicPr>
          <p:nvPr/>
        </p:nvPicPr>
        <p:blipFill>
          <a:blip r:embed="rId4"/>
          <a:stretch>
            <a:fillRect/>
          </a:stretch>
        </p:blipFill>
        <p:spPr>
          <a:xfrm>
            <a:off x="509862" y="2724613"/>
            <a:ext cx="10763728" cy="2782748"/>
          </a:xfrm>
          <a:prstGeom prst="rect">
            <a:avLst/>
          </a:prstGeom>
        </p:spPr>
      </p:pic>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762BF6F8-9E57-4A88-A792-074A4666F286}"/>
                  </a:ext>
                </a:extLst>
              </p:cNvPr>
              <p:cNvSpPr txBox="1"/>
              <p:nvPr/>
            </p:nvSpPr>
            <p:spPr>
              <a:xfrm>
                <a:off x="1020337" y="1452455"/>
                <a:ext cx="4505208" cy="2884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𝜌</m:t>
                          </m:r>
                        </m:e>
                        <m:sup>
                          <m:r>
                            <a:rPr lang="en-US" b="0" i="1" smtClean="0">
                              <a:latin typeface="Cambria Math" panose="02040503050406030204" pitchFamily="18" charset="0"/>
                            </a:rPr>
                            <m:t>(</m:t>
                          </m:r>
                          <m:r>
                            <a:rPr lang="en-US" b="0" i="1" smtClean="0">
                              <a:latin typeface="Cambria Math" panose="02040503050406030204" pitchFamily="18" charset="0"/>
                            </a:rPr>
                            <m:t>𝐼𝑉</m:t>
                          </m:r>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𝜌</m:t>
                          </m:r>
                        </m:e>
                        <m:sup>
                          <m:r>
                            <a:rPr lang="en-US" b="0" i="1" smtClean="0">
                              <a:latin typeface="Cambria Math" panose="02040503050406030204" pitchFamily="18" charset="0"/>
                            </a:rPr>
                            <m:t>(4)</m:t>
                          </m:r>
                        </m:sup>
                      </m:sSup>
                      <m:r>
                        <a:rPr lang="en-US" b="0" i="1" smtClean="0">
                          <a:latin typeface="Cambria Math" panose="02040503050406030204" pitchFamily="18" charset="0"/>
                        </a:rPr>
                        <m:t>−(</m:t>
                      </m:r>
                      <m:r>
                        <a:rPr lang="en-US" b="0" i="1" smtClean="0">
                          <a:latin typeface="Cambria Math" panose="02040503050406030204" pitchFamily="18" charset="0"/>
                        </a:rPr>
                        <m:t>𝑎𝑙𝑙</m:t>
                      </m:r>
                      <m:r>
                        <a:rPr lang="en-US" b="0" i="1" smtClean="0">
                          <a:latin typeface="Cambria Math" panose="02040503050406030204" pitchFamily="18" charset="0"/>
                        </a:rPr>
                        <m:t> </m:t>
                      </m:r>
                      <m:r>
                        <a:rPr lang="en-US" b="0" i="1" smtClean="0">
                          <a:latin typeface="Cambria Math" panose="02040503050406030204" pitchFamily="18" charset="0"/>
                        </a:rPr>
                        <m:t>𝑑𝑖𝑠𝑐𝑜𝑛𝑛𝑒𝑐𝑡𝑒𝑑</m:t>
                      </m:r>
                      <m:r>
                        <a:rPr lang="en-US" b="0" i="1" smtClean="0">
                          <a:latin typeface="Cambria Math" panose="02040503050406030204" pitchFamily="18" charset="0"/>
                        </a:rPr>
                        <m:t> </m:t>
                      </m:r>
                      <m:r>
                        <a:rPr lang="en-US" b="0" i="1" smtClean="0">
                          <a:latin typeface="Cambria Math" panose="02040503050406030204" pitchFamily="18" charset="0"/>
                        </a:rPr>
                        <m:t>𝑝𝑎𝑟𝑡𝑖𝑡𝑖𝑜𝑛𝑠</m:t>
                      </m:r>
                      <m:r>
                        <a:rPr lang="en-US" b="0" i="1" smtClean="0">
                          <a:latin typeface="Cambria Math" panose="02040503050406030204" pitchFamily="18" charset="0"/>
                        </a:rPr>
                        <m:t>)</m:t>
                      </m:r>
                    </m:oMath>
                  </m:oMathPara>
                </a14:m>
                <a:endParaRPr lang="en-US" dirty="0"/>
              </a:p>
            </p:txBody>
          </p:sp>
        </mc:Choice>
        <mc:Fallback>
          <p:sp>
            <p:nvSpPr>
              <p:cNvPr id="8" name="TextBox 7">
                <a:extLst>
                  <a:ext uri="{FF2B5EF4-FFF2-40B4-BE49-F238E27FC236}">
                    <a16:creationId xmlns:a16="http://schemas.microsoft.com/office/drawing/2014/main" id="{762BF6F8-9E57-4A88-A792-074A4666F286}"/>
                  </a:ext>
                </a:extLst>
              </p:cNvPr>
              <p:cNvSpPr txBox="1">
                <a:spLocks noRot="1" noChangeAspect="1" noMove="1" noResize="1" noEditPoints="1" noAdjustHandles="1" noChangeArrowheads="1" noChangeShapeType="1" noTextEdit="1"/>
              </p:cNvSpPr>
              <p:nvPr/>
            </p:nvSpPr>
            <p:spPr>
              <a:xfrm>
                <a:off x="1020337" y="1452455"/>
                <a:ext cx="4505208" cy="288477"/>
              </a:xfrm>
              <a:prstGeom prst="rect">
                <a:avLst/>
              </a:prstGeom>
              <a:blipFill>
                <a:blip r:embed="rId5"/>
                <a:stretch>
                  <a:fillRect l="-677" t="-6250" r="-1353" b="-33333"/>
                </a:stretch>
              </a:blipFill>
            </p:spPr>
            <p:txBody>
              <a:bodyPr/>
              <a:lstStyle/>
              <a:p>
                <a:r>
                  <a:rPr lang="en-US">
                    <a:noFill/>
                  </a:rPr>
                  <a:t> </a:t>
                </a:r>
              </a:p>
            </p:txBody>
          </p:sp>
        </mc:Fallback>
      </mc:AlternateContent>
      <p:pic>
        <p:nvPicPr>
          <p:cNvPr id="11" name="그림 10">
            <a:extLst>
              <a:ext uri="{FF2B5EF4-FFF2-40B4-BE49-F238E27FC236}">
                <a16:creationId xmlns:a16="http://schemas.microsoft.com/office/drawing/2014/main" id="{8EEE33A8-3FC1-460E-93E9-7E97C085B221}"/>
              </a:ext>
            </a:extLst>
          </p:cNvPr>
          <p:cNvPicPr>
            <a:picLocks noChangeAspect="1"/>
          </p:cNvPicPr>
          <p:nvPr/>
        </p:nvPicPr>
        <p:blipFill>
          <a:blip r:embed="rId6"/>
          <a:stretch>
            <a:fillRect/>
          </a:stretch>
        </p:blipFill>
        <p:spPr>
          <a:xfrm>
            <a:off x="1020337" y="1908768"/>
            <a:ext cx="3010320" cy="552527"/>
          </a:xfrm>
          <a:prstGeom prst="rect">
            <a:avLst/>
          </a:prstGeom>
        </p:spPr>
      </p:pic>
      <p:sp>
        <p:nvSpPr>
          <p:cNvPr id="12" name="직사각형 11">
            <a:extLst>
              <a:ext uri="{FF2B5EF4-FFF2-40B4-BE49-F238E27FC236}">
                <a16:creationId xmlns:a16="http://schemas.microsoft.com/office/drawing/2014/main" id="{62416D87-6DF8-4967-8EF0-D002B78D169E}"/>
              </a:ext>
            </a:extLst>
          </p:cNvPr>
          <p:cNvSpPr/>
          <p:nvPr/>
        </p:nvSpPr>
        <p:spPr>
          <a:xfrm>
            <a:off x="681448" y="5507361"/>
            <a:ext cx="10076693" cy="646331"/>
          </a:xfrm>
          <a:prstGeom prst="rect">
            <a:avLst/>
          </a:prstGeom>
        </p:spPr>
        <p:txBody>
          <a:bodyPr wrap="square">
            <a:spAutoFit/>
          </a:bodyPr>
          <a:lstStyle/>
          <a:p>
            <a:pPr marL="285750" indent="-285750">
              <a:buFont typeface="Arial" panose="020B0604020202020204" pitchFamily="34" charset="0"/>
              <a:buChar char="•"/>
            </a:pPr>
            <a:r>
              <a:rPr lang="en-US" altLang="ko-KR" dirty="0"/>
              <a:t>The cumulant is not a probability and does not directly measure binding</a:t>
            </a:r>
          </a:p>
          <a:p>
            <a:pPr marL="285750" indent="-285750">
              <a:buFont typeface="Arial" panose="020B0604020202020204" pitchFamily="34" charset="0"/>
              <a:buChar char="•"/>
            </a:pPr>
            <a:r>
              <a:rPr lang="en-US" altLang="ko-KR" dirty="0"/>
              <a:t>The dominant connected signal links (0p_{3/2}) and (0p_{1/2}),  not isolated (0p_{3/2}^4)</a:t>
            </a:r>
          </a:p>
        </p:txBody>
      </p:sp>
      <p:pic>
        <p:nvPicPr>
          <p:cNvPr id="14" name="그림 13">
            <a:extLst>
              <a:ext uri="{FF2B5EF4-FFF2-40B4-BE49-F238E27FC236}">
                <a16:creationId xmlns:a16="http://schemas.microsoft.com/office/drawing/2014/main" id="{77163CA2-F92F-4B1B-A25A-34D659986827}"/>
              </a:ext>
            </a:extLst>
          </p:cNvPr>
          <p:cNvPicPr>
            <a:picLocks noChangeAspect="1"/>
          </p:cNvPicPr>
          <p:nvPr/>
        </p:nvPicPr>
        <p:blipFill>
          <a:blip r:embed="rId7"/>
          <a:stretch>
            <a:fillRect/>
          </a:stretch>
        </p:blipFill>
        <p:spPr>
          <a:xfrm>
            <a:off x="9605045" y="1339150"/>
            <a:ext cx="2059131" cy="401782"/>
          </a:xfrm>
          <a:prstGeom prst="rect">
            <a:avLst/>
          </a:prstGeom>
        </p:spPr>
      </p:pic>
    </p:spTree>
    <p:extLst>
      <p:ext uri="{BB962C8B-B14F-4D97-AF65-F5344CB8AC3E}">
        <p14:creationId xmlns:p14="http://schemas.microsoft.com/office/powerpoint/2010/main" val="9056925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자유형: 도형 28">
            <a:extLst>
              <a:ext uri="{FF2B5EF4-FFF2-40B4-BE49-F238E27FC236}">
                <a16:creationId xmlns:a16="http://schemas.microsoft.com/office/drawing/2014/main" id="{8C217457-84B7-DBF0-5907-AEB057F7F70D}"/>
              </a:ext>
            </a:extLst>
          </p:cNvPr>
          <p:cNvSpPr/>
          <p:nvPr/>
        </p:nvSpPr>
        <p:spPr>
          <a:xfrm>
            <a:off x="-1" y="0"/>
            <a:ext cx="11982968" cy="1008355"/>
          </a:xfrm>
          <a:custGeom>
            <a:avLst/>
            <a:gdLst>
              <a:gd name="connsiteX0" fmla="*/ 0 w 11982968"/>
              <a:gd name="connsiteY0" fmla="*/ 0 h 1008355"/>
              <a:gd name="connsiteX1" fmla="*/ 1106905 w 11982968"/>
              <a:gd name="connsiteY1" fmla="*/ 0 h 1008355"/>
              <a:gd name="connsiteX2" fmla="*/ 1106905 w 11982968"/>
              <a:gd name="connsiteY2" fmla="*/ 1 h 1008355"/>
              <a:gd name="connsiteX3" fmla="*/ 11474555 w 11982968"/>
              <a:gd name="connsiteY3" fmla="*/ 1 h 1008355"/>
              <a:gd name="connsiteX4" fmla="*/ 11982968 w 11982968"/>
              <a:gd name="connsiteY4" fmla="*/ 504178 h 1008355"/>
              <a:gd name="connsiteX5" fmla="*/ 11474555 w 11982968"/>
              <a:gd name="connsiteY5" fmla="*/ 1008355 h 1008355"/>
              <a:gd name="connsiteX6" fmla="*/ 791995 w 11982968"/>
              <a:gd name="connsiteY6" fmla="*/ 1008355 h 1008355"/>
              <a:gd name="connsiteX7" fmla="*/ 791995 w 11982968"/>
              <a:gd name="connsiteY7" fmla="*/ 1008354 h 1008355"/>
              <a:gd name="connsiteX8" fmla="*/ 0 w 11982968"/>
              <a:gd name="connsiteY8" fmla="*/ 1008354 h 1008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982968" h="1008355">
                <a:moveTo>
                  <a:pt x="0" y="0"/>
                </a:moveTo>
                <a:lnTo>
                  <a:pt x="1106905" y="0"/>
                </a:lnTo>
                <a:lnTo>
                  <a:pt x="1106905" y="1"/>
                </a:lnTo>
                <a:lnTo>
                  <a:pt x="11474555" y="1"/>
                </a:lnTo>
                <a:cubicBezTo>
                  <a:pt x="11755343" y="1"/>
                  <a:pt x="11982968" y="225729"/>
                  <a:pt x="11982968" y="504178"/>
                </a:cubicBezTo>
                <a:cubicBezTo>
                  <a:pt x="11982968" y="782627"/>
                  <a:pt x="11755343" y="1008355"/>
                  <a:pt x="11474555" y="1008355"/>
                </a:cubicBezTo>
                <a:lnTo>
                  <a:pt x="791995" y="1008355"/>
                </a:lnTo>
                <a:lnTo>
                  <a:pt x="791995" y="1008354"/>
                </a:lnTo>
                <a:lnTo>
                  <a:pt x="0" y="1008354"/>
                </a:lnTo>
                <a:close/>
              </a:path>
            </a:pathLst>
          </a:custGeom>
          <a:gradFill>
            <a:gsLst>
              <a:gs pos="10000">
                <a:srgbClr val="0097E0"/>
              </a:gs>
              <a:gs pos="90000">
                <a:srgbClr val="00539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ko-KR" altLang="en-US"/>
          </a:p>
        </p:txBody>
      </p:sp>
      <p:sp>
        <p:nvSpPr>
          <p:cNvPr id="25" name="TextBox 24">
            <a:extLst>
              <a:ext uri="{FF2B5EF4-FFF2-40B4-BE49-F238E27FC236}">
                <a16:creationId xmlns:a16="http://schemas.microsoft.com/office/drawing/2014/main" id="{DB975493-325C-B395-0388-8A9AEF398447}"/>
              </a:ext>
            </a:extLst>
          </p:cNvPr>
          <p:cNvSpPr txBox="1"/>
          <p:nvPr/>
        </p:nvSpPr>
        <p:spPr>
          <a:xfrm>
            <a:off x="400254" y="211790"/>
            <a:ext cx="9469756" cy="584775"/>
          </a:xfrm>
          <a:prstGeom prst="rect">
            <a:avLst/>
          </a:prstGeom>
          <a:noFill/>
        </p:spPr>
        <p:txBody>
          <a:bodyPr wrap="square" rtlCol="0">
            <a:spAutoFit/>
          </a:bodyPr>
          <a:lstStyle/>
          <a:p>
            <a:r>
              <a:rPr lang="en-US" altLang="ko-KR" sz="3200" dirty="0">
                <a:solidFill>
                  <a:schemeClr val="bg1"/>
                </a:solidFill>
                <a:ea typeface="SUIT SemiBold" pitchFamily="50" charset="-127"/>
                <a:cs typeface="Pretendard Medium" panose="02000603000000020004" pitchFamily="50" charset="-127"/>
              </a:rPr>
              <a:t>Summary</a:t>
            </a:r>
          </a:p>
        </p:txBody>
      </p:sp>
      <p:pic>
        <p:nvPicPr>
          <p:cNvPr id="7" name="그림 6" descr="텍스트, 폰트, 그래픽, 스크린샷이(가) 표시된 사진&#10;&#10;자동 생성된 설명">
            <a:extLst>
              <a:ext uri="{FF2B5EF4-FFF2-40B4-BE49-F238E27FC236}">
                <a16:creationId xmlns:a16="http://schemas.microsoft.com/office/drawing/2014/main" id="{D2F44C09-B269-91F3-FB75-4D68F63A7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0010" y="275307"/>
            <a:ext cx="1921737" cy="452868"/>
          </a:xfrm>
          <a:prstGeom prst="rect">
            <a:avLst/>
          </a:prstGeom>
        </p:spPr>
      </p:pic>
      <p:sp>
        <p:nvSpPr>
          <p:cNvPr id="2" name="TextBox 1">
            <a:extLst>
              <a:ext uri="{FF2B5EF4-FFF2-40B4-BE49-F238E27FC236}">
                <a16:creationId xmlns:a16="http://schemas.microsoft.com/office/drawing/2014/main" id="{85B9F0C3-3E74-4650-AD76-4E7B83B4B7BB}"/>
              </a:ext>
            </a:extLst>
          </p:cNvPr>
          <p:cNvSpPr txBox="1"/>
          <p:nvPr/>
        </p:nvSpPr>
        <p:spPr>
          <a:xfrm>
            <a:off x="551390" y="1283662"/>
            <a:ext cx="11089220" cy="5324535"/>
          </a:xfrm>
          <a:prstGeom prst="rect">
            <a:avLst/>
          </a:prstGeom>
          <a:noFill/>
        </p:spPr>
        <p:txBody>
          <a:bodyPr wrap="square" rtlCol="0">
            <a:spAutoFit/>
          </a:bodyPr>
          <a:lstStyle/>
          <a:p>
            <a:pPr marL="285750" indent="-285750">
              <a:buFont typeface="Arial" panose="020B0604020202020204" pitchFamily="34" charset="0"/>
              <a:buChar char="•"/>
            </a:pPr>
            <a:r>
              <a:rPr lang="en-US" sz="2000" dirty="0"/>
              <a:t>Energies : nonadditive binding of additional neutrons</a:t>
            </a:r>
          </a:p>
          <a:p>
            <a:pPr marL="742950" lvl="1" indent="-285750">
              <a:buFont typeface="Arial" panose="020B0604020202020204" pitchFamily="34" charset="0"/>
              <a:buChar char="•"/>
            </a:pPr>
            <a:r>
              <a:rPr lang="en-US" sz="2000" dirty="0"/>
              <a:t>Negative X_H and </a:t>
            </a:r>
            <a:r>
              <a:rPr lang="en-US" sz="2000" dirty="0" err="1"/>
              <a:t>X_nnV</a:t>
            </a:r>
            <a:endParaRPr lang="en-US" sz="2000" dirty="0"/>
          </a:p>
          <a:p>
            <a:pPr marL="742950" lvl="1"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Interaction mechanism</a:t>
            </a:r>
          </a:p>
          <a:p>
            <a:pPr marL="800100" lvl="1" indent="-342900">
              <a:buFont typeface="Arial" panose="020B0604020202020204" pitchFamily="34" charset="0"/>
              <a:buChar char="•"/>
            </a:pPr>
            <a:r>
              <a:rPr lang="en-US" sz="2000" dirty="0"/>
              <a:t>1S0 : </a:t>
            </a:r>
            <a:r>
              <a:rPr lang="en-US" altLang="ko-KR" sz="2000" dirty="0"/>
              <a:t>substantial conventional pairing attraction</a:t>
            </a:r>
          </a:p>
          <a:p>
            <a:pPr marL="800100" lvl="1" indent="-342900">
              <a:buFont typeface="Arial" panose="020B0604020202020204" pitchFamily="34" charset="0"/>
              <a:buChar char="•"/>
            </a:pPr>
            <a:r>
              <a:rPr lang="en-US" sz="2000" dirty="0"/>
              <a:t>3P2 : </a:t>
            </a:r>
            <a:r>
              <a:rPr lang="en-US" altLang="ko-KR" sz="2000" dirty="0"/>
              <a:t>largest additional attractive contribution</a:t>
            </a:r>
          </a:p>
          <a:p>
            <a:pPr marL="742950" lvl="1" indent="-285750">
              <a:buFont typeface="Arial" panose="020B0604020202020204" pitchFamily="34" charset="0"/>
              <a:buChar char="•"/>
            </a:pPr>
            <a:r>
              <a:rPr lang="en-US" altLang="ko-KR" sz="2000" dirty="0"/>
              <a:t>Pauli blocking limits repeated use of a single pair mode</a:t>
            </a:r>
          </a:p>
          <a:p>
            <a:pPr marL="800100" lvl="1" indent="-342900">
              <a:buFont typeface="Arial" panose="020B0604020202020204" pitchFamily="34" charset="0"/>
              <a:buChar char="•"/>
            </a:pPr>
            <a:r>
              <a:rPr lang="en-US" sz="2000" dirty="0"/>
              <a:t>3P2 </a:t>
            </a:r>
            <a:r>
              <a:rPr lang="en-US" altLang="ko-KR" sz="2000" dirty="0"/>
              <a:t>makes an additional net pair sector sufficiently attractive</a:t>
            </a:r>
          </a:p>
          <a:p>
            <a:pPr marL="800100" lvl="1" indent="-342900">
              <a:buFont typeface="Arial" panose="020B0604020202020204" pitchFamily="34" charset="0"/>
              <a:buChar char="•"/>
            </a:pPr>
            <a:endParaRPr lang="en-US" altLang="ko-KR" sz="2000" dirty="0"/>
          </a:p>
          <a:p>
            <a:pPr marL="285750" indent="-285750">
              <a:buFont typeface="Arial" panose="020B0604020202020204" pitchFamily="34" charset="0"/>
              <a:buChar char="•"/>
            </a:pPr>
            <a:r>
              <a:rPr lang="en-US" altLang="ko-KR" sz="2000" dirty="0"/>
              <a:t>Many-body structure — beyond an inert shell closure</a:t>
            </a:r>
          </a:p>
          <a:p>
            <a:pPr marL="742950" lvl="1" indent="-285750">
              <a:buFont typeface="Arial" panose="020B0604020202020204" pitchFamily="34" charset="0"/>
              <a:buChar char="•"/>
            </a:pPr>
            <a:r>
              <a:rPr lang="en-US" altLang="ko-KR" sz="2000" dirty="0"/>
              <a:t>Irreducible three-subshell interaction contributions</a:t>
            </a:r>
          </a:p>
          <a:p>
            <a:pPr marL="742950" lvl="1" indent="-285750">
              <a:buFont typeface="Arial" panose="020B0604020202020204" pitchFamily="34" charset="0"/>
              <a:buChar char="•"/>
            </a:pPr>
            <a:r>
              <a:rPr lang="en-US" altLang="ko-KR" sz="2000" dirty="0"/>
              <a:t>Connected four-neutron density cumulants</a:t>
            </a:r>
          </a:p>
          <a:p>
            <a:pPr marL="742950" lvl="1" indent="-285750">
              <a:buFont typeface="Arial" panose="020B0604020202020204" pitchFamily="34" charset="0"/>
              <a:buChar char="•"/>
            </a:pPr>
            <a:r>
              <a:rPr lang="en-US" altLang="ko-KR" sz="2000" dirty="0"/>
              <a:t>Correlations extend beyond ((0p_{3/2})^4)</a:t>
            </a:r>
          </a:p>
          <a:p>
            <a:pPr marL="742950" lvl="1" indent="-285750">
              <a:buFont typeface="Arial" panose="020B0604020202020204" pitchFamily="34" charset="0"/>
              <a:buChar char="•"/>
            </a:pPr>
            <a:endParaRPr lang="en-US" altLang="ko-KR" sz="2000" dirty="0"/>
          </a:p>
          <a:p>
            <a:pPr marL="285750" indent="-285750">
              <a:buFont typeface="Arial" panose="020B0604020202020204" pitchFamily="34" charset="0"/>
              <a:buChar char="•"/>
            </a:pPr>
            <a:r>
              <a:rPr lang="en-US" altLang="ko-KR" sz="2000" dirty="0"/>
              <a:t>No single observable uniquely identifies quartet formation</a:t>
            </a:r>
          </a:p>
          <a:p>
            <a:pPr marL="285750" indent="-285750">
              <a:buFont typeface="Arial" panose="020B0604020202020204" pitchFamily="34" charset="0"/>
              <a:buChar char="•"/>
            </a:pPr>
            <a:r>
              <a:rPr lang="en-US" altLang="ko-KR" sz="2000" dirty="0"/>
              <a:t>but the complementary results provide coherent supporting evidence for it. </a:t>
            </a:r>
          </a:p>
          <a:p>
            <a:pPr marL="742950" lvl="1" indent="-285750">
              <a:buFont typeface="Arial" panose="020B0604020202020204" pitchFamily="34" charset="0"/>
              <a:buChar char="•"/>
            </a:pPr>
            <a:endParaRPr lang="en-US" altLang="ko-KR" sz="2000" b="1" dirty="0"/>
          </a:p>
        </p:txBody>
      </p:sp>
    </p:spTree>
    <p:extLst>
      <p:ext uri="{BB962C8B-B14F-4D97-AF65-F5344CB8AC3E}">
        <p14:creationId xmlns:p14="http://schemas.microsoft.com/office/powerpoint/2010/main" val="42156797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그림 1">
            <a:extLst>
              <a:ext uri="{FF2B5EF4-FFF2-40B4-BE49-F238E27FC236}">
                <a16:creationId xmlns:a16="http://schemas.microsoft.com/office/drawing/2014/main" id="{E30DAE5F-6C8A-EB15-4B13-12611716755A}"/>
              </a:ext>
            </a:extLst>
          </p:cNvPr>
          <p:cNvPicPr>
            <a:picLocks noChangeAspect="1"/>
          </p:cNvPicPr>
          <p:nvPr/>
        </p:nvPicPr>
        <p:blipFill>
          <a:blip r:embed="rId2">
            <a:extLst>
              <a:ext uri="{28A0092B-C50C-407E-A947-70E740481C1C}">
                <a14:useLocalDpi xmlns:a14="http://schemas.microsoft.com/office/drawing/2010/main" val="0"/>
              </a:ext>
            </a:extLst>
          </a:blip>
          <a:srcRect t="7909" b="7909"/>
          <a:stretch/>
        </p:blipFill>
        <p:spPr>
          <a:xfrm>
            <a:off x="0" y="0"/>
            <a:ext cx="12192000" cy="6858000"/>
          </a:xfrm>
          <a:prstGeom prst="rect">
            <a:avLst/>
          </a:prstGeom>
        </p:spPr>
      </p:pic>
      <p:sp>
        <p:nvSpPr>
          <p:cNvPr id="3" name="직사각형 2">
            <a:extLst>
              <a:ext uri="{FF2B5EF4-FFF2-40B4-BE49-F238E27FC236}">
                <a16:creationId xmlns:a16="http://schemas.microsoft.com/office/drawing/2014/main" id="{5E233309-CB97-822F-9A7C-60AE33264332}"/>
              </a:ext>
            </a:extLst>
          </p:cNvPr>
          <p:cNvSpPr/>
          <p:nvPr/>
        </p:nvSpPr>
        <p:spPr>
          <a:xfrm>
            <a:off x="0" y="0"/>
            <a:ext cx="12192000" cy="6858000"/>
          </a:xfrm>
          <a:prstGeom prst="rect">
            <a:avLst/>
          </a:prstGeom>
          <a:solidFill>
            <a:srgbClr val="004098">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t>  </a:t>
            </a:r>
            <a:endParaRPr lang="ko-KR" altLang="en-US" dirty="0"/>
          </a:p>
        </p:txBody>
      </p:sp>
      <p:sp>
        <p:nvSpPr>
          <p:cNvPr id="4" name="TextBox 3">
            <a:extLst>
              <a:ext uri="{FF2B5EF4-FFF2-40B4-BE49-F238E27FC236}">
                <a16:creationId xmlns:a16="http://schemas.microsoft.com/office/drawing/2014/main" id="{CCF8E078-21B8-4D83-81B7-B664C89F6FDD}"/>
              </a:ext>
            </a:extLst>
          </p:cNvPr>
          <p:cNvSpPr txBox="1"/>
          <p:nvPr/>
        </p:nvSpPr>
        <p:spPr>
          <a:xfrm>
            <a:off x="775029" y="3013502"/>
            <a:ext cx="6442477" cy="830997"/>
          </a:xfrm>
          <a:prstGeom prst="rect">
            <a:avLst/>
          </a:prstGeom>
          <a:noFill/>
        </p:spPr>
        <p:txBody>
          <a:bodyPr wrap="square" rtlCol="0">
            <a:spAutoFit/>
          </a:bodyPr>
          <a:lstStyle/>
          <a:p>
            <a:r>
              <a:rPr lang="en-US" altLang="ko-KR" sz="4800" dirty="0">
                <a:solidFill>
                  <a:schemeClr val="bg1"/>
                </a:solidFill>
                <a:ea typeface="SUIT ExtraBold" pitchFamily="50" charset="-127"/>
                <a:cs typeface="Pretendard Medium" panose="02000603000000020004" pitchFamily="50" charset="-127"/>
              </a:rPr>
              <a:t>Thank You</a:t>
            </a:r>
            <a:endParaRPr lang="ko-KR" altLang="en-US" sz="4000" dirty="0">
              <a:solidFill>
                <a:schemeClr val="bg1"/>
              </a:solidFill>
              <a:ea typeface="SUIT ExtraBold" pitchFamily="50" charset="-127"/>
              <a:cs typeface="Pretendard Medium" panose="02000603000000020004" pitchFamily="50" charset="-127"/>
            </a:endParaRPr>
          </a:p>
        </p:txBody>
      </p:sp>
      <p:pic>
        <p:nvPicPr>
          <p:cNvPr id="10" name="그림 9" descr="텍스트, 폰트, 그래픽, 스크린샷이(가) 표시된 사진&#10;&#10;자동 생성된 설명">
            <a:extLst>
              <a:ext uri="{FF2B5EF4-FFF2-40B4-BE49-F238E27FC236}">
                <a16:creationId xmlns:a16="http://schemas.microsoft.com/office/drawing/2014/main" id="{A5AFB75F-7A6E-1F8C-5153-FDFF21AC5A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2034" y="3171635"/>
            <a:ext cx="2569142" cy="514731"/>
          </a:xfrm>
          <a:prstGeom prst="rect">
            <a:avLst/>
          </a:prstGeom>
        </p:spPr>
      </p:pic>
    </p:spTree>
    <p:extLst>
      <p:ext uri="{BB962C8B-B14F-4D97-AF65-F5344CB8AC3E}">
        <p14:creationId xmlns:p14="http://schemas.microsoft.com/office/powerpoint/2010/main" val="1125895535"/>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4892</TotalTime>
  <Words>4694</Words>
  <Application>Microsoft Office PowerPoint</Application>
  <PresentationFormat>와이드스크린</PresentationFormat>
  <Paragraphs>286</Paragraphs>
  <Slides>20</Slides>
  <Notes>18</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20</vt:i4>
      </vt:variant>
    </vt:vector>
  </HeadingPairs>
  <TitlesOfParts>
    <vt:vector size="32" baseType="lpstr">
      <vt:lpstr>Pretendard ExtraBold</vt:lpstr>
      <vt:lpstr>Pretendard Medium</vt:lpstr>
      <vt:lpstr>SUIT ExtraBold</vt:lpstr>
      <vt:lpstr>SUIT SemiBold</vt:lpstr>
      <vt:lpstr>굴림</vt:lpstr>
      <vt:lpstr>돋움</vt:lpstr>
      <vt:lpstr>맑은 고딕</vt:lpstr>
      <vt:lpstr>Arial</vt:lpstr>
      <vt:lpstr>Arial Black</vt:lpstr>
      <vt:lpstr>Cambria Math</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Office</dc:creator>
  <cp:lastModifiedBy>User</cp:lastModifiedBy>
  <cp:revision>97</cp:revision>
  <dcterms:created xsi:type="dcterms:W3CDTF">2024-06-24T06:18:32Z</dcterms:created>
  <dcterms:modified xsi:type="dcterms:W3CDTF">2026-09-12T02:01:42Z</dcterms:modified>
</cp:coreProperties>
</file>