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6" r:id="rId2"/>
    <p:sldId id="325" r:id="rId3"/>
    <p:sldId id="326" r:id="rId4"/>
    <p:sldId id="334" r:id="rId5"/>
    <p:sldId id="327" r:id="rId6"/>
    <p:sldId id="335" r:id="rId7"/>
    <p:sldId id="336" r:id="rId8"/>
    <p:sldId id="328" r:id="rId9"/>
    <p:sldId id="329" r:id="rId10"/>
    <p:sldId id="330" r:id="rId11"/>
    <p:sldId id="337" r:id="rId12"/>
    <p:sldId id="339" r:id="rId13"/>
    <p:sldId id="338" r:id="rId14"/>
    <p:sldId id="340" r:id="rId15"/>
    <p:sldId id="341" r:id="rId16"/>
    <p:sldId id="331" r:id="rId17"/>
    <p:sldId id="342" r:id="rId18"/>
    <p:sldId id="332" r:id="rId19"/>
    <p:sldId id="324" r:id="rId20"/>
    <p:sldId id="287" r:id="rId2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5C2"/>
    <a:srgbClr val="004098"/>
    <a:srgbClr val="005391"/>
    <a:srgbClr val="9FDFFF"/>
    <a:srgbClr val="0097E0"/>
    <a:srgbClr val="0079C0"/>
    <a:srgbClr val="002642"/>
    <a:srgbClr val="D9F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86" d="100"/>
          <a:sy n="86" d="100"/>
        </p:scale>
        <p:origin x="108" y="96"/>
      </p:cViewPr>
      <p:guideLst/>
    </p:cSldViewPr>
  </p:slideViewPr>
  <p:notesTextViewPr>
    <p:cViewPr>
      <p:scale>
        <a:sx n="3" d="2"/>
        <a:sy n="3" d="2"/>
      </p:scale>
      <p:origin x="0" y="0"/>
    </p:cViewPr>
  </p:notesTextViewPr>
  <p:notesViewPr>
    <p:cSldViewPr snapToGrid="0">
      <p:cViewPr varScale="1">
        <p:scale>
          <a:sx n="86" d="100"/>
          <a:sy n="86" d="100"/>
        </p:scale>
        <p:origin x="386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E2B8D-CCD9-4688-A868-6496788B9708}" type="datetimeFigureOut">
              <a:rPr lang="en-US" smtClean="0"/>
              <a:t>9/11/2026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0259F3-1C4C-45FF-8048-D8C18BB64F7D}" type="slidenum">
              <a:rPr lang="en-US" smtClean="0"/>
              <a:t>‹#›</a:t>
            </a:fld>
            <a:endParaRPr lang="en-US"/>
          </a:p>
        </p:txBody>
      </p:sp>
    </p:spTree>
    <p:extLst>
      <p:ext uri="{BB962C8B-B14F-4D97-AF65-F5344CB8AC3E}">
        <p14:creationId xmlns:p14="http://schemas.microsoft.com/office/powerpoint/2010/main" val="180594375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p>
        </p:txBody>
      </p:sp>
      <p:sp>
        <p:nvSpPr>
          <p:cNvPr id="4" name="슬라이드 번호 개체 틀 3"/>
          <p:cNvSpPr>
            <a:spLocks noGrp="1"/>
          </p:cNvSpPr>
          <p:nvPr>
            <p:ph type="sldNum" sz="quarter" idx="5"/>
          </p:nvPr>
        </p:nvSpPr>
        <p:spPr/>
        <p:txBody>
          <a:bodyPr/>
          <a:lstStyle/>
          <a:p>
            <a:fld id="{020259F3-1C4C-45FF-8048-D8C18BB64F7D}" type="slidenum">
              <a:rPr lang="en-US" smtClean="0"/>
              <a:t>2</a:t>
            </a:fld>
            <a:endParaRPr lang="en-US"/>
          </a:p>
        </p:txBody>
      </p:sp>
    </p:spTree>
    <p:extLst>
      <p:ext uri="{BB962C8B-B14F-4D97-AF65-F5344CB8AC3E}">
        <p14:creationId xmlns:p14="http://schemas.microsoft.com/office/powerpoint/2010/main" val="3433567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p>
        </p:txBody>
      </p:sp>
      <p:sp>
        <p:nvSpPr>
          <p:cNvPr id="4" name="슬라이드 번호 개체 틀 3"/>
          <p:cNvSpPr>
            <a:spLocks noGrp="1"/>
          </p:cNvSpPr>
          <p:nvPr>
            <p:ph type="sldNum" sz="quarter" idx="5"/>
          </p:nvPr>
        </p:nvSpPr>
        <p:spPr/>
        <p:txBody>
          <a:bodyPr/>
          <a:lstStyle/>
          <a:p>
            <a:fld id="{020259F3-1C4C-45FF-8048-D8C18BB64F7D}" type="slidenum">
              <a:rPr lang="en-US" smtClean="0"/>
              <a:t>3</a:t>
            </a:fld>
            <a:endParaRPr lang="en-US"/>
          </a:p>
        </p:txBody>
      </p:sp>
    </p:spTree>
    <p:extLst>
      <p:ext uri="{BB962C8B-B14F-4D97-AF65-F5344CB8AC3E}">
        <p14:creationId xmlns:p14="http://schemas.microsoft.com/office/powerpoint/2010/main" val="2220306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How might we interpret the enhanced binding of the second neutron pair in helium-8?</a:t>
            </a:r>
          </a:p>
          <a:p>
            <a:r>
              <a:rPr lang="en-US" altLang="ko-KR" dirty="0"/>
              <a:t>Pairing is, of course, familiar in nuclear physics. In finite nuclei, pairing produces characteristic binding-energy effects, while in extended neutron matter it leads to superfluidity. Conventionally, we often describe such a system in terms of one dominant pairing mode.</a:t>
            </a:r>
          </a:p>
          <a:p>
            <a:r>
              <a:rPr lang="en-US" altLang="ko-KR" dirty="0"/>
              <a:t>Recent work by Ma and collaborators proposes a richer phase called multimodal neutron superfluidity. In their calculations, several correlated structures coexist: spin-singlet s-wave pairs, p-wave pairs appearing in entangled double-pair combinations, and neutron quartets that can be viewed as bound states of two s-wave pairs.</a:t>
            </a:r>
          </a:p>
          <a:p>
            <a:r>
              <a:rPr lang="en-US" altLang="ko-KR" dirty="0"/>
              <a:t>This result concerns extended neutron matter, so we should not identify it directly with helium-8. Instead, it motivates a question: could the four valence neutrons of helium-8 realize a finite-system analogue of the same quartet-binding mechanism?</a:t>
            </a:r>
          </a:p>
          <a:p>
            <a:r>
              <a:rPr lang="en-US" altLang="ko-KR" dirty="0"/>
              <a:t>To investigate that question, we will use a different ab initio framework—the no-core shell model.</a:t>
            </a:r>
          </a:p>
          <a:p>
            <a:endParaRPr lang="en-US" dirty="0"/>
          </a:p>
        </p:txBody>
      </p:sp>
      <p:sp>
        <p:nvSpPr>
          <p:cNvPr id="4" name="슬라이드 번호 개체 틀 3"/>
          <p:cNvSpPr>
            <a:spLocks noGrp="1"/>
          </p:cNvSpPr>
          <p:nvPr>
            <p:ph type="sldNum" sz="quarter" idx="5"/>
          </p:nvPr>
        </p:nvSpPr>
        <p:spPr/>
        <p:txBody>
          <a:bodyPr/>
          <a:lstStyle/>
          <a:p>
            <a:fld id="{020259F3-1C4C-45FF-8048-D8C18BB64F7D}" type="slidenum">
              <a:rPr lang="en-US" smtClean="0"/>
              <a:t>4</a:t>
            </a:fld>
            <a:endParaRPr lang="en-US"/>
          </a:p>
        </p:txBody>
      </p:sp>
    </p:spTree>
    <p:extLst>
      <p:ext uri="{BB962C8B-B14F-4D97-AF65-F5344CB8AC3E}">
        <p14:creationId xmlns:p14="http://schemas.microsoft.com/office/powerpoint/2010/main" val="3531739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figure summarizes the concept of multimodal superfluidity.</a:t>
            </a:r>
          </a:p>
          <a:p>
            <a:r>
              <a:rPr lang="en-US" altLang="ko-KR" dirty="0"/>
              <a:t>On the left are the relevant correlated structures. We have the familiar spin-singlet s-wave pair, a p-wave pair, and a quartet composed of two s-wave pairs bound together.</a:t>
            </a:r>
          </a:p>
          <a:p>
            <a:r>
              <a:rPr lang="en-US" altLang="ko-KR" dirty="0"/>
              <a:t>The schematic phase diagram on the right shows what happens as the s-wave and p-wave interactions are varied. With attraction in only one channel, the system may favor an ordinary s-wave or p-wave superfluid. When both interactions provide sufficient attraction, an intermediate region appears in which several modes coexist—the multimodal-superfluid phase.</a:t>
            </a:r>
          </a:p>
          <a:p>
            <a:r>
              <a:rPr lang="en-US" altLang="ko-KR" dirty="0"/>
              <a:t>The precise phase boundaries are model dependent. The important point for this talk is that the quartet is not an isolated four-neutron state. It is a correlated structure embedded in a many-body system together with pair correlations.</a:t>
            </a:r>
          </a:p>
          <a:p>
            <a:endParaRPr lang="en-US" dirty="0"/>
          </a:p>
        </p:txBody>
      </p:sp>
      <p:sp>
        <p:nvSpPr>
          <p:cNvPr id="4" name="슬라이드 번호 개체 틀 3"/>
          <p:cNvSpPr>
            <a:spLocks noGrp="1"/>
          </p:cNvSpPr>
          <p:nvPr>
            <p:ph type="sldNum" sz="quarter" idx="5"/>
          </p:nvPr>
        </p:nvSpPr>
        <p:spPr/>
        <p:txBody>
          <a:bodyPr/>
          <a:lstStyle/>
          <a:p>
            <a:fld id="{020259F3-1C4C-45FF-8048-D8C18BB64F7D}" type="slidenum">
              <a:rPr lang="en-US" smtClean="0"/>
              <a:t>5</a:t>
            </a:fld>
            <a:endParaRPr lang="en-US"/>
          </a:p>
        </p:txBody>
      </p:sp>
    </p:spTree>
    <p:extLst>
      <p:ext uri="{BB962C8B-B14F-4D97-AF65-F5344CB8AC3E}">
        <p14:creationId xmlns:p14="http://schemas.microsoft.com/office/powerpoint/2010/main" val="751141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authors first demonstrate this behavior in a generalized attractive extended Hubbard model on a three-dimensional lattice.</a:t>
            </a:r>
          </a:p>
          <a:p>
            <a:r>
              <a:rPr lang="en-US" altLang="ko-KR" dirty="0"/>
              <a:t>Panel a shows the one-body momentum distribution and the location of the Fermi momentum. Panels b and c show nonzero s-wave and p-wave pair distributions, while panel d shows a substantial quartet distribution.</a:t>
            </a:r>
          </a:p>
          <a:p>
            <a:r>
              <a:rPr lang="en-US" altLang="ko-KR" dirty="0"/>
              <a:t>These signals occur simultaneously in the same calculated ground state. Therefore, the system cannot be characterized adequately by only one pairing channel.</a:t>
            </a:r>
          </a:p>
          <a:p>
            <a:r>
              <a:rPr lang="en-US" altLang="ko-KR" dirty="0"/>
              <a:t>This model provides a controlled demonstration of the mechanism, but it is still a generic fermionic lattice model. The next question is whether the same qualitative structure survives for a realistic neutron interaction.</a:t>
            </a:r>
          </a:p>
          <a:p>
            <a:endParaRPr lang="en-US" dirty="0"/>
          </a:p>
        </p:txBody>
      </p:sp>
      <p:sp>
        <p:nvSpPr>
          <p:cNvPr id="4" name="슬라이드 번호 개체 틀 3"/>
          <p:cNvSpPr>
            <a:spLocks noGrp="1"/>
          </p:cNvSpPr>
          <p:nvPr>
            <p:ph type="sldNum" sz="quarter" idx="5"/>
          </p:nvPr>
        </p:nvSpPr>
        <p:spPr/>
        <p:txBody>
          <a:bodyPr/>
          <a:lstStyle/>
          <a:p>
            <a:fld id="{020259F3-1C4C-45FF-8048-D8C18BB64F7D}" type="slidenum">
              <a:rPr lang="en-US" smtClean="0"/>
              <a:t>6</a:t>
            </a:fld>
            <a:endParaRPr lang="en-US"/>
          </a:p>
        </p:txBody>
      </p:sp>
    </p:spTree>
    <p:extLst>
      <p:ext uri="{BB962C8B-B14F-4D97-AF65-F5344CB8AC3E}">
        <p14:creationId xmlns:p14="http://schemas.microsoft.com/office/powerpoint/2010/main" val="402225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Here, the calculation is repeated for neutron matter using a realistic ab initio nuclear-lattice interaction.</a:t>
            </a:r>
          </a:p>
          <a:p>
            <a:r>
              <a:rPr lang="en-US" altLang="ko-KR" dirty="0"/>
              <a:t>The three panels show the momentum distributions associated with s-wave pairing, several p-wave pairing channels, and quartets. All three sectors exhibit nonzero correlated strength. This demonstrates that the multimodal pattern is not restricted to the generalized Hubbard model; it also appears in the realistic neutron-matter calculation.</a:t>
            </a:r>
          </a:p>
          <a:p>
            <a:r>
              <a:rPr lang="en-US" altLang="ko-KR" dirty="0"/>
              <a:t>This result provides the conceptual motivation for our study of helium-8. However, helium-8 is a finite nucleus, so we should not describe it as possessing a thermodynamic superfluid phase or a condensate.</a:t>
            </a:r>
          </a:p>
          <a:p>
            <a:r>
              <a:rPr lang="en-US" altLang="ko-KR" dirty="0"/>
              <a:t>Instead, we ask a more limited question: do its four valence neutrons display a finite-system binding mechanism related to the pair and quartet structures seen here? We now examine that question using no-core shell-model calculations.</a:t>
            </a:r>
          </a:p>
          <a:p>
            <a:endParaRPr lang="en-US" dirty="0"/>
          </a:p>
        </p:txBody>
      </p:sp>
      <p:sp>
        <p:nvSpPr>
          <p:cNvPr id="4" name="슬라이드 번호 개체 틀 3"/>
          <p:cNvSpPr>
            <a:spLocks noGrp="1"/>
          </p:cNvSpPr>
          <p:nvPr>
            <p:ph type="sldNum" sz="quarter" idx="5"/>
          </p:nvPr>
        </p:nvSpPr>
        <p:spPr/>
        <p:txBody>
          <a:bodyPr/>
          <a:lstStyle/>
          <a:p>
            <a:fld id="{020259F3-1C4C-45FF-8048-D8C18BB64F7D}" type="slidenum">
              <a:rPr lang="en-US" smtClean="0"/>
              <a:t>7</a:t>
            </a:fld>
            <a:endParaRPr lang="en-US"/>
          </a:p>
        </p:txBody>
      </p:sp>
    </p:spTree>
    <p:extLst>
      <p:ext uri="{BB962C8B-B14F-4D97-AF65-F5344CB8AC3E}">
        <p14:creationId xmlns:p14="http://schemas.microsoft.com/office/powerpoint/2010/main" val="4153804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Before presenting the calculation, let me clarify its scope.</a:t>
            </a:r>
          </a:p>
          <a:p>
            <a:r>
              <a:rPr lang="en-US" altLang="ko-KR" dirty="0"/>
              <a:t>We ask whether the four valence neutrons of helium-8 exhibit a finite-system binding mechanism analogous to the neutron quartets found in multimodal neutron superfluidity.</a:t>
            </a:r>
          </a:p>
          <a:p>
            <a:r>
              <a:rPr lang="en-US" altLang="ko-KR" dirty="0"/>
              <a:t>We calculate helium-4, helium-6, and helium-8 consistently within the ab initio no-core shell model. We use the Daejeon16 two-nucleon interaction together with the Coulomb interaction. The two-body matrix elements are generated with </a:t>
            </a:r>
            <a:r>
              <a:rPr lang="en-US" altLang="ko-KR" dirty="0" err="1"/>
              <a:t>NuHamil</a:t>
            </a:r>
            <a:r>
              <a:rPr lang="en-US" altLang="ko-KR" dirty="0"/>
              <a:t>, and the many-body calculations are performed with BIGSTICK.</a:t>
            </a:r>
          </a:p>
          <a:p>
            <a:r>
              <a:rPr lang="en-US" altLang="ko-KR" dirty="0"/>
              <a:t>This framework gives us an independent, non-lattice test of the proposed mechanism. Daejeon16 is particularly useful because its comparatively rapid convergence makes calculations in large model spaces feasible. Nevertheless, convergence remains demanding for halo nuclei, and the harmonic-oscillator basis does not describe continuum </a:t>
            </a:r>
            <a:r>
              <a:rPr lang="en-US" altLang="ko-KR" dirty="0" err="1"/>
              <a:t>asymptotics</a:t>
            </a:r>
            <a:r>
              <a:rPr lang="en-US" altLang="ko-KR" dirty="0"/>
              <a:t> explicitly.</a:t>
            </a:r>
          </a:p>
          <a:p>
            <a:r>
              <a:rPr lang="en-US" altLang="ko-KR" dirty="0"/>
              <a:t>I also want to emphasize what we mean by a neutron quartet. It is not a free tetraneutron state in vacuum. Here, it refers to a correlated four-neutron structure embedded in a nucleus.</a:t>
            </a:r>
          </a:p>
          <a:p>
            <a:r>
              <a:rPr lang="en-US" altLang="ko-KR" dirty="0"/>
              <a:t>Therefore, our results should be interpreted as evidence about a binding mechanism and connected correlations—not as direct observation of a separate bound quartet. The conclusions are also specific to the Daejeon16 NCSM calculation and do not establish interaction independence.</a:t>
            </a:r>
          </a:p>
          <a:p>
            <a:endParaRPr lang="en-US" dirty="0"/>
          </a:p>
        </p:txBody>
      </p:sp>
      <p:sp>
        <p:nvSpPr>
          <p:cNvPr id="4" name="슬라이드 번호 개체 틀 3"/>
          <p:cNvSpPr>
            <a:spLocks noGrp="1"/>
          </p:cNvSpPr>
          <p:nvPr>
            <p:ph type="sldNum" sz="quarter" idx="5"/>
          </p:nvPr>
        </p:nvSpPr>
        <p:spPr/>
        <p:txBody>
          <a:bodyPr/>
          <a:lstStyle/>
          <a:p>
            <a:fld id="{020259F3-1C4C-45FF-8048-D8C18BB64F7D}" type="slidenum">
              <a:rPr lang="en-US" smtClean="0"/>
              <a:t>8</a:t>
            </a:fld>
            <a:endParaRPr lang="en-US"/>
          </a:p>
        </p:txBody>
      </p:sp>
    </p:spTree>
    <p:extLst>
      <p:ext uri="{BB962C8B-B14F-4D97-AF65-F5344CB8AC3E}">
        <p14:creationId xmlns:p14="http://schemas.microsoft.com/office/powerpoint/2010/main" val="2957060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862F6E-ADD2-9366-B113-2DC17C241C7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69E63DFE-D7AA-AC13-F7A4-9329D5BFA8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7820B87F-A1F1-79EF-E2BF-4CF0E388F752}"/>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5" name="바닥글 개체 틀 4">
            <a:extLst>
              <a:ext uri="{FF2B5EF4-FFF2-40B4-BE49-F238E27FC236}">
                <a16:creationId xmlns:a16="http://schemas.microsoft.com/office/drawing/2014/main" id="{181FC42A-09BF-8419-71AF-D8BCA03050A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0F6C858-E83D-8393-1C93-A134EC9C567B}"/>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1297872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C82D7D-6770-00F1-0627-3F8644DEA2F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AD5AB5B-07F8-EFE8-E488-AECA1C1F3A22}"/>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3AF9378-3F43-8409-C03A-73DEDCCCDC78}"/>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5" name="바닥글 개체 틀 4">
            <a:extLst>
              <a:ext uri="{FF2B5EF4-FFF2-40B4-BE49-F238E27FC236}">
                <a16:creationId xmlns:a16="http://schemas.microsoft.com/office/drawing/2014/main" id="{F8B3C137-FEE2-FC2C-0D8F-278FA872F86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A2C4276-70B8-86B8-C9F2-52724C6E5DFB}"/>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3601165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8483C8-F5C9-9685-48E2-372D0D58DD3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08AFBA1-893B-0288-6791-FAB4BC2083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850A90D-A578-4DD6-2870-40DB3C9FDF81}"/>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5" name="바닥글 개체 틀 4">
            <a:extLst>
              <a:ext uri="{FF2B5EF4-FFF2-40B4-BE49-F238E27FC236}">
                <a16:creationId xmlns:a16="http://schemas.microsoft.com/office/drawing/2014/main" id="{7B9E5CDB-7074-A4A8-4E57-6ADBB809729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5CC5E56-B9B5-8E63-2A5F-2791DCDB3903}"/>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4173211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992575-567D-4F07-18E1-F2EFEE398AE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5701245-7821-FA70-B19E-FF8BAE8D43B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F896413-0E6D-7EFE-1E16-67EAB3CE6DD3}"/>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B47C802B-FCE9-BAC3-3C8A-F94A7CB61B9B}"/>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6" name="바닥글 개체 틀 5">
            <a:extLst>
              <a:ext uri="{FF2B5EF4-FFF2-40B4-BE49-F238E27FC236}">
                <a16:creationId xmlns:a16="http://schemas.microsoft.com/office/drawing/2014/main" id="{C150B6BB-66E6-A1AF-DCA7-22C6149DC62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A1F9CD-514A-5009-2295-248E7798257C}"/>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398998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06889E2-A9B0-E7F4-2EFC-1F6ABCEC5009}"/>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679192E-DC40-E249-FA5A-224DCAD5E5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6BA3964F-049F-B41F-99D2-C5E643342F75}"/>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6B4D5AEB-41E4-AB2A-A361-AD50934E63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731327A-522C-B45B-23A7-FE45D602091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3F58EAE2-3DE3-9A45-A577-F2C7F49AC5E4}"/>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8" name="바닥글 개체 틀 7">
            <a:extLst>
              <a:ext uri="{FF2B5EF4-FFF2-40B4-BE49-F238E27FC236}">
                <a16:creationId xmlns:a16="http://schemas.microsoft.com/office/drawing/2014/main" id="{58EB2941-CF8A-0F2B-A17B-BA569B44259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C7A8847A-4A32-BB3B-8011-3BD2B1D175AA}"/>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3448923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D6AFE61-F2CC-2520-2C79-0A4181EE3E32}"/>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B75A781-E381-CFC1-56F8-631733D95A5A}"/>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4" name="바닥글 개체 틀 3">
            <a:extLst>
              <a:ext uri="{FF2B5EF4-FFF2-40B4-BE49-F238E27FC236}">
                <a16:creationId xmlns:a16="http://schemas.microsoft.com/office/drawing/2014/main" id="{77733B07-5393-1069-8F86-A6CED16C04C2}"/>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83A0F87-68C5-E2FB-D9A5-9E7212FBE380}"/>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1221607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22F554A2-1944-7322-6170-F4E5A0AC1708}"/>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3" name="바닥글 개체 틀 2">
            <a:extLst>
              <a:ext uri="{FF2B5EF4-FFF2-40B4-BE49-F238E27FC236}">
                <a16:creationId xmlns:a16="http://schemas.microsoft.com/office/drawing/2014/main" id="{A5EB92C6-8A54-6C9C-A148-78F94CA706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3DC03EA-1180-5060-1C14-7892402C7144}"/>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294494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A6F0D0-AECA-9305-628D-D368E464727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8933A91-9DAD-3250-899A-E2586BA3A0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2A713F4-58A1-8194-7C0F-43EED8FD69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F1C4796-320D-3598-CD92-C720F928DD77}"/>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6" name="바닥글 개체 틀 5">
            <a:extLst>
              <a:ext uri="{FF2B5EF4-FFF2-40B4-BE49-F238E27FC236}">
                <a16:creationId xmlns:a16="http://schemas.microsoft.com/office/drawing/2014/main" id="{E8FC7862-B3EE-E0CE-F567-C690840A495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BFAD1A5-F188-DF17-93F6-B612F02A959F}"/>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606039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03D4E4E-4AA1-0A45-E636-CD90C3BD5F6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DA1229B5-E851-E7F8-C243-BFDF215192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0ABDEDD-50E7-048D-7DE7-9895AEFE2A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24F004A-50F1-59C5-7058-2F0A28EAD708}"/>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6" name="바닥글 개체 틀 5">
            <a:extLst>
              <a:ext uri="{FF2B5EF4-FFF2-40B4-BE49-F238E27FC236}">
                <a16:creationId xmlns:a16="http://schemas.microsoft.com/office/drawing/2014/main" id="{F60BF5E8-594F-D436-2A8A-EE5139390C7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2C82157-6230-F235-4D52-AB9CE44576F8}"/>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3126206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ACD3C61-C3FC-C5EE-8BC4-F2BACFB4C3BF}"/>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3BD343A-9526-ED91-60B6-846FCA616C7D}"/>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3E58B21-EBE2-D6D6-5571-62B56C386AFD}"/>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5" name="바닥글 개체 틀 4">
            <a:extLst>
              <a:ext uri="{FF2B5EF4-FFF2-40B4-BE49-F238E27FC236}">
                <a16:creationId xmlns:a16="http://schemas.microsoft.com/office/drawing/2014/main" id="{62A1D3BC-3B94-657F-B4F3-15E17BFE7B7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46C3595-51D2-4BE0-FC5B-65FC1361374E}"/>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469011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1184896-448B-F6ED-6999-3544E8D0A7A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937D462-0928-6FAF-9175-2C9DD593F37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66272F0-1958-1F3E-24B8-9DFAE755AE00}"/>
              </a:ext>
            </a:extLst>
          </p:cNvPr>
          <p:cNvSpPr>
            <a:spLocks noGrp="1"/>
          </p:cNvSpPr>
          <p:nvPr>
            <p:ph type="dt" sz="half" idx="10"/>
          </p:nvPr>
        </p:nvSpPr>
        <p:spPr/>
        <p:txBody>
          <a:bodyPr/>
          <a:lstStyle/>
          <a:p>
            <a:fld id="{916B85E3-3F26-4931-9378-98579BCCDB13}" type="datetimeFigureOut">
              <a:rPr lang="ko-KR" altLang="en-US" smtClean="0"/>
              <a:t>2026-09-11</a:t>
            </a:fld>
            <a:endParaRPr lang="ko-KR" altLang="en-US"/>
          </a:p>
        </p:txBody>
      </p:sp>
      <p:sp>
        <p:nvSpPr>
          <p:cNvPr id="5" name="바닥글 개체 틀 4">
            <a:extLst>
              <a:ext uri="{FF2B5EF4-FFF2-40B4-BE49-F238E27FC236}">
                <a16:creationId xmlns:a16="http://schemas.microsoft.com/office/drawing/2014/main" id="{49DE1C8E-52B1-1C28-79CB-87C0D5AF161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686BFB5-04B2-2318-55C4-563D5B02752D}"/>
              </a:ext>
            </a:extLst>
          </p:cNvPr>
          <p:cNvSpPr>
            <a:spLocks noGrp="1"/>
          </p:cNvSpPr>
          <p:nvPr>
            <p:ph type="sldNum" sz="quarter" idx="12"/>
          </p:nvPr>
        </p:nvSpPr>
        <p:spPr/>
        <p:txBody>
          <a:bodyPr/>
          <a:lstStyle/>
          <a:p>
            <a:fld id="{91FA9868-F4C7-48E4-A91F-515FCC583EA8}" type="slidenum">
              <a:rPr lang="ko-KR" altLang="en-US" smtClean="0"/>
              <a:t>‹#›</a:t>
            </a:fld>
            <a:endParaRPr lang="ko-KR" altLang="en-US"/>
          </a:p>
        </p:txBody>
      </p:sp>
    </p:spTree>
    <p:extLst>
      <p:ext uri="{BB962C8B-B14F-4D97-AF65-F5344CB8AC3E}">
        <p14:creationId xmlns:p14="http://schemas.microsoft.com/office/powerpoint/2010/main" val="132871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6150AF9-B02A-831F-D625-2823059F23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E76F7CBD-C5B4-6970-50BD-1F730ADD59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48302B4-4D1A-9D80-C727-EB5E97CCA9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6B85E3-3F26-4931-9378-98579BCCDB13}" type="datetimeFigureOut">
              <a:rPr lang="ko-KR" altLang="en-US" smtClean="0"/>
              <a:t>2026-09-11</a:t>
            </a:fld>
            <a:endParaRPr lang="ko-KR" altLang="en-US"/>
          </a:p>
        </p:txBody>
      </p:sp>
      <p:sp>
        <p:nvSpPr>
          <p:cNvPr id="5" name="바닥글 개체 틀 4">
            <a:extLst>
              <a:ext uri="{FF2B5EF4-FFF2-40B4-BE49-F238E27FC236}">
                <a16:creationId xmlns:a16="http://schemas.microsoft.com/office/drawing/2014/main" id="{B2F288A1-9CBB-4C3A-3728-7910B1B637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C2DEACB1-5581-917D-9A1E-150C4099F4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FA9868-F4C7-48E4-A91F-515FCC583EA8}" type="slidenum">
              <a:rPr lang="ko-KR" altLang="en-US" smtClean="0"/>
              <a:t>‹#›</a:t>
            </a:fld>
            <a:endParaRPr lang="ko-KR" altLang="en-US" dirty="0"/>
          </a:p>
        </p:txBody>
      </p:sp>
    </p:spTree>
    <p:extLst>
      <p:ext uri="{BB962C8B-B14F-4D97-AF65-F5344CB8AC3E}">
        <p14:creationId xmlns:p14="http://schemas.microsoft.com/office/powerpoint/2010/main" val="328844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arxiv.org/abs/2608.25883"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arxiv.org/search/nucl-th?searchtype=author&amp;query=Lee,+D" TargetMode="External"/><Relationship Id="rId5" Type="http://schemas.openxmlformats.org/officeDocument/2006/relationships/hyperlink" Target="https://arxiv.org/search/nucl-th?searchtype=author&amp;query=Ma,+Y" TargetMode="External"/><Relationship Id="rId4" Type="http://schemas.openxmlformats.org/officeDocument/2006/relationships/hyperlink" Target="https://arxiv.org/search/nucl-th?searchtype=author&amp;query=Song,+Y"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hyperlink" Target="https://arxiv.org/abs/2608.25883"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descr="빛, 우주, 스크린샷, 일렉트릭 블루이(가) 표시된 사진&#10;&#10;자동 생성된 설명">
            <a:extLst>
              <a:ext uri="{FF2B5EF4-FFF2-40B4-BE49-F238E27FC236}">
                <a16:creationId xmlns:a16="http://schemas.microsoft.com/office/drawing/2014/main" id="{D1E24FB7-B379-E35B-C045-142C05A3C77C}"/>
              </a:ext>
            </a:extLst>
          </p:cNvPr>
          <p:cNvPicPr>
            <a:picLocks noChangeAspect="1"/>
          </p:cNvPicPr>
          <p:nvPr/>
        </p:nvPicPr>
        <p:blipFill rotWithShape="1">
          <a:blip r:embed="rId2"/>
          <a:srcRect t="34178" b="41771"/>
          <a:stretch/>
        </p:blipFill>
        <p:spPr>
          <a:xfrm>
            <a:off x="0" y="1"/>
            <a:ext cx="12192000" cy="1675616"/>
          </a:xfrm>
          <a:prstGeom prst="rect">
            <a:avLst/>
          </a:prstGeom>
        </p:spPr>
      </p:pic>
      <p:sp>
        <p:nvSpPr>
          <p:cNvPr id="4" name="직사각형 3">
            <a:extLst>
              <a:ext uri="{FF2B5EF4-FFF2-40B4-BE49-F238E27FC236}">
                <a16:creationId xmlns:a16="http://schemas.microsoft.com/office/drawing/2014/main" id="{BC0E2BE3-85A1-8B59-C7D1-646A89DD5721}"/>
              </a:ext>
            </a:extLst>
          </p:cNvPr>
          <p:cNvSpPr/>
          <p:nvPr/>
        </p:nvSpPr>
        <p:spPr>
          <a:xfrm>
            <a:off x="0" y="1675617"/>
            <a:ext cx="12192000" cy="5201634"/>
          </a:xfrm>
          <a:prstGeom prst="rect">
            <a:avLst/>
          </a:prstGeom>
          <a:solidFill>
            <a:srgbClr val="004098">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TextBox 5">
            <a:extLst>
              <a:ext uri="{FF2B5EF4-FFF2-40B4-BE49-F238E27FC236}">
                <a16:creationId xmlns:a16="http://schemas.microsoft.com/office/drawing/2014/main" id="{5E6719FA-86E2-B139-2CAD-DDCBFF492781}"/>
              </a:ext>
            </a:extLst>
          </p:cNvPr>
          <p:cNvSpPr txBox="1"/>
          <p:nvPr/>
        </p:nvSpPr>
        <p:spPr>
          <a:xfrm>
            <a:off x="819830" y="2556417"/>
            <a:ext cx="10086063" cy="769441"/>
          </a:xfrm>
          <a:prstGeom prst="rect">
            <a:avLst/>
          </a:prstGeom>
          <a:noFill/>
        </p:spPr>
        <p:txBody>
          <a:bodyPr wrap="square" rtlCol="0">
            <a:spAutoFit/>
          </a:bodyPr>
          <a:lstStyle/>
          <a:p>
            <a:r>
              <a:rPr lang="en-US" altLang="ko-KR" sz="4400" dirty="0">
                <a:solidFill>
                  <a:schemeClr val="bg1"/>
                </a:solidFill>
                <a:ea typeface="SUIT ExtraBold" pitchFamily="50" charset="-127"/>
                <a:cs typeface="Pretendard ExtraBold" panose="02000903000000020004" pitchFamily="50" charset="-127"/>
              </a:rPr>
              <a:t>Neutron</a:t>
            </a:r>
            <a:r>
              <a:rPr lang="ko-KR" altLang="en-US" sz="4400" dirty="0">
                <a:solidFill>
                  <a:schemeClr val="bg1"/>
                </a:solidFill>
                <a:ea typeface="SUIT ExtraBold" pitchFamily="50" charset="-127"/>
                <a:cs typeface="Pretendard ExtraBold" panose="02000903000000020004" pitchFamily="50" charset="-127"/>
              </a:rPr>
              <a:t> </a:t>
            </a:r>
            <a:r>
              <a:rPr lang="en-US" altLang="ko-KR" sz="4400" dirty="0">
                <a:solidFill>
                  <a:schemeClr val="bg1"/>
                </a:solidFill>
                <a:ea typeface="SUIT ExtraBold" pitchFamily="50" charset="-127"/>
                <a:cs typeface="Pretendard ExtraBold" panose="02000903000000020004" pitchFamily="50" charset="-127"/>
              </a:rPr>
              <a:t>correlations</a:t>
            </a:r>
            <a:r>
              <a:rPr lang="ko-KR" altLang="en-US" sz="4400" dirty="0">
                <a:solidFill>
                  <a:schemeClr val="bg1"/>
                </a:solidFill>
                <a:ea typeface="SUIT ExtraBold" pitchFamily="50" charset="-127"/>
                <a:cs typeface="Pretendard ExtraBold" panose="02000903000000020004" pitchFamily="50" charset="-127"/>
              </a:rPr>
              <a:t> </a:t>
            </a:r>
            <a:r>
              <a:rPr lang="en-US" altLang="ko-KR" sz="4400" dirty="0">
                <a:solidFill>
                  <a:schemeClr val="bg1"/>
                </a:solidFill>
                <a:ea typeface="SUIT ExtraBold" pitchFamily="50" charset="-127"/>
                <a:cs typeface="Pretendard ExtraBold" panose="02000903000000020004" pitchFamily="50" charset="-127"/>
              </a:rPr>
              <a:t>in</a:t>
            </a:r>
            <a:r>
              <a:rPr lang="ko-KR" altLang="en-US" sz="4400" dirty="0">
                <a:solidFill>
                  <a:schemeClr val="bg1"/>
                </a:solidFill>
                <a:ea typeface="SUIT ExtraBold" pitchFamily="50" charset="-127"/>
                <a:cs typeface="Pretendard ExtraBold" panose="02000903000000020004" pitchFamily="50" charset="-127"/>
              </a:rPr>
              <a:t> </a:t>
            </a:r>
            <a:r>
              <a:rPr lang="en-US" altLang="ko-KR" sz="4400" dirty="0">
                <a:solidFill>
                  <a:schemeClr val="bg1"/>
                </a:solidFill>
                <a:ea typeface="SUIT ExtraBold" pitchFamily="50" charset="-127"/>
                <a:cs typeface="Pretendard ExtraBold" panose="02000903000000020004" pitchFamily="50" charset="-127"/>
              </a:rPr>
              <a:t>Helium</a:t>
            </a:r>
            <a:r>
              <a:rPr lang="ko-KR" altLang="en-US" sz="4400" dirty="0">
                <a:solidFill>
                  <a:schemeClr val="bg1"/>
                </a:solidFill>
                <a:ea typeface="SUIT ExtraBold" pitchFamily="50" charset="-127"/>
                <a:cs typeface="Pretendard ExtraBold" panose="02000903000000020004" pitchFamily="50" charset="-127"/>
              </a:rPr>
              <a:t> </a:t>
            </a:r>
            <a:r>
              <a:rPr lang="en-US" altLang="ko-KR" sz="4400" dirty="0">
                <a:solidFill>
                  <a:schemeClr val="bg1"/>
                </a:solidFill>
                <a:ea typeface="SUIT ExtraBold" pitchFamily="50" charset="-127"/>
                <a:cs typeface="Pretendard ExtraBold" panose="02000903000000020004" pitchFamily="50" charset="-127"/>
              </a:rPr>
              <a:t>isotopes</a:t>
            </a:r>
            <a:endParaRPr lang="ko-KR" altLang="en-US" sz="4400" dirty="0">
              <a:solidFill>
                <a:schemeClr val="bg1"/>
              </a:solidFill>
              <a:ea typeface="SUIT ExtraBold" pitchFamily="50" charset="-127"/>
              <a:cs typeface="Pretendard ExtraBold" panose="02000903000000020004" pitchFamily="50" charset="-127"/>
            </a:endParaRPr>
          </a:p>
        </p:txBody>
      </p:sp>
      <p:sp>
        <p:nvSpPr>
          <p:cNvPr id="9" name="TextBox 8">
            <a:extLst>
              <a:ext uri="{FF2B5EF4-FFF2-40B4-BE49-F238E27FC236}">
                <a16:creationId xmlns:a16="http://schemas.microsoft.com/office/drawing/2014/main" id="{62786282-5402-7A3C-32C6-7A2741493667}"/>
              </a:ext>
            </a:extLst>
          </p:cNvPr>
          <p:cNvSpPr txBox="1"/>
          <p:nvPr/>
        </p:nvSpPr>
        <p:spPr>
          <a:xfrm>
            <a:off x="819830" y="4680075"/>
            <a:ext cx="10454053" cy="954107"/>
          </a:xfrm>
          <a:prstGeom prst="rect">
            <a:avLst/>
          </a:prstGeom>
          <a:noFill/>
        </p:spPr>
        <p:txBody>
          <a:bodyPr wrap="square" rtlCol="0">
            <a:spAutoFit/>
          </a:bodyPr>
          <a:lstStyle/>
          <a:p>
            <a:pPr lvl="1"/>
            <a:r>
              <a:rPr lang="en-US" altLang="ko-KR" sz="2800" u="sng" dirty="0">
                <a:solidFill>
                  <a:schemeClr val="bg1"/>
                </a:solidFill>
              </a:rPr>
              <a:t>Young-Ho Song (IRIS, IBS), </a:t>
            </a:r>
          </a:p>
          <a:p>
            <a:pPr lvl="1"/>
            <a:r>
              <a:rPr lang="en-US" altLang="ko-KR" sz="2800" dirty="0" err="1">
                <a:solidFill>
                  <a:schemeClr val="bg1"/>
                </a:solidFill>
              </a:rPr>
              <a:t>Yuanzhuo</a:t>
            </a:r>
            <a:r>
              <a:rPr lang="en-US" altLang="ko-KR" sz="2800" dirty="0">
                <a:solidFill>
                  <a:schemeClr val="bg1"/>
                </a:solidFill>
              </a:rPr>
              <a:t> Ma(FRIB,MSU) and Dean Lee(FRIB,MSU)</a:t>
            </a:r>
            <a:endParaRPr lang="en-US" dirty="0">
              <a:solidFill>
                <a:schemeClr val="bg1"/>
              </a:solidFill>
            </a:endParaRPr>
          </a:p>
        </p:txBody>
      </p:sp>
      <p:pic>
        <p:nvPicPr>
          <p:cNvPr id="3" name="그림 2" descr="텍스트, 폰트, 그래픽, 스크린샷이(가) 표시된 사진&#10;&#10;자동 생성된 설명">
            <a:extLst>
              <a:ext uri="{FF2B5EF4-FFF2-40B4-BE49-F238E27FC236}">
                <a16:creationId xmlns:a16="http://schemas.microsoft.com/office/drawing/2014/main" id="{B4C5BB82-97A8-0197-3CE6-2D92FB4CC7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923" y="5936852"/>
            <a:ext cx="2340232" cy="468869"/>
          </a:xfrm>
          <a:prstGeom prst="rect">
            <a:avLst/>
          </a:prstGeom>
        </p:spPr>
      </p:pic>
      <p:sp>
        <p:nvSpPr>
          <p:cNvPr id="8" name="TextBox 7">
            <a:extLst>
              <a:ext uri="{FF2B5EF4-FFF2-40B4-BE49-F238E27FC236}">
                <a16:creationId xmlns:a16="http://schemas.microsoft.com/office/drawing/2014/main" id="{62786282-5402-7A3C-32C6-7A2741493667}"/>
              </a:ext>
            </a:extLst>
          </p:cNvPr>
          <p:cNvSpPr txBox="1"/>
          <p:nvPr/>
        </p:nvSpPr>
        <p:spPr>
          <a:xfrm>
            <a:off x="5553307" y="6171286"/>
            <a:ext cx="6043961" cy="369332"/>
          </a:xfrm>
          <a:prstGeom prst="rect">
            <a:avLst/>
          </a:prstGeom>
          <a:noFill/>
        </p:spPr>
        <p:txBody>
          <a:bodyPr wrap="square" rtlCol="0">
            <a:spAutoFit/>
          </a:bodyPr>
          <a:lstStyle/>
          <a:p>
            <a:pPr lvl="1"/>
            <a:r>
              <a:rPr lang="en-US" dirty="0">
                <a:solidFill>
                  <a:schemeClr val="bg1"/>
                </a:solidFill>
              </a:rPr>
              <a:t>2026.09.15. JPS meeting, University of Tokyo</a:t>
            </a:r>
          </a:p>
        </p:txBody>
      </p:sp>
    </p:spTree>
    <p:extLst>
      <p:ext uri="{BB962C8B-B14F-4D97-AF65-F5344CB8AC3E}">
        <p14:creationId xmlns:p14="http://schemas.microsoft.com/office/powerpoint/2010/main" val="3091287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6442477"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OUTLINE</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5" name="직사각형 4"/>
          <p:cNvSpPr/>
          <p:nvPr/>
        </p:nvSpPr>
        <p:spPr>
          <a:xfrm>
            <a:off x="583579" y="1342807"/>
            <a:ext cx="10478431" cy="3564053"/>
          </a:xfrm>
          <a:prstGeom prst="rect">
            <a:avLst/>
          </a:prstGeom>
        </p:spPr>
        <p:txBody>
          <a:bodyPr wrap="square">
            <a:spAutoFit/>
          </a:bodyPr>
          <a:lstStyle/>
          <a:p>
            <a:pPr marL="457200" lvl="0" indent="-457200" latinLnBrk="0">
              <a:spcBef>
                <a:spcPct val="20000"/>
              </a:spcBef>
              <a:buClr>
                <a:srgbClr val="93A299"/>
              </a:buClr>
              <a:buSzPct val="85000"/>
              <a:buFont typeface="+mj-lt"/>
              <a:buAutoNum type="arabicPeriod"/>
            </a:pPr>
            <a:r>
              <a:rPr lang="en-US" altLang="ko-KR" sz="2400" dirty="0">
                <a:solidFill>
                  <a:srgbClr val="292934"/>
                </a:solidFill>
                <a:latin typeface="Arial"/>
                <a:ea typeface="돋움" panose="020B0600000101010101" pitchFamily="50" charset="-127"/>
              </a:rPr>
              <a:t>Introduction</a:t>
            </a:r>
          </a:p>
          <a:p>
            <a:pPr marL="914400" lvl="1" indent="-457200" latinLnBrk="0">
              <a:spcBef>
                <a:spcPct val="20000"/>
              </a:spcBef>
              <a:buClr>
                <a:srgbClr val="93A299"/>
              </a:buClr>
              <a:buSzPct val="85000"/>
              <a:buFont typeface="Arial" panose="020B0604020202020204" pitchFamily="34" charset="0"/>
              <a:buChar char="•"/>
            </a:pPr>
            <a:r>
              <a:rPr lang="en-US" altLang="ko-KR" sz="2400" dirty="0">
                <a:solidFill>
                  <a:srgbClr val="292934"/>
                </a:solidFill>
                <a:ea typeface="돋움" panose="020B0600000101010101" pitchFamily="50" charset="-127"/>
              </a:rPr>
              <a:t>Multimodal Superfluidity of Neutrons</a:t>
            </a:r>
            <a:endParaRPr lang="en-US" altLang="ko-KR" sz="2400" dirty="0">
              <a:solidFill>
                <a:srgbClr val="292934"/>
              </a:solidFill>
              <a:latin typeface="Arial"/>
              <a:ea typeface="돋움" panose="020B0600000101010101" pitchFamily="50" charset="-127"/>
            </a:endParaRPr>
          </a:p>
          <a:p>
            <a:pPr marL="457200" lvl="0" indent="-457200" latinLnBrk="0">
              <a:spcBef>
                <a:spcPct val="20000"/>
              </a:spcBef>
              <a:buClr>
                <a:srgbClr val="93A299"/>
              </a:buClr>
              <a:buSzPct val="85000"/>
              <a:buFont typeface="+mj-lt"/>
              <a:buAutoNum type="arabicPeriod"/>
            </a:pPr>
            <a:r>
              <a:rPr lang="en-US" altLang="ko-KR" sz="2400" dirty="0">
                <a:solidFill>
                  <a:srgbClr val="292934"/>
                </a:solidFill>
                <a:latin typeface="Arial"/>
                <a:ea typeface="돋움" panose="020B0600000101010101" pitchFamily="50" charset="-127"/>
              </a:rPr>
              <a:t>No core shell model analysis</a:t>
            </a:r>
          </a:p>
          <a:p>
            <a:pPr marL="914400" lvl="1" indent="-457200" latinLnBrk="0">
              <a:spcBef>
                <a:spcPct val="20000"/>
              </a:spcBef>
              <a:buClr>
                <a:srgbClr val="93A299"/>
              </a:buClr>
              <a:buSzPct val="85000"/>
              <a:buFont typeface="Arial" panose="020B0604020202020204" pitchFamily="34" charset="0"/>
              <a:buChar char="•"/>
            </a:pPr>
            <a:r>
              <a:rPr lang="en-US" altLang="ko-KR" sz="2400" dirty="0">
                <a:solidFill>
                  <a:srgbClr val="292934"/>
                </a:solidFill>
                <a:ea typeface="돋움" panose="020B0600000101010101" pitchFamily="50" charset="-127"/>
              </a:rPr>
              <a:t>Daejeon16 </a:t>
            </a:r>
            <a:r>
              <a:rPr lang="en-US" altLang="ko-KR" sz="2400" dirty="0">
                <a:solidFill>
                  <a:srgbClr val="292934"/>
                </a:solidFill>
                <a:latin typeface="Arial"/>
                <a:ea typeface="돋움" panose="020B0600000101010101" pitchFamily="50" charset="-127"/>
              </a:rPr>
              <a:t>interaction</a:t>
            </a:r>
          </a:p>
          <a:p>
            <a:pPr marL="914400" lvl="1" indent="-457200" latinLnBrk="0">
              <a:spcBef>
                <a:spcPct val="20000"/>
              </a:spcBef>
              <a:buClr>
                <a:srgbClr val="93A299"/>
              </a:buClr>
              <a:buSzPct val="85000"/>
              <a:buFont typeface="Arial" panose="020B0604020202020204" pitchFamily="34" charset="0"/>
              <a:buChar char="•"/>
            </a:pPr>
            <a:r>
              <a:rPr lang="en-US" altLang="ko-KR" sz="2400" dirty="0">
                <a:solidFill>
                  <a:srgbClr val="292934"/>
                </a:solidFill>
                <a:latin typeface="Arial"/>
                <a:ea typeface="돋움" panose="020B0600000101010101" pitchFamily="50" charset="-127"/>
              </a:rPr>
              <a:t>Partial wave contributions in 3-point energy difference</a:t>
            </a:r>
          </a:p>
          <a:p>
            <a:pPr marL="914400" lvl="1" indent="-457200" latinLnBrk="0">
              <a:spcBef>
                <a:spcPct val="20000"/>
              </a:spcBef>
              <a:buClr>
                <a:srgbClr val="93A299"/>
              </a:buClr>
              <a:buSzPct val="85000"/>
              <a:buFont typeface="Arial" panose="020B0604020202020204" pitchFamily="34" charset="0"/>
              <a:buChar char="•"/>
            </a:pPr>
            <a:r>
              <a:rPr lang="en-US" altLang="ko-KR" sz="2400" dirty="0">
                <a:solidFill>
                  <a:srgbClr val="292934"/>
                </a:solidFill>
                <a:latin typeface="Arial"/>
                <a:ea typeface="돋움" panose="020B0600000101010101" pitchFamily="50" charset="-127"/>
              </a:rPr>
              <a:t>Attractive rank</a:t>
            </a:r>
          </a:p>
          <a:p>
            <a:pPr marL="914400" lvl="1" indent="-457200" latinLnBrk="0">
              <a:spcBef>
                <a:spcPct val="20000"/>
              </a:spcBef>
              <a:buClr>
                <a:srgbClr val="93A299"/>
              </a:buClr>
              <a:buSzPct val="85000"/>
              <a:buFont typeface="Arial" panose="020B0604020202020204" pitchFamily="34" charset="0"/>
              <a:buChar char="•"/>
            </a:pPr>
            <a:r>
              <a:rPr lang="en-US" altLang="ko-KR" sz="2400" dirty="0">
                <a:solidFill>
                  <a:srgbClr val="292934"/>
                </a:solidFill>
                <a:latin typeface="Arial"/>
                <a:ea typeface="돋움" panose="020B0600000101010101" pitchFamily="50" charset="-127"/>
              </a:rPr>
              <a:t>Four-body cumulants</a:t>
            </a:r>
          </a:p>
          <a:p>
            <a:pPr marL="457200" lvl="0" indent="-457200" latinLnBrk="0">
              <a:spcBef>
                <a:spcPct val="20000"/>
              </a:spcBef>
              <a:buClr>
                <a:srgbClr val="93A299"/>
              </a:buClr>
              <a:buSzPct val="85000"/>
              <a:buFont typeface="+mj-lt"/>
              <a:buAutoNum type="arabicPeriod"/>
            </a:pPr>
            <a:r>
              <a:rPr lang="en-US" altLang="ko-KR" sz="2400" dirty="0">
                <a:solidFill>
                  <a:srgbClr val="292934"/>
                </a:solidFill>
                <a:latin typeface="Arial"/>
                <a:ea typeface="돋움" panose="020B0600000101010101" pitchFamily="50" charset="-127"/>
              </a:rPr>
              <a:t>Summary</a:t>
            </a:r>
          </a:p>
        </p:txBody>
      </p:sp>
      <p:sp>
        <p:nvSpPr>
          <p:cNvPr id="2" name="TextBox 1">
            <a:extLst>
              <a:ext uri="{FF2B5EF4-FFF2-40B4-BE49-F238E27FC236}">
                <a16:creationId xmlns:a16="http://schemas.microsoft.com/office/drawing/2014/main" id="{CDECA3AF-4EA9-4CA9-88B6-B95D8009A3D1}"/>
              </a:ext>
            </a:extLst>
          </p:cNvPr>
          <p:cNvSpPr txBox="1"/>
          <p:nvPr/>
        </p:nvSpPr>
        <p:spPr>
          <a:xfrm>
            <a:off x="923571" y="5382364"/>
            <a:ext cx="9369005" cy="1200329"/>
          </a:xfrm>
          <a:prstGeom prst="rect">
            <a:avLst/>
          </a:prstGeom>
          <a:noFill/>
        </p:spPr>
        <p:txBody>
          <a:bodyPr wrap="square" rtlCol="0">
            <a:spAutoFit/>
          </a:bodyPr>
          <a:lstStyle/>
          <a:p>
            <a:r>
              <a:rPr lang="en-US" altLang="ko-KR" u="sng" dirty="0">
                <a:hlinkClick r:id="rId4"/>
              </a:rPr>
              <a:t>Based</a:t>
            </a:r>
            <a:r>
              <a:rPr lang="ko-KR" altLang="en-US" u="sng" dirty="0">
                <a:hlinkClick r:id="rId4"/>
              </a:rPr>
              <a:t> </a:t>
            </a:r>
            <a:r>
              <a:rPr lang="en-US" altLang="ko-KR" u="sng" dirty="0">
                <a:hlinkClick r:id="rId4"/>
              </a:rPr>
              <a:t>on</a:t>
            </a:r>
            <a:r>
              <a:rPr lang="ko-KR" altLang="en-US" u="sng" dirty="0">
                <a:hlinkClick r:id="rId4"/>
              </a:rPr>
              <a:t> </a:t>
            </a:r>
            <a:endParaRPr lang="en-US" altLang="ko-KR" u="sng" dirty="0">
              <a:hlinkClick r:id="rId4"/>
            </a:endParaRPr>
          </a:p>
          <a:p>
            <a:r>
              <a:rPr lang="it-IT" altLang="ko-KR" u="sng" dirty="0">
                <a:hlinkClick r:id="rId4"/>
              </a:rPr>
              <a:t>Young-Ho Song</a:t>
            </a:r>
            <a:r>
              <a:rPr lang="it-IT" altLang="ko-KR" dirty="0"/>
              <a:t>, </a:t>
            </a:r>
            <a:r>
              <a:rPr lang="it-IT" altLang="ko-KR" dirty="0">
                <a:hlinkClick r:id="rId5"/>
              </a:rPr>
              <a:t>Yuan-Zhuo Ma</a:t>
            </a:r>
            <a:r>
              <a:rPr lang="it-IT" altLang="ko-KR" dirty="0"/>
              <a:t>, </a:t>
            </a:r>
            <a:r>
              <a:rPr lang="it-IT" altLang="ko-KR" dirty="0">
                <a:hlinkClick r:id="rId6"/>
              </a:rPr>
              <a:t>Dean Lee</a:t>
            </a:r>
            <a:endParaRPr lang="it-IT" altLang="ko-KR" dirty="0"/>
          </a:p>
          <a:p>
            <a:r>
              <a:rPr lang="en-US" altLang="ko-KR" dirty="0">
                <a:hlinkClick r:id="rId7"/>
              </a:rPr>
              <a:t> ‘Evidence for Quartet Binding of Valence Neutrons in 8He’ </a:t>
            </a:r>
          </a:p>
          <a:p>
            <a:r>
              <a:rPr lang="en-US" altLang="ko-KR" dirty="0">
                <a:hlinkClick r:id="rId7"/>
              </a:rPr>
              <a:t> arXiv:2608.25883</a:t>
            </a:r>
            <a:endParaRPr lang="en-US" dirty="0"/>
          </a:p>
        </p:txBody>
      </p:sp>
    </p:spTree>
    <p:extLst>
      <p:ext uri="{BB962C8B-B14F-4D97-AF65-F5344CB8AC3E}">
        <p14:creationId xmlns:p14="http://schemas.microsoft.com/office/powerpoint/2010/main" val="215635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Introduction</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2" name="TextBox 1">
            <a:extLst>
              <a:ext uri="{FF2B5EF4-FFF2-40B4-BE49-F238E27FC236}">
                <a16:creationId xmlns:a16="http://schemas.microsoft.com/office/drawing/2014/main" id="{182AF362-81DF-40EB-A4FC-0086649AD28B}"/>
              </a:ext>
            </a:extLst>
          </p:cNvPr>
          <p:cNvSpPr txBox="1"/>
          <p:nvPr/>
        </p:nvSpPr>
        <p:spPr>
          <a:xfrm>
            <a:off x="923571" y="1382751"/>
            <a:ext cx="9982322" cy="923330"/>
          </a:xfrm>
          <a:prstGeom prst="rect">
            <a:avLst/>
          </a:prstGeom>
          <a:noFill/>
        </p:spPr>
        <p:txBody>
          <a:bodyPr wrap="square" rtlCol="0">
            <a:spAutoFit/>
          </a:bodyPr>
          <a:lstStyle/>
          <a:p>
            <a:pPr marL="285750" indent="-285750">
              <a:buFont typeface="Arial" panose="020B0604020202020204" pitchFamily="34" charset="0"/>
              <a:buChar char="•"/>
            </a:pPr>
            <a:r>
              <a:rPr lang="en-US" dirty="0"/>
              <a:t>8He</a:t>
            </a:r>
            <a:r>
              <a:rPr lang="ko-KR" altLang="en-US" dirty="0"/>
              <a:t> </a:t>
            </a:r>
            <a:endParaRPr lang="en-US" altLang="ko-KR" dirty="0"/>
          </a:p>
          <a:p>
            <a:pPr marL="742950" lvl="1" indent="-285750">
              <a:buFont typeface="Arial" panose="020B0604020202020204" pitchFamily="34" charset="0"/>
              <a:buChar char="•"/>
            </a:pPr>
            <a:r>
              <a:rPr lang="en-US" dirty="0"/>
              <a:t>Only neutron rich light nuclei which shows binding of neutron pairs increase </a:t>
            </a:r>
          </a:p>
          <a:p>
            <a:pPr lvl="1"/>
            <a:r>
              <a:rPr lang="en-US" dirty="0"/>
              <a:t>	with additional neutron pairs</a:t>
            </a:r>
          </a:p>
        </p:txBody>
      </p:sp>
      <p:sp>
        <p:nvSpPr>
          <p:cNvPr id="3" name="TextBox 2">
            <a:extLst>
              <a:ext uri="{FF2B5EF4-FFF2-40B4-BE49-F238E27FC236}">
                <a16:creationId xmlns:a16="http://schemas.microsoft.com/office/drawing/2014/main" id="{A1CF7D96-0415-47BE-B2FF-3CFBBA54AA56}"/>
              </a:ext>
            </a:extLst>
          </p:cNvPr>
          <p:cNvSpPr txBox="1"/>
          <p:nvPr/>
        </p:nvSpPr>
        <p:spPr>
          <a:xfrm>
            <a:off x="6969512" y="2575932"/>
            <a:ext cx="444933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Simplest explanation :</a:t>
            </a:r>
          </a:p>
          <a:p>
            <a:r>
              <a:rPr lang="en-US" dirty="0"/>
              <a:t>    Shell closure at (0p3/2) orbit </a:t>
            </a:r>
          </a:p>
          <a:p>
            <a:endParaRPr lang="en-US" dirty="0"/>
          </a:p>
          <a:p>
            <a:pPr marL="285750" indent="-285750">
              <a:buFont typeface="Arial" panose="020B0604020202020204" pitchFamily="34" charset="0"/>
              <a:buChar char="•"/>
            </a:pPr>
            <a:r>
              <a:rPr lang="en-US" dirty="0"/>
              <a:t>But, there may be something more.</a:t>
            </a:r>
          </a:p>
          <a:p>
            <a:r>
              <a:rPr lang="en-US" dirty="0"/>
              <a:t>    </a:t>
            </a:r>
            <a:r>
              <a:rPr lang="en-US" dirty="0">
                <a:sym typeface="Wingdings" panose="05000000000000000000" pitchFamily="2" charset="2"/>
              </a:rPr>
              <a:t> pairing structure of neutrons </a:t>
            </a:r>
            <a:endParaRPr lang="en-US" dirty="0"/>
          </a:p>
        </p:txBody>
      </p:sp>
      <p:pic>
        <p:nvPicPr>
          <p:cNvPr id="1026" name="Picture 2" descr="Two-neutron separation energies versus even neutron number">
            <a:extLst>
              <a:ext uri="{FF2B5EF4-FFF2-40B4-BE49-F238E27FC236}">
                <a16:creationId xmlns:a16="http://schemas.microsoft.com/office/drawing/2014/main" id="{995ED7A3-6E95-4583-9B27-9C8345D605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369" y="2575932"/>
            <a:ext cx="6561019" cy="3691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40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Multimodal superfluidity</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5" name="TextBox 4">
            <a:extLst>
              <a:ext uri="{FF2B5EF4-FFF2-40B4-BE49-F238E27FC236}">
                <a16:creationId xmlns:a16="http://schemas.microsoft.com/office/drawing/2014/main" id="{9479784C-3E55-486E-857B-03A18D0AB245}"/>
              </a:ext>
            </a:extLst>
          </p:cNvPr>
          <p:cNvSpPr txBox="1"/>
          <p:nvPr/>
        </p:nvSpPr>
        <p:spPr>
          <a:xfrm>
            <a:off x="923571" y="1516566"/>
            <a:ext cx="9580878" cy="3970318"/>
          </a:xfrm>
          <a:prstGeom prst="rect">
            <a:avLst/>
          </a:prstGeom>
          <a:noFill/>
        </p:spPr>
        <p:txBody>
          <a:bodyPr wrap="square" rtlCol="0">
            <a:spAutoFit/>
          </a:bodyPr>
          <a:lstStyle/>
          <a:p>
            <a:pPr marL="285750" indent="-285750">
              <a:buFont typeface="Arial" panose="020B0604020202020204" pitchFamily="34" charset="0"/>
              <a:buChar char="•"/>
            </a:pPr>
            <a:r>
              <a:rPr lang="en-US" dirty="0"/>
              <a:t>Conventional picture</a:t>
            </a:r>
          </a:p>
          <a:p>
            <a:pPr marL="742950" lvl="1" indent="-285750">
              <a:buFont typeface="Arial" panose="020B0604020202020204" pitchFamily="34" charset="0"/>
              <a:buChar char="•"/>
            </a:pPr>
            <a:r>
              <a:rPr lang="en-US" dirty="0"/>
              <a:t> Nuclear binding exhibits strong neutron-pairing correlations</a:t>
            </a:r>
          </a:p>
          <a:p>
            <a:pPr marL="742950" lvl="1" indent="-285750">
              <a:buFont typeface="Arial" panose="020B0604020202020204" pitchFamily="34" charset="0"/>
              <a:buChar char="•"/>
            </a:pPr>
            <a:r>
              <a:rPr lang="en-US" dirty="0"/>
              <a:t> Neutron superfluidity is often described by one dominant pairing mode</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Multimodal neutron superfluidity</a:t>
            </a:r>
          </a:p>
          <a:p>
            <a:pPr marL="742950" lvl="1" indent="-285750">
              <a:buFont typeface="Arial" panose="020B0604020202020204" pitchFamily="34" charset="0"/>
              <a:buChar char="•"/>
            </a:pPr>
            <a:r>
              <a:rPr lang="en-US" dirty="0"/>
              <a:t>spin-singlet s-wave pairs</a:t>
            </a:r>
          </a:p>
          <a:p>
            <a:pPr marL="742950" lvl="1" indent="-285750">
              <a:buFont typeface="Arial" panose="020B0604020202020204" pitchFamily="34" charset="0"/>
              <a:buChar char="•"/>
            </a:pPr>
            <a:r>
              <a:rPr lang="en-US" dirty="0"/>
              <a:t>p-wave pairs </a:t>
            </a:r>
          </a:p>
          <a:p>
            <a:pPr marL="742950" lvl="1" indent="-285750">
              <a:buFont typeface="Arial" panose="020B0604020202020204" pitchFamily="34" charset="0"/>
              <a:buChar char="•"/>
            </a:pPr>
            <a:r>
              <a:rPr lang="en-US" dirty="0"/>
              <a:t>Quartets formed as bound states of two s-wave pairs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Motivating question</a:t>
            </a:r>
          </a:p>
          <a:p>
            <a:pPr marL="742950" lvl="1" indent="-285750">
              <a:buFont typeface="Arial" panose="020B0604020202020204" pitchFamily="34" charset="0"/>
              <a:buChar char="•"/>
            </a:pPr>
            <a:r>
              <a:rPr lang="en-US" dirty="0"/>
              <a:t>Could the four valence neutrons of ⁸He realize a finite-system analogue?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Y.-Z. Ma et al., arXiv:2602.17611 (2026), “Evidence for Multimodal Superfluidity of Neutrons”, </a:t>
            </a:r>
          </a:p>
        </p:txBody>
      </p:sp>
    </p:spTree>
    <p:extLst>
      <p:ext uri="{BB962C8B-B14F-4D97-AF65-F5344CB8AC3E}">
        <p14:creationId xmlns:p14="http://schemas.microsoft.com/office/powerpoint/2010/main" val="130328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Multimodal superfluidity of neutrons</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2" name="그림 1">
            <a:extLst>
              <a:ext uri="{FF2B5EF4-FFF2-40B4-BE49-F238E27FC236}">
                <a16:creationId xmlns:a16="http://schemas.microsoft.com/office/drawing/2014/main" id="{DFE6486B-9B7F-4251-8824-02C70EEE2688}"/>
              </a:ext>
            </a:extLst>
          </p:cNvPr>
          <p:cNvPicPr>
            <a:picLocks noChangeAspect="1"/>
          </p:cNvPicPr>
          <p:nvPr/>
        </p:nvPicPr>
        <p:blipFill>
          <a:blip r:embed="rId4"/>
          <a:stretch>
            <a:fillRect/>
          </a:stretch>
        </p:blipFill>
        <p:spPr>
          <a:xfrm>
            <a:off x="475347" y="1220145"/>
            <a:ext cx="10178744" cy="4653532"/>
          </a:xfrm>
          <a:prstGeom prst="rect">
            <a:avLst/>
          </a:prstGeom>
        </p:spPr>
      </p:pic>
      <p:sp>
        <p:nvSpPr>
          <p:cNvPr id="3" name="직사각형 2">
            <a:extLst>
              <a:ext uri="{FF2B5EF4-FFF2-40B4-BE49-F238E27FC236}">
                <a16:creationId xmlns:a16="http://schemas.microsoft.com/office/drawing/2014/main" id="{5D138EAB-C876-4DD5-8F52-2A019122D020}"/>
              </a:ext>
            </a:extLst>
          </p:cNvPr>
          <p:cNvSpPr/>
          <p:nvPr/>
        </p:nvSpPr>
        <p:spPr>
          <a:xfrm>
            <a:off x="1698701" y="5999879"/>
            <a:ext cx="7913649" cy="646331"/>
          </a:xfrm>
          <a:prstGeom prst="rect">
            <a:avLst/>
          </a:prstGeom>
        </p:spPr>
        <p:txBody>
          <a:bodyPr wrap="square">
            <a:spAutoFit/>
          </a:bodyPr>
          <a:lstStyle/>
          <a:p>
            <a:pPr marL="285750" indent="-285750">
              <a:buFont typeface="Arial" panose="020B0604020202020204" pitchFamily="34" charset="0"/>
              <a:buChar char="•"/>
            </a:pPr>
            <a:r>
              <a:rPr lang="en-US" altLang="ko-KR" dirty="0"/>
              <a:t>Yuan-</a:t>
            </a:r>
            <a:r>
              <a:rPr lang="en-US" altLang="ko-KR" dirty="0" err="1"/>
              <a:t>Zhuo</a:t>
            </a:r>
            <a:r>
              <a:rPr lang="en-US" altLang="ko-KR" dirty="0"/>
              <a:t> Ma et al, “Evidence for Multimodal Superfluidity of Neutrons”, </a:t>
            </a:r>
          </a:p>
          <a:p>
            <a:r>
              <a:rPr lang="en-US" altLang="ko-KR" dirty="0"/>
              <a:t>    arXiv:2602.17611</a:t>
            </a:r>
          </a:p>
        </p:txBody>
      </p:sp>
    </p:spTree>
    <p:extLst>
      <p:ext uri="{BB962C8B-B14F-4D97-AF65-F5344CB8AC3E}">
        <p14:creationId xmlns:p14="http://schemas.microsoft.com/office/powerpoint/2010/main" val="846352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Multimodal superfluidity of neutrons</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3" name="직사각형 2">
            <a:extLst>
              <a:ext uri="{FF2B5EF4-FFF2-40B4-BE49-F238E27FC236}">
                <a16:creationId xmlns:a16="http://schemas.microsoft.com/office/drawing/2014/main" id="{5D138EAB-C876-4DD5-8F52-2A019122D020}"/>
              </a:ext>
            </a:extLst>
          </p:cNvPr>
          <p:cNvSpPr/>
          <p:nvPr/>
        </p:nvSpPr>
        <p:spPr>
          <a:xfrm>
            <a:off x="1698701" y="5999879"/>
            <a:ext cx="7913649" cy="646331"/>
          </a:xfrm>
          <a:prstGeom prst="rect">
            <a:avLst/>
          </a:prstGeom>
        </p:spPr>
        <p:txBody>
          <a:bodyPr wrap="square">
            <a:spAutoFit/>
          </a:bodyPr>
          <a:lstStyle/>
          <a:p>
            <a:pPr marL="285750" indent="-285750">
              <a:buFont typeface="Arial" panose="020B0604020202020204" pitchFamily="34" charset="0"/>
              <a:buChar char="•"/>
            </a:pPr>
            <a:r>
              <a:rPr lang="en-US" altLang="ko-KR" dirty="0"/>
              <a:t>Yuan-</a:t>
            </a:r>
            <a:r>
              <a:rPr lang="en-US" altLang="ko-KR" dirty="0" err="1"/>
              <a:t>Zhuo</a:t>
            </a:r>
            <a:r>
              <a:rPr lang="en-US" altLang="ko-KR" dirty="0"/>
              <a:t> Ma et al, “Evidence for Multimodal Superfluidity of Neutrons”, </a:t>
            </a:r>
          </a:p>
          <a:p>
            <a:r>
              <a:rPr lang="en-US" altLang="ko-KR" dirty="0"/>
              <a:t>    arXiv:2602.17611</a:t>
            </a:r>
          </a:p>
        </p:txBody>
      </p:sp>
      <p:sp>
        <p:nvSpPr>
          <p:cNvPr id="4" name="TextBox 3">
            <a:extLst>
              <a:ext uri="{FF2B5EF4-FFF2-40B4-BE49-F238E27FC236}">
                <a16:creationId xmlns:a16="http://schemas.microsoft.com/office/drawing/2014/main" id="{8AB45F22-4DC7-48B0-928D-00F797F23E9D}"/>
              </a:ext>
            </a:extLst>
          </p:cNvPr>
          <p:cNvSpPr txBox="1"/>
          <p:nvPr/>
        </p:nvSpPr>
        <p:spPr>
          <a:xfrm>
            <a:off x="923571" y="1449659"/>
            <a:ext cx="7752078" cy="369332"/>
          </a:xfrm>
          <a:prstGeom prst="rect">
            <a:avLst/>
          </a:prstGeom>
          <a:noFill/>
        </p:spPr>
        <p:txBody>
          <a:bodyPr wrap="square" rtlCol="0">
            <a:spAutoFit/>
          </a:bodyPr>
          <a:lstStyle/>
          <a:p>
            <a:pPr marL="285750" indent="-285750">
              <a:buFont typeface="Arial" panose="020B0604020202020204" pitchFamily="34" charset="0"/>
              <a:buChar char="•"/>
            </a:pPr>
            <a:r>
              <a:rPr lang="en-US" dirty="0"/>
              <a:t>generalized attractive extended (GAE) Hubbard model in 3D lattice</a:t>
            </a:r>
          </a:p>
        </p:txBody>
      </p:sp>
      <p:pic>
        <p:nvPicPr>
          <p:cNvPr id="6" name="그림 5">
            <a:extLst>
              <a:ext uri="{FF2B5EF4-FFF2-40B4-BE49-F238E27FC236}">
                <a16:creationId xmlns:a16="http://schemas.microsoft.com/office/drawing/2014/main" id="{4CFD9891-F79E-418C-97D2-C651C2A7642F}"/>
              </a:ext>
            </a:extLst>
          </p:cNvPr>
          <p:cNvPicPr>
            <a:picLocks noChangeAspect="1"/>
          </p:cNvPicPr>
          <p:nvPr/>
        </p:nvPicPr>
        <p:blipFill>
          <a:blip r:embed="rId4"/>
          <a:stretch>
            <a:fillRect/>
          </a:stretch>
        </p:blipFill>
        <p:spPr>
          <a:xfrm>
            <a:off x="839619" y="1910455"/>
            <a:ext cx="10303727" cy="3559218"/>
          </a:xfrm>
          <a:prstGeom prst="rect">
            <a:avLst/>
          </a:prstGeom>
        </p:spPr>
      </p:pic>
    </p:spTree>
    <p:extLst>
      <p:ext uri="{BB962C8B-B14F-4D97-AF65-F5344CB8AC3E}">
        <p14:creationId xmlns:p14="http://schemas.microsoft.com/office/powerpoint/2010/main" val="3984252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Multimodal superfluidity of neutrons</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3" name="직사각형 2">
            <a:extLst>
              <a:ext uri="{FF2B5EF4-FFF2-40B4-BE49-F238E27FC236}">
                <a16:creationId xmlns:a16="http://schemas.microsoft.com/office/drawing/2014/main" id="{5D138EAB-C876-4DD5-8F52-2A019122D020}"/>
              </a:ext>
            </a:extLst>
          </p:cNvPr>
          <p:cNvSpPr/>
          <p:nvPr/>
        </p:nvSpPr>
        <p:spPr>
          <a:xfrm>
            <a:off x="1698701" y="5999879"/>
            <a:ext cx="7913649" cy="646331"/>
          </a:xfrm>
          <a:prstGeom prst="rect">
            <a:avLst/>
          </a:prstGeom>
        </p:spPr>
        <p:txBody>
          <a:bodyPr wrap="square">
            <a:spAutoFit/>
          </a:bodyPr>
          <a:lstStyle/>
          <a:p>
            <a:pPr marL="285750" indent="-285750">
              <a:buFont typeface="Arial" panose="020B0604020202020204" pitchFamily="34" charset="0"/>
              <a:buChar char="•"/>
            </a:pPr>
            <a:r>
              <a:rPr lang="en-US" altLang="ko-KR" dirty="0"/>
              <a:t>Yuan-</a:t>
            </a:r>
            <a:r>
              <a:rPr lang="en-US" altLang="ko-KR" dirty="0" err="1"/>
              <a:t>Zhuo</a:t>
            </a:r>
            <a:r>
              <a:rPr lang="en-US" altLang="ko-KR" dirty="0"/>
              <a:t> Ma et al, “Evidence for Multimodal Superfluidity of Neutrons”, </a:t>
            </a:r>
          </a:p>
          <a:p>
            <a:r>
              <a:rPr lang="en-US" altLang="ko-KR" dirty="0"/>
              <a:t>    arXiv:2602.17611</a:t>
            </a:r>
          </a:p>
        </p:txBody>
      </p:sp>
      <p:sp>
        <p:nvSpPr>
          <p:cNvPr id="4" name="TextBox 3">
            <a:extLst>
              <a:ext uri="{FF2B5EF4-FFF2-40B4-BE49-F238E27FC236}">
                <a16:creationId xmlns:a16="http://schemas.microsoft.com/office/drawing/2014/main" id="{8AB45F22-4DC7-48B0-928D-00F797F23E9D}"/>
              </a:ext>
            </a:extLst>
          </p:cNvPr>
          <p:cNvSpPr txBox="1"/>
          <p:nvPr/>
        </p:nvSpPr>
        <p:spPr>
          <a:xfrm>
            <a:off x="923571" y="1382752"/>
            <a:ext cx="7752078" cy="369332"/>
          </a:xfrm>
          <a:prstGeom prst="rect">
            <a:avLst/>
          </a:prstGeom>
          <a:noFill/>
        </p:spPr>
        <p:txBody>
          <a:bodyPr wrap="square" rtlCol="0">
            <a:spAutoFit/>
          </a:bodyPr>
          <a:lstStyle/>
          <a:p>
            <a:pPr marL="285750" indent="-285750">
              <a:buFont typeface="Arial" panose="020B0604020202020204" pitchFamily="34" charset="0"/>
              <a:buChar char="•"/>
            </a:pPr>
            <a:r>
              <a:rPr lang="en-US" dirty="0"/>
              <a:t>Realistic ab initio NLEFT interaction in 3D lattice </a:t>
            </a:r>
          </a:p>
        </p:txBody>
      </p:sp>
      <p:pic>
        <p:nvPicPr>
          <p:cNvPr id="5" name="그림 4">
            <a:extLst>
              <a:ext uri="{FF2B5EF4-FFF2-40B4-BE49-F238E27FC236}">
                <a16:creationId xmlns:a16="http://schemas.microsoft.com/office/drawing/2014/main" id="{30175EDD-9376-433D-BABA-8DB3B9A27F29}"/>
              </a:ext>
            </a:extLst>
          </p:cNvPr>
          <p:cNvPicPr>
            <a:picLocks noChangeAspect="1"/>
          </p:cNvPicPr>
          <p:nvPr/>
        </p:nvPicPr>
        <p:blipFill>
          <a:blip r:embed="rId4"/>
          <a:stretch>
            <a:fillRect/>
          </a:stretch>
        </p:blipFill>
        <p:spPr>
          <a:xfrm>
            <a:off x="1345141" y="1935474"/>
            <a:ext cx="8367571" cy="3852615"/>
          </a:xfrm>
          <a:prstGeom prst="rect">
            <a:avLst/>
          </a:prstGeom>
        </p:spPr>
      </p:pic>
    </p:spTree>
    <p:extLst>
      <p:ext uri="{BB962C8B-B14F-4D97-AF65-F5344CB8AC3E}">
        <p14:creationId xmlns:p14="http://schemas.microsoft.com/office/powerpoint/2010/main" val="1228786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Scope and method</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2" name="TextBox 1">
            <a:extLst>
              <a:ext uri="{FF2B5EF4-FFF2-40B4-BE49-F238E27FC236}">
                <a16:creationId xmlns:a16="http://schemas.microsoft.com/office/drawing/2014/main" id="{992CB96F-C73F-46FE-8C59-DD155F3759BA}"/>
              </a:ext>
            </a:extLst>
          </p:cNvPr>
          <p:cNvSpPr txBox="1"/>
          <p:nvPr/>
        </p:nvSpPr>
        <p:spPr>
          <a:xfrm>
            <a:off x="390293" y="1003482"/>
            <a:ext cx="10682868" cy="5078313"/>
          </a:xfrm>
          <a:prstGeom prst="rect">
            <a:avLst/>
          </a:prstGeom>
          <a:noFill/>
        </p:spPr>
        <p:txBody>
          <a:bodyPr wrap="square" rtlCol="0">
            <a:spAutoFit/>
          </a:bodyPr>
          <a:lstStyle/>
          <a:p>
            <a:pPr marL="285750" indent="-285750">
              <a:buFont typeface="Arial" panose="020B0604020202020204" pitchFamily="34" charset="0"/>
              <a:buChar char="•"/>
            </a:pPr>
            <a:r>
              <a:rPr lang="en-US" altLang="ko-KR" dirty="0"/>
              <a:t>Scientific question</a:t>
            </a:r>
          </a:p>
          <a:p>
            <a:pPr marL="742950" lvl="1" indent="-285750">
              <a:buFont typeface="Arial" panose="020B0604020202020204" pitchFamily="34" charset="0"/>
              <a:buChar char="•"/>
            </a:pPr>
            <a:r>
              <a:rPr lang="en-US" altLang="ko-KR" dirty="0"/>
              <a:t>Do the four valence neutrons in ⁸He exhibit a finite-system analogue of quartet binding?</a:t>
            </a:r>
          </a:p>
          <a:p>
            <a:endParaRPr lang="en-US" altLang="ko-KR" dirty="0"/>
          </a:p>
          <a:p>
            <a:pPr marL="285750" indent="-285750">
              <a:buFont typeface="Arial" panose="020B0604020202020204" pitchFamily="34" charset="0"/>
              <a:buChar char="•"/>
            </a:pPr>
            <a:r>
              <a:rPr lang="en-US" altLang="ko-KR" dirty="0"/>
              <a:t>Method</a:t>
            </a:r>
          </a:p>
          <a:p>
            <a:pPr marL="742950" lvl="1" indent="-285750">
              <a:buFont typeface="Arial" panose="020B0604020202020204" pitchFamily="34" charset="0"/>
              <a:buChar char="•"/>
            </a:pPr>
            <a:r>
              <a:rPr lang="en-US" altLang="ko-KR" dirty="0"/>
              <a:t>Ab initio no-core shell-model calculations of ⁴He, ⁶He, and ⁸He</a:t>
            </a:r>
          </a:p>
          <a:p>
            <a:pPr marL="742950" lvl="1" indent="-285750">
              <a:buFont typeface="Arial" panose="020B0604020202020204" pitchFamily="34" charset="0"/>
              <a:buChar char="•"/>
            </a:pPr>
            <a:r>
              <a:rPr lang="en-US" altLang="ko-KR" dirty="0"/>
              <a:t>Daejeon16 nucleon–nucleon interaction plus Coulomb interaction</a:t>
            </a:r>
          </a:p>
          <a:p>
            <a:pPr marL="742950" lvl="1" indent="-285750">
              <a:buFont typeface="Arial" panose="020B0604020202020204" pitchFamily="34" charset="0"/>
              <a:buChar char="•"/>
            </a:pPr>
            <a:r>
              <a:rPr lang="en-US" altLang="ko-KR" dirty="0"/>
              <a:t>Two-body matrix elements: </a:t>
            </a:r>
            <a:r>
              <a:rPr lang="en-US" altLang="ko-KR" dirty="0" err="1"/>
              <a:t>NuHamil</a:t>
            </a:r>
            <a:r>
              <a:rPr lang="en-US" altLang="ko-KR" dirty="0"/>
              <a:t> (T. Miyagi, EPA J59, 150 (2023). )</a:t>
            </a:r>
          </a:p>
          <a:p>
            <a:pPr marL="742950" lvl="1" indent="-285750">
              <a:buFont typeface="Arial" panose="020B0604020202020204" pitchFamily="34" charset="0"/>
              <a:buChar char="•"/>
            </a:pPr>
            <a:r>
              <a:rPr lang="en-US" altLang="ko-KR" dirty="0"/>
              <a:t>Many-body diagonalization: BIGSTICK (C. W. Johnson et al, </a:t>
            </a:r>
            <a:r>
              <a:rPr lang="fr-FR" altLang="ko-KR" dirty="0"/>
              <a:t>CPC 184, 2761 (2013) )</a:t>
            </a:r>
          </a:p>
          <a:p>
            <a:pPr marL="742950" lvl="1" indent="-285750">
              <a:buFont typeface="Arial" panose="020B0604020202020204" pitchFamily="34" charset="0"/>
              <a:buChar char="•"/>
            </a:pPr>
            <a:endParaRPr lang="en-US" altLang="ko-KR" dirty="0"/>
          </a:p>
          <a:p>
            <a:pPr marL="285750" indent="-285750">
              <a:buFont typeface="Arial" panose="020B0604020202020204" pitchFamily="34" charset="0"/>
              <a:buChar char="•"/>
            </a:pPr>
            <a:r>
              <a:rPr lang="en-US" altLang="ko-KR" dirty="0"/>
              <a:t>Why this framework?</a:t>
            </a:r>
          </a:p>
          <a:p>
            <a:pPr marL="742950" lvl="1" indent="-285750">
              <a:buFont typeface="Arial" panose="020B0604020202020204" pitchFamily="34" charset="0"/>
              <a:buChar char="•"/>
            </a:pPr>
            <a:r>
              <a:rPr lang="en-US" altLang="ko-KR" dirty="0"/>
              <a:t>An independent, non-lattice test of the proposed mechanism</a:t>
            </a:r>
          </a:p>
          <a:p>
            <a:pPr marL="285750" indent="-285750">
              <a:buFont typeface="Arial" panose="020B0604020202020204" pitchFamily="34" charset="0"/>
              <a:buChar char="•"/>
            </a:pPr>
            <a:endParaRPr lang="en-US" altLang="ko-KR" dirty="0"/>
          </a:p>
          <a:p>
            <a:pPr marL="285750" indent="-285750">
              <a:buFont typeface="Arial" panose="020B0604020202020204" pitchFamily="34" charset="0"/>
              <a:buChar char="•"/>
            </a:pPr>
            <a:r>
              <a:rPr lang="en-US" altLang="ko-KR" dirty="0"/>
              <a:t>Interpretation and limitations</a:t>
            </a:r>
          </a:p>
          <a:p>
            <a:pPr marL="742950" lvl="1" indent="-285750">
              <a:buFont typeface="Arial" panose="020B0604020202020204" pitchFamily="34" charset="0"/>
              <a:buChar char="•"/>
            </a:pPr>
            <a:r>
              <a:rPr lang="en-US" altLang="ko-KR" dirty="0"/>
              <a:t>A neutron quartet is </a:t>
            </a:r>
            <a:r>
              <a:rPr lang="en-US" altLang="ko-KR" dirty="0">
                <a:solidFill>
                  <a:srgbClr val="FF0000"/>
                </a:solidFill>
              </a:rPr>
              <a:t>not a free tetraneutron</a:t>
            </a:r>
          </a:p>
          <a:p>
            <a:pPr marL="742950" lvl="1" indent="-285750">
              <a:buFont typeface="Arial" panose="020B0604020202020204" pitchFamily="34" charset="0"/>
              <a:buChar char="•"/>
            </a:pPr>
            <a:r>
              <a:rPr lang="en-US" altLang="ko-KR" dirty="0"/>
              <a:t>We study correlations and a binding mechanism—</a:t>
            </a:r>
            <a:r>
              <a:rPr lang="en-US" altLang="ko-KR" dirty="0">
                <a:solidFill>
                  <a:srgbClr val="FF0000"/>
                </a:solidFill>
              </a:rPr>
              <a:t>not a distinct bound quartet state</a:t>
            </a:r>
          </a:p>
          <a:p>
            <a:pPr marL="742950" lvl="1" indent="-285750">
              <a:buFont typeface="Arial" panose="020B0604020202020204" pitchFamily="34" charset="0"/>
              <a:buChar char="•"/>
            </a:pPr>
            <a:r>
              <a:rPr lang="en-US" altLang="ko-KR" dirty="0"/>
              <a:t>Conclusions are </a:t>
            </a:r>
            <a:r>
              <a:rPr lang="en-US" altLang="ko-KR" dirty="0">
                <a:solidFill>
                  <a:srgbClr val="FF0000"/>
                </a:solidFill>
              </a:rPr>
              <a:t>specific to the Daejeon16 </a:t>
            </a:r>
            <a:r>
              <a:rPr lang="en-US" altLang="ko-KR" dirty="0"/>
              <a:t>NCSM calculation</a:t>
            </a:r>
          </a:p>
          <a:p>
            <a:pPr marL="742950" lvl="1" indent="-285750">
              <a:buFont typeface="Arial" panose="020B0604020202020204" pitchFamily="34" charset="0"/>
              <a:buChar char="•"/>
            </a:pPr>
            <a:r>
              <a:rPr lang="en-US" altLang="ko-KR" dirty="0"/>
              <a:t>Continuum </a:t>
            </a:r>
            <a:r>
              <a:rPr lang="en-US" altLang="ko-KR" dirty="0" err="1"/>
              <a:t>asymptotics</a:t>
            </a:r>
            <a:r>
              <a:rPr lang="en-US" altLang="ko-KR" dirty="0"/>
              <a:t> are </a:t>
            </a:r>
            <a:r>
              <a:rPr lang="en-US" altLang="ko-KR" dirty="0">
                <a:solidFill>
                  <a:srgbClr val="FF0000"/>
                </a:solidFill>
              </a:rPr>
              <a:t>not</a:t>
            </a:r>
            <a:r>
              <a:rPr lang="en-US" altLang="ko-KR" dirty="0"/>
              <a:t> treated explicitly</a:t>
            </a:r>
          </a:p>
          <a:p>
            <a:endParaRPr lang="en-US" dirty="0"/>
          </a:p>
        </p:txBody>
      </p:sp>
    </p:spTree>
    <p:extLst>
      <p:ext uri="{BB962C8B-B14F-4D97-AF65-F5344CB8AC3E}">
        <p14:creationId xmlns:p14="http://schemas.microsoft.com/office/powerpoint/2010/main" val="2781389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Daejeon 16 interaction</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2" name="TextBox 1">
            <a:extLst>
              <a:ext uri="{FF2B5EF4-FFF2-40B4-BE49-F238E27FC236}">
                <a16:creationId xmlns:a16="http://schemas.microsoft.com/office/drawing/2014/main" id="{72A7BDCA-7DAA-41EC-888A-3AE94693A41F}"/>
              </a:ext>
            </a:extLst>
          </p:cNvPr>
          <p:cNvSpPr txBox="1"/>
          <p:nvPr/>
        </p:nvSpPr>
        <p:spPr>
          <a:xfrm>
            <a:off x="1081667" y="1326995"/>
            <a:ext cx="10593659" cy="2031325"/>
          </a:xfrm>
          <a:prstGeom prst="rect">
            <a:avLst/>
          </a:prstGeom>
          <a:noFill/>
        </p:spPr>
        <p:txBody>
          <a:bodyPr wrap="square" rtlCol="0">
            <a:spAutoFit/>
          </a:bodyPr>
          <a:lstStyle/>
          <a:p>
            <a:pPr marL="285750" indent="-285750">
              <a:buFont typeface="Arial" panose="020B0604020202020204" pitchFamily="34" charset="0"/>
              <a:buChar char="•"/>
            </a:pPr>
            <a:r>
              <a:rPr lang="en-US" dirty="0"/>
              <a:t>Daejeon 16 </a:t>
            </a:r>
            <a:r>
              <a:rPr lang="en-US" dirty="0">
                <a:solidFill>
                  <a:srgbClr val="0075C2"/>
                </a:solidFill>
              </a:rPr>
              <a:t>(</a:t>
            </a:r>
            <a:r>
              <a:rPr lang="fi-FI" altLang="ko-KR" dirty="0"/>
              <a:t>A. M. Shirokov et al</a:t>
            </a:r>
            <a:r>
              <a:rPr lang="en-US" altLang="ko-KR" dirty="0"/>
              <a:t>, Phys. Lett. B 761, 87 (2016)</a:t>
            </a:r>
            <a:r>
              <a:rPr lang="en-US" dirty="0">
                <a:solidFill>
                  <a:srgbClr val="0075C2"/>
                </a:solidFill>
              </a:rPr>
              <a:t>)</a:t>
            </a:r>
          </a:p>
          <a:p>
            <a:pPr marL="285750" indent="-285750">
              <a:buFont typeface="Arial" panose="020B0604020202020204" pitchFamily="34" charset="0"/>
              <a:buChar char="•"/>
            </a:pPr>
            <a:endParaRPr lang="en-US" dirty="0">
              <a:solidFill>
                <a:srgbClr val="0075C2"/>
              </a:solidFill>
            </a:endParaRPr>
          </a:p>
          <a:p>
            <a:pPr marL="742950" lvl="1" indent="-285750">
              <a:buFont typeface="Arial" panose="020B0604020202020204" pitchFamily="34" charset="0"/>
              <a:buChar char="•"/>
            </a:pPr>
            <a:r>
              <a:rPr lang="en-US" dirty="0"/>
              <a:t>Based on SRG evolved chiral N3LO interaction</a:t>
            </a:r>
          </a:p>
          <a:p>
            <a:pPr marL="742950" lvl="1" indent="-285750">
              <a:buFont typeface="Arial" panose="020B0604020202020204" pitchFamily="34" charset="0"/>
              <a:buChar char="•"/>
            </a:pPr>
            <a:r>
              <a:rPr lang="en-US" dirty="0"/>
              <a:t>Phase Equivalent transformation </a:t>
            </a:r>
          </a:p>
          <a:p>
            <a:pPr marL="742950" lvl="1" indent="-285750">
              <a:buFont typeface="Arial" panose="020B0604020202020204" pitchFamily="34" charset="0"/>
              <a:buChar char="•"/>
            </a:pPr>
            <a:r>
              <a:rPr lang="en-US" dirty="0"/>
              <a:t>Adjusted to light nuclei</a:t>
            </a:r>
          </a:p>
          <a:p>
            <a:pPr marL="742950" lvl="1" indent="-285750">
              <a:buFont typeface="Arial" panose="020B0604020202020204" pitchFamily="34" charset="0"/>
              <a:buChar char="•"/>
            </a:pPr>
            <a:r>
              <a:rPr lang="en-US" dirty="0">
                <a:solidFill>
                  <a:srgbClr val="FF0000"/>
                </a:solidFill>
              </a:rPr>
              <a:t>Good </a:t>
            </a:r>
            <a:r>
              <a:rPr lang="en-US" dirty="0" err="1">
                <a:solidFill>
                  <a:srgbClr val="FF0000"/>
                </a:solidFill>
              </a:rPr>
              <a:t>Nmax</a:t>
            </a:r>
            <a:r>
              <a:rPr lang="en-US" dirty="0">
                <a:solidFill>
                  <a:srgbClr val="FF0000"/>
                </a:solidFill>
              </a:rPr>
              <a:t> convergence </a:t>
            </a:r>
            <a:r>
              <a:rPr lang="en-US" dirty="0"/>
              <a:t>behavior</a:t>
            </a:r>
          </a:p>
          <a:p>
            <a:pPr marL="742950" lvl="1" indent="-285750">
              <a:buFont typeface="Arial" panose="020B0604020202020204" pitchFamily="34" charset="0"/>
              <a:buChar char="•"/>
            </a:pPr>
            <a:r>
              <a:rPr lang="en-US" dirty="0"/>
              <a:t>Good binding energy prediction </a:t>
            </a:r>
            <a:r>
              <a:rPr lang="en-US" dirty="0">
                <a:solidFill>
                  <a:srgbClr val="FF0000"/>
                </a:solidFill>
              </a:rPr>
              <a:t>without explicit 3-body force</a:t>
            </a:r>
          </a:p>
        </p:txBody>
      </p:sp>
      <p:pic>
        <p:nvPicPr>
          <p:cNvPr id="2050" name="Picture 2" descr="Refer to caption">
            <a:extLst>
              <a:ext uri="{FF2B5EF4-FFF2-40B4-BE49-F238E27FC236}">
                <a16:creationId xmlns:a16="http://schemas.microsoft.com/office/drawing/2014/main" id="{8E42F35C-8F9D-4420-AFBC-12DB6C2C7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284" y="3499681"/>
            <a:ext cx="4296700" cy="29885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3DC924-35B0-4C66-BDCE-B2BDACCC7517}"/>
              </a:ext>
            </a:extLst>
          </p:cNvPr>
          <p:cNvSpPr txBox="1"/>
          <p:nvPr/>
        </p:nvSpPr>
        <p:spPr>
          <a:xfrm>
            <a:off x="5754029" y="6276878"/>
            <a:ext cx="3771097" cy="369332"/>
          </a:xfrm>
          <a:prstGeom prst="rect">
            <a:avLst/>
          </a:prstGeom>
          <a:noFill/>
        </p:spPr>
        <p:txBody>
          <a:bodyPr wrap="none" rtlCol="0">
            <a:spAutoFit/>
          </a:bodyPr>
          <a:lstStyle/>
          <a:p>
            <a:r>
              <a:rPr lang="en-US" dirty="0"/>
              <a:t>https://arxiv.org/html/1908.00155v1</a:t>
            </a:r>
          </a:p>
        </p:txBody>
      </p:sp>
    </p:spTree>
    <p:extLst>
      <p:ext uri="{BB962C8B-B14F-4D97-AF65-F5344CB8AC3E}">
        <p14:creationId xmlns:p14="http://schemas.microsoft.com/office/powerpoint/2010/main" val="2180085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Three point energy difference</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2" name="그림 1">
            <a:extLst>
              <a:ext uri="{FF2B5EF4-FFF2-40B4-BE49-F238E27FC236}">
                <a16:creationId xmlns:a16="http://schemas.microsoft.com/office/drawing/2014/main" id="{B3F3CE31-3559-4C0C-92BD-8B4054532527}"/>
              </a:ext>
            </a:extLst>
          </p:cNvPr>
          <p:cNvPicPr>
            <a:picLocks noChangeAspect="1"/>
          </p:cNvPicPr>
          <p:nvPr/>
        </p:nvPicPr>
        <p:blipFill>
          <a:blip r:embed="rId3"/>
          <a:stretch>
            <a:fillRect/>
          </a:stretch>
        </p:blipFill>
        <p:spPr>
          <a:xfrm>
            <a:off x="475564" y="1283662"/>
            <a:ext cx="5375547" cy="4651134"/>
          </a:xfrm>
          <a:prstGeom prst="rect">
            <a:avLst/>
          </a:prstGeom>
        </p:spPr>
      </p:pic>
      <p:pic>
        <p:nvPicPr>
          <p:cNvPr id="3" name="그림 2">
            <a:extLst>
              <a:ext uri="{FF2B5EF4-FFF2-40B4-BE49-F238E27FC236}">
                <a16:creationId xmlns:a16="http://schemas.microsoft.com/office/drawing/2014/main" id="{3FD6F6CF-338F-45DB-8B4C-EFB2701E4038}"/>
              </a:ext>
            </a:extLst>
          </p:cNvPr>
          <p:cNvPicPr>
            <a:picLocks noChangeAspect="1"/>
          </p:cNvPicPr>
          <p:nvPr/>
        </p:nvPicPr>
        <p:blipFill>
          <a:blip r:embed="rId4"/>
          <a:stretch>
            <a:fillRect/>
          </a:stretch>
        </p:blipFill>
        <p:spPr>
          <a:xfrm>
            <a:off x="6782404" y="1283662"/>
            <a:ext cx="4648849" cy="571580"/>
          </a:xfrm>
          <a:prstGeom prst="rect">
            <a:avLst/>
          </a:prstGeom>
        </p:spPr>
      </p:pic>
      <p:pic>
        <p:nvPicPr>
          <p:cNvPr id="4" name="그림 3">
            <a:extLst>
              <a:ext uri="{FF2B5EF4-FFF2-40B4-BE49-F238E27FC236}">
                <a16:creationId xmlns:a16="http://schemas.microsoft.com/office/drawing/2014/main" id="{5DC2E13B-D2BC-4135-B241-F84ED5EFC5F8}"/>
              </a:ext>
            </a:extLst>
          </p:cNvPr>
          <p:cNvPicPr>
            <a:picLocks noChangeAspect="1"/>
          </p:cNvPicPr>
          <p:nvPr/>
        </p:nvPicPr>
        <p:blipFill>
          <a:blip r:embed="rId5"/>
          <a:stretch>
            <a:fillRect/>
          </a:stretch>
        </p:blipFill>
        <p:spPr>
          <a:xfrm>
            <a:off x="6782404" y="2579541"/>
            <a:ext cx="4515480" cy="581106"/>
          </a:xfrm>
          <a:prstGeom prst="rect">
            <a:avLst/>
          </a:prstGeom>
        </p:spPr>
      </p:pic>
      <p:sp>
        <p:nvSpPr>
          <p:cNvPr id="5" name="TextBox 4">
            <a:extLst>
              <a:ext uri="{FF2B5EF4-FFF2-40B4-BE49-F238E27FC236}">
                <a16:creationId xmlns:a16="http://schemas.microsoft.com/office/drawing/2014/main" id="{606DF679-7F77-4B90-8878-E5874B2528F5}"/>
              </a:ext>
            </a:extLst>
          </p:cNvPr>
          <p:cNvSpPr txBox="1"/>
          <p:nvPr/>
        </p:nvSpPr>
        <p:spPr>
          <a:xfrm>
            <a:off x="6782404" y="2143222"/>
            <a:ext cx="3087606" cy="369332"/>
          </a:xfrm>
          <a:prstGeom prst="rect">
            <a:avLst/>
          </a:prstGeom>
          <a:noFill/>
        </p:spPr>
        <p:txBody>
          <a:bodyPr wrap="square" rtlCol="0">
            <a:spAutoFit/>
          </a:bodyPr>
          <a:lstStyle/>
          <a:p>
            <a:r>
              <a:rPr lang="en-US" dirty="0"/>
              <a:t>Second mass difference</a:t>
            </a:r>
          </a:p>
        </p:txBody>
      </p:sp>
      <p:pic>
        <p:nvPicPr>
          <p:cNvPr id="8" name="그림 7">
            <a:extLst>
              <a:ext uri="{FF2B5EF4-FFF2-40B4-BE49-F238E27FC236}">
                <a16:creationId xmlns:a16="http://schemas.microsoft.com/office/drawing/2014/main" id="{52984087-7B6B-460F-AC78-FF9150DE36C6}"/>
              </a:ext>
            </a:extLst>
          </p:cNvPr>
          <p:cNvPicPr>
            <a:picLocks noChangeAspect="1"/>
          </p:cNvPicPr>
          <p:nvPr/>
        </p:nvPicPr>
        <p:blipFill>
          <a:blip r:embed="rId6"/>
          <a:stretch>
            <a:fillRect/>
          </a:stretch>
        </p:blipFill>
        <p:spPr>
          <a:xfrm>
            <a:off x="6782404" y="3289673"/>
            <a:ext cx="2863738" cy="375572"/>
          </a:xfrm>
          <a:prstGeom prst="rect">
            <a:avLst/>
          </a:prstGeom>
        </p:spPr>
      </p:pic>
      <p:sp>
        <p:nvSpPr>
          <p:cNvPr id="9" name="TextBox 8">
            <a:extLst>
              <a:ext uri="{FF2B5EF4-FFF2-40B4-BE49-F238E27FC236}">
                <a16:creationId xmlns:a16="http://schemas.microsoft.com/office/drawing/2014/main" id="{3927DD55-AA53-4293-81AC-8865D1B03ACD}"/>
              </a:ext>
            </a:extLst>
          </p:cNvPr>
          <p:cNvSpPr txBox="1"/>
          <p:nvPr/>
        </p:nvSpPr>
        <p:spPr>
          <a:xfrm>
            <a:off x="6790060" y="4047240"/>
            <a:ext cx="4926376" cy="923330"/>
          </a:xfrm>
          <a:prstGeom prst="rect">
            <a:avLst/>
          </a:prstGeom>
          <a:noFill/>
        </p:spPr>
        <p:txBody>
          <a:bodyPr wrap="square" rtlCol="0">
            <a:spAutoFit/>
          </a:bodyPr>
          <a:lstStyle/>
          <a:p>
            <a:r>
              <a:rPr lang="en-US" dirty="0"/>
              <a:t>Simple independent particle model</a:t>
            </a:r>
          </a:p>
          <a:p>
            <a:r>
              <a:rPr lang="en-US" dirty="0"/>
              <a:t>Or </a:t>
            </a:r>
          </a:p>
          <a:p>
            <a:r>
              <a:rPr lang="en-US" dirty="0"/>
              <a:t>Simple additive pairing model</a:t>
            </a:r>
          </a:p>
        </p:txBody>
      </p:sp>
      <p:pic>
        <p:nvPicPr>
          <p:cNvPr id="10" name="그림 9">
            <a:extLst>
              <a:ext uri="{FF2B5EF4-FFF2-40B4-BE49-F238E27FC236}">
                <a16:creationId xmlns:a16="http://schemas.microsoft.com/office/drawing/2014/main" id="{1182567F-841E-4BB4-B994-A2E5A2449205}"/>
              </a:ext>
            </a:extLst>
          </p:cNvPr>
          <p:cNvPicPr>
            <a:picLocks noChangeAspect="1"/>
          </p:cNvPicPr>
          <p:nvPr/>
        </p:nvPicPr>
        <p:blipFill>
          <a:blip r:embed="rId7"/>
          <a:stretch>
            <a:fillRect/>
          </a:stretch>
        </p:blipFill>
        <p:spPr>
          <a:xfrm>
            <a:off x="6874500" y="4980509"/>
            <a:ext cx="1143228" cy="372056"/>
          </a:xfrm>
          <a:prstGeom prst="rect">
            <a:avLst/>
          </a:prstGeom>
        </p:spPr>
      </p:pic>
      <p:sp>
        <p:nvSpPr>
          <p:cNvPr id="11" name="TextBox 10">
            <a:extLst>
              <a:ext uri="{FF2B5EF4-FFF2-40B4-BE49-F238E27FC236}">
                <a16:creationId xmlns:a16="http://schemas.microsoft.com/office/drawing/2014/main" id="{89DF9C60-9B21-4499-9117-780C48E0C0AE}"/>
              </a:ext>
            </a:extLst>
          </p:cNvPr>
          <p:cNvSpPr txBox="1"/>
          <p:nvPr/>
        </p:nvSpPr>
        <p:spPr>
          <a:xfrm>
            <a:off x="6782404" y="5783194"/>
            <a:ext cx="4926376" cy="646331"/>
          </a:xfrm>
          <a:prstGeom prst="rect">
            <a:avLst/>
          </a:prstGeom>
          <a:noFill/>
        </p:spPr>
        <p:txBody>
          <a:bodyPr wrap="square" rtlCol="0">
            <a:spAutoFit/>
          </a:bodyPr>
          <a:lstStyle/>
          <a:p>
            <a:r>
              <a:rPr lang="en-US" dirty="0"/>
              <a:t>Nonzero value quantifies nonlinearity </a:t>
            </a:r>
          </a:p>
          <a:p>
            <a:r>
              <a:rPr lang="en-US" dirty="0" err="1"/>
              <a:t>w.r.t.</a:t>
            </a:r>
            <a:r>
              <a:rPr lang="en-US" dirty="0"/>
              <a:t> neutron numbers</a:t>
            </a:r>
          </a:p>
        </p:txBody>
      </p:sp>
    </p:spTree>
    <p:extLst>
      <p:ext uri="{BB962C8B-B14F-4D97-AF65-F5344CB8AC3E}">
        <p14:creationId xmlns:p14="http://schemas.microsoft.com/office/powerpoint/2010/main" val="21642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Three point energy difference</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6" name="그림 5">
            <a:extLst>
              <a:ext uri="{FF2B5EF4-FFF2-40B4-BE49-F238E27FC236}">
                <a16:creationId xmlns:a16="http://schemas.microsoft.com/office/drawing/2014/main" id="{D6228E99-5C89-45C5-A6FC-E3729D02EBC6}"/>
              </a:ext>
            </a:extLst>
          </p:cNvPr>
          <p:cNvPicPr>
            <a:picLocks noChangeAspect="1"/>
          </p:cNvPicPr>
          <p:nvPr/>
        </p:nvPicPr>
        <p:blipFill>
          <a:blip r:embed="rId3"/>
          <a:stretch>
            <a:fillRect/>
          </a:stretch>
        </p:blipFill>
        <p:spPr>
          <a:xfrm>
            <a:off x="694214" y="1220145"/>
            <a:ext cx="9341884" cy="3012711"/>
          </a:xfrm>
          <a:prstGeom prst="rect">
            <a:avLst/>
          </a:prstGeom>
        </p:spPr>
      </p:pic>
    </p:spTree>
    <p:extLst>
      <p:ext uri="{BB962C8B-B14F-4D97-AF65-F5344CB8AC3E}">
        <p14:creationId xmlns:p14="http://schemas.microsoft.com/office/powerpoint/2010/main" val="967508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Anatomy of Energy </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14" name="그림 13">
            <a:extLst>
              <a:ext uri="{FF2B5EF4-FFF2-40B4-BE49-F238E27FC236}">
                <a16:creationId xmlns:a16="http://schemas.microsoft.com/office/drawing/2014/main" id="{9BC43883-DEAA-4081-A333-A562EE79716F}"/>
              </a:ext>
            </a:extLst>
          </p:cNvPr>
          <p:cNvPicPr>
            <a:picLocks noChangeAspect="1"/>
          </p:cNvPicPr>
          <p:nvPr/>
        </p:nvPicPr>
        <p:blipFill>
          <a:blip r:embed="rId3"/>
          <a:stretch>
            <a:fillRect/>
          </a:stretch>
        </p:blipFill>
        <p:spPr>
          <a:xfrm>
            <a:off x="185343" y="1142086"/>
            <a:ext cx="6353964" cy="4980581"/>
          </a:xfrm>
          <a:prstGeom prst="rect">
            <a:avLst/>
          </a:prstGeom>
        </p:spPr>
      </p:pic>
      <p:sp>
        <p:nvSpPr>
          <p:cNvPr id="15" name="TextBox 14">
            <a:extLst>
              <a:ext uri="{FF2B5EF4-FFF2-40B4-BE49-F238E27FC236}">
                <a16:creationId xmlns:a16="http://schemas.microsoft.com/office/drawing/2014/main" id="{FD4AD2D2-2F52-4382-9486-DE9CD5899003}"/>
              </a:ext>
            </a:extLst>
          </p:cNvPr>
          <p:cNvSpPr txBox="1"/>
          <p:nvPr/>
        </p:nvSpPr>
        <p:spPr>
          <a:xfrm>
            <a:off x="6657278" y="1438507"/>
            <a:ext cx="476157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X_H is a residual of large cancellation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Both </a:t>
            </a:r>
            <a:r>
              <a:rPr lang="en-US" dirty="0" err="1"/>
              <a:t>pn</a:t>
            </a:r>
            <a:r>
              <a:rPr lang="en-US" dirty="0"/>
              <a:t> interaction and </a:t>
            </a:r>
            <a:r>
              <a:rPr lang="en-US" dirty="0" err="1"/>
              <a:t>nn</a:t>
            </a:r>
            <a:r>
              <a:rPr lang="en-US" dirty="0"/>
              <a:t> interaction are significant in X_H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X_H &lt; 0 alone does not give much information on the structure.</a:t>
            </a:r>
          </a:p>
        </p:txBody>
      </p:sp>
    </p:spTree>
    <p:extLst>
      <p:ext uri="{BB962C8B-B14F-4D97-AF65-F5344CB8AC3E}">
        <p14:creationId xmlns:p14="http://schemas.microsoft.com/office/powerpoint/2010/main" val="1151790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Restricted (0p3/2) model</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2" name="TextBox 1">
            <a:extLst>
              <a:ext uri="{FF2B5EF4-FFF2-40B4-BE49-F238E27FC236}">
                <a16:creationId xmlns:a16="http://schemas.microsoft.com/office/drawing/2014/main" id="{5811D98C-E893-4340-AAAF-BE23A859631E}"/>
              </a:ext>
            </a:extLst>
          </p:cNvPr>
          <p:cNvSpPr txBox="1"/>
          <p:nvPr/>
        </p:nvSpPr>
        <p:spPr>
          <a:xfrm>
            <a:off x="702527" y="1260088"/>
            <a:ext cx="7895063" cy="369332"/>
          </a:xfrm>
          <a:prstGeom prst="rect">
            <a:avLst/>
          </a:prstGeom>
          <a:noFill/>
        </p:spPr>
        <p:txBody>
          <a:bodyPr wrap="square" rtlCol="0">
            <a:spAutoFit/>
          </a:bodyPr>
          <a:lstStyle/>
          <a:p>
            <a:pPr marL="285750" indent="-285750">
              <a:buFont typeface="Arial" panose="020B0604020202020204" pitchFamily="34" charset="0"/>
              <a:buChar char="•"/>
            </a:pPr>
            <a:r>
              <a:rPr lang="en-US" dirty="0"/>
              <a:t>n = 0, 2, 4  (0p3/2)^n </a:t>
            </a:r>
          </a:p>
        </p:txBody>
      </p:sp>
      <p:pic>
        <p:nvPicPr>
          <p:cNvPr id="3" name="그림 2">
            <a:extLst>
              <a:ext uri="{FF2B5EF4-FFF2-40B4-BE49-F238E27FC236}">
                <a16:creationId xmlns:a16="http://schemas.microsoft.com/office/drawing/2014/main" id="{D8DE3C2E-4248-4025-BA33-E8BB0FA47466}"/>
              </a:ext>
            </a:extLst>
          </p:cNvPr>
          <p:cNvPicPr>
            <a:picLocks noChangeAspect="1"/>
          </p:cNvPicPr>
          <p:nvPr/>
        </p:nvPicPr>
        <p:blipFill>
          <a:blip r:embed="rId3"/>
          <a:stretch>
            <a:fillRect/>
          </a:stretch>
        </p:blipFill>
        <p:spPr>
          <a:xfrm>
            <a:off x="970157" y="1729496"/>
            <a:ext cx="5397189" cy="630022"/>
          </a:xfrm>
          <a:prstGeom prst="rect">
            <a:avLst/>
          </a:prstGeom>
        </p:spPr>
      </p:pic>
      <p:sp>
        <p:nvSpPr>
          <p:cNvPr id="4" name="TextBox 3">
            <a:extLst>
              <a:ext uri="{FF2B5EF4-FFF2-40B4-BE49-F238E27FC236}">
                <a16:creationId xmlns:a16="http://schemas.microsoft.com/office/drawing/2014/main" id="{C480B24E-5C47-4A26-8B58-9F94E432D565}"/>
              </a:ext>
            </a:extLst>
          </p:cNvPr>
          <p:cNvSpPr txBox="1"/>
          <p:nvPr/>
        </p:nvSpPr>
        <p:spPr>
          <a:xfrm>
            <a:off x="702527" y="2393270"/>
            <a:ext cx="4183688" cy="369332"/>
          </a:xfrm>
          <a:prstGeom prst="rect">
            <a:avLst/>
          </a:prstGeom>
          <a:noFill/>
        </p:spPr>
        <p:txBody>
          <a:bodyPr wrap="square" rtlCol="0">
            <a:spAutoFit/>
          </a:bodyPr>
          <a:lstStyle/>
          <a:p>
            <a:pPr marL="285750" indent="-285750">
              <a:buFont typeface="Arial" panose="020B0604020202020204" pitchFamily="34" charset="0"/>
              <a:buChar char="•"/>
            </a:pPr>
            <a:r>
              <a:rPr lang="en-US" dirty="0"/>
              <a:t>Allowed neutron pair J = 0 and J=2</a:t>
            </a:r>
          </a:p>
        </p:txBody>
      </p:sp>
      <p:pic>
        <p:nvPicPr>
          <p:cNvPr id="5" name="그림 4">
            <a:extLst>
              <a:ext uri="{FF2B5EF4-FFF2-40B4-BE49-F238E27FC236}">
                <a16:creationId xmlns:a16="http://schemas.microsoft.com/office/drawing/2014/main" id="{301F6B13-796F-4AF4-B782-7D468F20F549}"/>
              </a:ext>
            </a:extLst>
          </p:cNvPr>
          <p:cNvPicPr>
            <a:picLocks noChangeAspect="1"/>
          </p:cNvPicPr>
          <p:nvPr/>
        </p:nvPicPr>
        <p:blipFill>
          <a:blip r:embed="rId4"/>
          <a:stretch>
            <a:fillRect/>
          </a:stretch>
        </p:blipFill>
        <p:spPr>
          <a:xfrm>
            <a:off x="970157" y="2762602"/>
            <a:ext cx="6077414" cy="602469"/>
          </a:xfrm>
          <a:prstGeom prst="rect">
            <a:avLst/>
          </a:prstGeom>
        </p:spPr>
      </p:pic>
      <p:pic>
        <p:nvPicPr>
          <p:cNvPr id="8" name="그림 7">
            <a:extLst>
              <a:ext uri="{FF2B5EF4-FFF2-40B4-BE49-F238E27FC236}">
                <a16:creationId xmlns:a16="http://schemas.microsoft.com/office/drawing/2014/main" id="{D043C3CD-5D7A-4684-A264-54D58924E59A}"/>
              </a:ext>
            </a:extLst>
          </p:cNvPr>
          <p:cNvPicPr>
            <a:picLocks noChangeAspect="1"/>
          </p:cNvPicPr>
          <p:nvPr/>
        </p:nvPicPr>
        <p:blipFill>
          <a:blip r:embed="rId5"/>
          <a:stretch>
            <a:fillRect/>
          </a:stretch>
        </p:blipFill>
        <p:spPr>
          <a:xfrm>
            <a:off x="7559726" y="2762602"/>
            <a:ext cx="2075728" cy="511519"/>
          </a:xfrm>
          <a:prstGeom prst="rect">
            <a:avLst/>
          </a:prstGeom>
        </p:spPr>
      </p:pic>
      <p:pic>
        <p:nvPicPr>
          <p:cNvPr id="9" name="그림 8">
            <a:extLst>
              <a:ext uri="{FF2B5EF4-FFF2-40B4-BE49-F238E27FC236}">
                <a16:creationId xmlns:a16="http://schemas.microsoft.com/office/drawing/2014/main" id="{F113A510-7536-4167-B0C2-5C98281655F7}"/>
              </a:ext>
            </a:extLst>
          </p:cNvPr>
          <p:cNvPicPr>
            <a:picLocks noChangeAspect="1"/>
          </p:cNvPicPr>
          <p:nvPr/>
        </p:nvPicPr>
        <p:blipFill>
          <a:blip r:embed="rId6"/>
          <a:stretch>
            <a:fillRect/>
          </a:stretch>
        </p:blipFill>
        <p:spPr>
          <a:xfrm>
            <a:off x="970157" y="3276818"/>
            <a:ext cx="9567746" cy="2683483"/>
          </a:xfrm>
          <a:prstGeom prst="rect">
            <a:avLst/>
          </a:prstGeom>
        </p:spPr>
      </p:pic>
      <p:sp>
        <p:nvSpPr>
          <p:cNvPr id="10" name="TextBox 9">
            <a:extLst>
              <a:ext uri="{FF2B5EF4-FFF2-40B4-BE49-F238E27FC236}">
                <a16:creationId xmlns:a16="http://schemas.microsoft.com/office/drawing/2014/main" id="{E12A3D7C-DC99-49BE-B34D-546BD20A0B32}"/>
              </a:ext>
            </a:extLst>
          </p:cNvPr>
          <p:cNvSpPr txBox="1"/>
          <p:nvPr/>
        </p:nvSpPr>
        <p:spPr>
          <a:xfrm>
            <a:off x="691375" y="5999879"/>
            <a:ext cx="10493297" cy="646331"/>
          </a:xfrm>
          <a:prstGeom prst="rect">
            <a:avLst/>
          </a:prstGeom>
          <a:noFill/>
        </p:spPr>
        <p:txBody>
          <a:bodyPr wrap="square" rtlCol="0">
            <a:spAutoFit/>
          </a:bodyPr>
          <a:lstStyle/>
          <a:p>
            <a:pPr marL="285750" indent="-285750">
              <a:buFont typeface="Arial" panose="020B0604020202020204" pitchFamily="34" charset="0"/>
              <a:buChar char="•"/>
            </a:pPr>
            <a:r>
              <a:rPr lang="en-US" dirty="0" err="1"/>
              <a:t>nn</a:t>
            </a:r>
            <a:r>
              <a:rPr lang="en-US" dirty="0"/>
              <a:t> interaction is the major source of the </a:t>
            </a:r>
            <a:r>
              <a:rPr lang="en-US" dirty="0" err="1"/>
              <a:t>Nmax</a:t>
            </a:r>
            <a:r>
              <a:rPr lang="en-US" dirty="0"/>
              <a:t>=0 X_H </a:t>
            </a:r>
          </a:p>
          <a:p>
            <a:pPr marL="285750" indent="-285750">
              <a:buFont typeface="Arial" panose="020B0604020202020204" pitchFamily="34" charset="0"/>
              <a:buChar char="•"/>
            </a:pPr>
            <a:r>
              <a:rPr lang="en-US" dirty="0"/>
              <a:t>Restricted (0p3/2) model is close to </a:t>
            </a:r>
            <a:r>
              <a:rPr lang="en-US" dirty="0" err="1"/>
              <a:t>X_nnV</a:t>
            </a:r>
            <a:r>
              <a:rPr lang="en-US" dirty="0"/>
              <a:t> at </a:t>
            </a:r>
            <a:r>
              <a:rPr lang="en-US" dirty="0" err="1"/>
              <a:t>Nmax</a:t>
            </a:r>
            <a:r>
              <a:rPr lang="en-US" dirty="0"/>
              <a:t>=10</a:t>
            </a:r>
          </a:p>
        </p:txBody>
      </p:sp>
    </p:spTree>
    <p:extLst>
      <p:ext uri="{BB962C8B-B14F-4D97-AF65-F5344CB8AC3E}">
        <p14:creationId xmlns:p14="http://schemas.microsoft.com/office/powerpoint/2010/main" val="3787022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Subshell Cluster energy</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6" name="그림 5">
            <a:extLst>
              <a:ext uri="{FF2B5EF4-FFF2-40B4-BE49-F238E27FC236}">
                <a16:creationId xmlns:a16="http://schemas.microsoft.com/office/drawing/2014/main" id="{A2B12B51-02A5-414E-979F-431175C26CA0}"/>
              </a:ext>
            </a:extLst>
          </p:cNvPr>
          <p:cNvPicPr>
            <a:picLocks noChangeAspect="1"/>
          </p:cNvPicPr>
          <p:nvPr/>
        </p:nvPicPr>
        <p:blipFill>
          <a:blip r:embed="rId3"/>
          <a:stretch>
            <a:fillRect/>
          </a:stretch>
        </p:blipFill>
        <p:spPr>
          <a:xfrm>
            <a:off x="768090" y="1220145"/>
            <a:ext cx="4277322" cy="1352739"/>
          </a:xfrm>
          <a:prstGeom prst="rect">
            <a:avLst/>
          </a:prstGeom>
        </p:spPr>
      </p:pic>
      <p:pic>
        <p:nvPicPr>
          <p:cNvPr id="11" name="그림 10">
            <a:extLst>
              <a:ext uri="{FF2B5EF4-FFF2-40B4-BE49-F238E27FC236}">
                <a16:creationId xmlns:a16="http://schemas.microsoft.com/office/drawing/2014/main" id="{D35C3B48-21ED-4C2C-B321-AD339E6A44A3}"/>
              </a:ext>
            </a:extLst>
          </p:cNvPr>
          <p:cNvPicPr>
            <a:picLocks noChangeAspect="1"/>
          </p:cNvPicPr>
          <p:nvPr/>
        </p:nvPicPr>
        <p:blipFill>
          <a:blip r:embed="rId4"/>
          <a:stretch>
            <a:fillRect/>
          </a:stretch>
        </p:blipFill>
        <p:spPr>
          <a:xfrm>
            <a:off x="6314801" y="1071872"/>
            <a:ext cx="5668166" cy="1409897"/>
          </a:xfrm>
          <a:prstGeom prst="rect">
            <a:avLst/>
          </a:prstGeom>
        </p:spPr>
      </p:pic>
      <p:pic>
        <p:nvPicPr>
          <p:cNvPr id="12" name="그림 11">
            <a:extLst>
              <a:ext uri="{FF2B5EF4-FFF2-40B4-BE49-F238E27FC236}">
                <a16:creationId xmlns:a16="http://schemas.microsoft.com/office/drawing/2014/main" id="{BA47A102-7E86-4201-9A73-4C67E969831F}"/>
              </a:ext>
            </a:extLst>
          </p:cNvPr>
          <p:cNvPicPr>
            <a:picLocks noChangeAspect="1"/>
          </p:cNvPicPr>
          <p:nvPr/>
        </p:nvPicPr>
        <p:blipFill>
          <a:blip r:embed="rId5"/>
          <a:stretch>
            <a:fillRect/>
          </a:stretch>
        </p:blipFill>
        <p:spPr>
          <a:xfrm>
            <a:off x="923571" y="2652116"/>
            <a:ext cx="6354062" cy="543001"/>
          </a:xfrm>
          <a:prstGeom prst="rect">
            <a:avLst/>
          </a:prstGeom>
        </p:spPr>
      </p:pic>
      <p:sp>
        <p:nvSpPr>
          <p:cNvPr id="13" name="TextBox 12">
            <a:extLst>
              <a:ext uri="{FF2B5EF4-FFF2-40B4-BE49-F238E27FC236}">
                <a16:creationId xmlns:a16="http://schemas.microsoft.com/office/drawing/2014/main" id="{7732D11F-1D01-431F-9E98-AAB537415656}"/>
              </a:ext>
            </a:extLst>
          </p:cNvPr>
          <p:cNvSpPr txBox="1"/>
          <p:nvPr/>
        </p:nvSpPr>
        <p:spPr>
          <a:xfrm>
            <a:off x="1159727" y="4331981"/>
            <a:ext cx="8586439" cy="369332"/>
          </a:xfrm>
          <a:prstGeom prst="rect">
            <a:avLst/>
          </a:prstGeom>
          <a:noFill/>
        </p:spPr>
        <p:txBody>
          <a:bodyPr wrap="square" rtlCol="0">
            <a:spAutoFit/>
          </a:bodyPr>
          <a:lstStyle/>
          <a:p>
            <a:pPr marL="285750" indent="-285750">
              <a:buFont typeface="Arial" panose="020B0604020202020204" pitchFamily="34" charset="0"/>
              <a:buChar char="•"/>
            </a:pPr>
            <a:r>
              <a:rPr lang="en-US" dirty="0"/>
              <a:t>S=(0p3/2) (size=1)</a:t>
            </a:r>
          </a:p>
        </p:txBody>
      </p:sp>
      <p:pic>
        <p:nvPicPr>
          <p:cNvPr id="14" name="그림 13">
            <a:extLst>
              <a:ext uri="{FF2B5EF4-FFF2-40B4-BE49-F238E27FC236}">
                <a16:creationId xmlns:a16="http://schemas.microsoft.com/office/drawing/2014/main" id="{601DA3E9-C31C-4DFF-AF8C-43EE976E9CB5}"/>
              </a:ext>
            </a:extLst>
          </p:cNvPr>
          <p:cNvPicPr>
            <a:picLocks noChangeAspect="1"/>
          </p:cNvPicPr>
          <p:nvPr/>
        </p:nvPicPr>
        <p:blipFill>
          <a:blip r:embed="rId6"/>
          <a:stretch>
            <a:fillRect/>
          </a:stretch>
        </p:blipFill>
        <p:spPr>
          <a:xfrm>
            <a:off x="5645697" y="4266329"/>
            <a:ext cx="5544324" cy="523948"/>
          </a:xfrm>
          <a:prstGeom prst="rect">
            <a:avLst/>
          </a:prstGeom>
        </p:spPr>
      </p:pic>
      <p:pic>
        <p:nvPicPr>
          <p:cNvPr id="15" name="그림 14">
            <a:extLst>
              <a:ext uri="{FF2B5EF4-FFF2-40B4-BE49-F238E27FC236}">
                <a16:creationId xmlns:a16="http://schemas.microsoft.com/office/drawing/2014/main" id="{55D796B1-1731-422C-997E-A572822EB56F}"/>
              </a:ext>
            </a:extLst>
          </p:cNvPr>
          <p:cNvPicPr>
            <a:picLocks noChangeAspect="1"/>
          </p:cNvPicPr>
          <p:nvPr/>
        </p:nvPicPr>
        <p:blipFill>
          <a:blip r:embed="rId7"/>
          <a:stretch>
            <a:fillRect/>
          </a:stretch>
        </p:blipFill>
        <p:spPr>
          <a:xfrm>
            <a:off x="5852282" y="3754082"/>
            <a:ext cx="2867425" cy="419158"/>
          </a:xfrm>
          <a:prstGeom prst="rect">
            <a:avLst/>
          </a:prstGeom>
        </p:spPr>
      </p:pic>
      <p:sp>
        <p:nvSpPr>
          <p:cNvPr id="18" name="TextBox 17">
            <a:extLst>
              <a:ext uri="{FF2B5EF4-FFF2-40B4-BE49-F238E27FC236}">
                <a16:creationId xmlns:a16="http://schemas.microsoft.com/office/drawing/2014/main" id="{B870B6CA-831A-4B54-A209-C1E7102BF7FD}"/>
              </a:ext>
            </a:extLst>
          </p:cNvPr>
          <p:cNvSpPr txBox="1"/>
          <p:nvPr/>
        </p:nvSpPr>
        <p:spPr>
          <a:xfrm>
            <a:off x="1159726" y="4937312"/>
            <a:ext cx="8586439" cy="369332"/>
          </a:xfrm>
          <a:prstGeom prst="rect">
            <a:avLst/>
          </a:prstGeom>
          <a:noFill/>
        </p:spPr>
        <p:txBody>
          <a:bodyPr wrap="square" rtlCol="0">
            <a:spAutoFit/>
          </a:bodyPr>
          <a:lstStyle/>
          <a:p>
            <a:pPr marL="285750" indent="-285750">
              <a:buFont typeface="Arial" panose="020B0604020202020204" pitchFamily="34" charset="0"/>
              <a:buChar char="•"/>
            </a:pPr>
            <a:r>
              <a:rPr lang="en-US" dirty="0"/>
              <a:t>S= (size=3)</a:t>
            </a:r>
          </a:p>
        </p:txBody>
      </p:sp>
      <p:pic>
        <p:nvPicPr>
          <p:cNvPr id="16" name="그림 15">
            <a:extLst>
              <a:ext uri="{FF2B5EF4-FFF2-40B4-BE49-F238E27FC236}">
                <a16:creationId xmlns:a16="http://schemas.microsoft.com/office/drawing/2014/main" id="{BA1B65AC-F9E2-4431-AAC0-702BFA6CE95B}"/>
              </a:ext>
            </a:extLst>
          </p:cNvPr>
          <p:cNvPicPr>
            <a:picLocks noChangeAspect="1"/>
          </p:cNvPicPr>
          <p:nvPr/>
        </p:nvPicPr>
        <p:blipFill>
          <a:blip r:embed="rId8"/>
          <a:stretch>
            <a:fillRect/>
          </a:stretch>
        </p:blipFill>
        <p:spPr>
          <a:xfrm>
            <a:off x="5645697" y="4766965"/>
            <a:ext cx="5744377" cy="552527"/>
          </a:xfrm>
          <a:prstGeom prst="rect">
            <a:avLst/>
          </a:prstGeom>
        </p:spPr>
      </p:pic>
      <p:sp>
        <p:nvSpPr>
          <p:cNvPr id="20" name="TextBox 19">
            <a:extLst>
              <a:ext uri="{FF2B5EF4-FFF2-40B4-BE49-F238E27FC236}">
                <a16:creationId xmlns:a16="http://schemas.microsoft.com/office/drawing/2014/main" id="{5532196D-63ED-4154-A3BF-53205193A5A5}"/>
              </a:ext>
            </a:extLst>
          </p:cNvPr>
          <p:cNvSpPr txBox="1"/>
          <p:nvPr/>
        </p:nvSpPr>
        <p:spPr>
          <a:xfrm>
            <a:off x="1159726" y="5545072"/>
            <a:ext cx="8586439" cy="369332"/>
          </a:xfrm>
          <a:prstGeom prst="rect">
            <a:avLst/>
          </a:prstGeom>
          <a:noFill/>
        </p:spPr>
        <p:txBody>
          <a:bodyPr wrap="square" rtlCol="0">
            <a:spAutoFit/>
          </a:bodyPr>
          <a:lstStyle/>
          <a:p>
            <a:pPr marL="285750" indent="-285750">
              <a:buFont typeface="Arial" panose="020B0604020202020204" pitchFamily="34" charset="0"/>
              <a:buChar char="•"/>
            </a:pPr>
            <a:r>
              <a:rPr lang="en-US" dirty="0"/>
              <a:t>Sum of All S</a:t>
            </a:r>
          </a:p>
        </p:txBody>
      </p:sp>
      <p:pic>
        <p:nvPicPr>
          <p:cNvPr id="17" name="그림 16">
            <a:extLst>
              <a:ext uri="{FF2B5EF4-FFF2-40B4-BE49-F238E27FC236}">
                <a16:creationId xmlns:a16="http://schemas.microsoft.com/office/drawing/2014/main" id="{DC74EB5B-27E7-47E0-95BE-F4368D492661}"/>
              </a:ext>
            </a:extLst>
          </p:cNvPr>
          <p:cNvPicPr>
            <a:picLocks noChangeAspect="1"/>
          </p:cNvPicPr>
          <p:nvPr/>
        </p:nvPicPr>
        <p:blipFill>
          <a:blip r:embed="rId9"/>
          <a:stretch>
            <a:fillRect/>
          </a:stretch>
        </p:blipFill>
        <p:spPr>
          <a:xfrm>
            <a:off x="5674276" y="5403737"/>
            <a:ext cx="5715798" cy="447737"/>
          </a:xfrm>
          <a:prstGeom prst="rect">
            <a:avLst/>
          </a:prstGeom>
        </p:spPr>
      </p:pic>
      <p:sp>
        <p:nvSpPr>
          <p:cNvPr id="19" name="TextBox 18">
            <a:extLst>
              <a:ext uri="{FF2B5EF4-FFF2-40B4-BE49-F238E27FC236}">
                <a16:creationId xmlns:a16="http://schemas.microsoft.com/office/drawing/2014/main" id="{86948578-29C7-46B5-8B51-00E33E3A5B35}"/>
              </a:ext>
            </a:extLst>
          </p:cNvPr>
          <p:cNvSpPr txBox="1"/>
          <p:nvPr/>
        </p:nvSpPr>
        <p:spPr>
          <a:xfrm>
            <a:off x="5645697" y="6089902"/>
            <a:ext cx="5405162" cy="369332"/>
          </a:xfrm>
          <a:prstGeom prst="rect">
            <a:avLst/>
          </a:prstGeom>
          <a:noFill/>
        </p:spPr>
        <p:txBody>
          <a:bodyPr wrap="square" rtlCol="0">
            <a:spAutoFit/>
          </a:bodyPr>
          <a:lstStyle/>
          <a:p>
            <a:r>
              <a:rPr lang="en-US" dirty="0"/>
              <a:t>Sum of other partial wave = -0.026 MeV</a:t>
            </a:r>
          </a:p>
        </p:txBody>
      </p:sp>
    </p:spTree>
    <p:extLst>
      <p:ext uri="{BB962C8B-B14F-4D97-AF65-F5344CB8AC3E}">
        <p14:creationId xmlns:p14="http://schemas.microsoft.com/office/powerpoint/2010/main" val="1512443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Subshell Cluster energy</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14" name="그림 13">
            <a:extLst>
              <a:ext uri="{FF2B5EF4-FFF2-40B4-BE49-F238E27FC236}">
                <a16:creationId xmlns:a16="http://schemas.microsoft.com/office/drawing/2014/main" id="{601DA3E9-C31C-4DFF-AF8C-43EE976E9CB5}"/>
              </a:ext>
            </a:extLst>
          </p:cNvPr>
          <p:cNvPicPr>
            <a:picLocks noChangeAspect="1"/>
          </p:cNvPicPr>
          <p:nvPr/>
        </p:nvPicPr>
        <p:blipFill>
          <a:blip r:embed="rId3"/>
          <a:stretch>
            <a:fillRect/>
          </a:stretch>
        </p:blipFill>
        <p:spPr>
          <a:xfrm>
            <a:off x="6247423" y="1975640"/>
            <a:ext cx="5544324" cy="523948"/>
          </a:xfrm>
          <a:prstGeom prst="rect">
            <a:avLst/>
          </a:prstGeom>
        </p:spPr>
      </p:pic>
      <p:pic>
        <p:nvPicPr>
          <p:cNvPr id="15" name="그림 14">
            <a:extLst>
              <a:ext uri="{FF2B5EF4-FFF2-40B4-BE49-F238E27FC236}">
                <a16:creationId xmlns:a16="http://schemas.microsoft.com/office/drawing/2014/main" id="{55D796B1-1731-422C-997E-A572822EB56F}"/>
              </a:ext>
            </a:extLst>
          </p:cNvPr>
          <p:cNvPicPr>
            <a:picLocks noChangeAspect="1"/>
          </p:cNvPicPr>
          <p:nvPr/>
        </p:nvPicPr>
        <p:blipFill>
          <a:blip r:embed="rId4"/>
          <a:stretch>
            <a:fillRect/>
          </a:stretch>
        </p:blipFill>
        <p:spPr>
          <a:xfrm>
            <a:off x="7424604" y="1328929"/>
            <a:ext cx="2867425" cy="419158"/>
          </a:xfrm>
          <a:prstGeom prst="rect">
            <a:avLst/>
          </a:prstGeom>
        </p:spPr>
      </p:pic>
      <p:pic>
        <p:nvPicPr>
          <p:cNvPr id="16" name="그림 15">
            <a:extLst>
              <a:ext uri="{FF2B5EF4-FFF2-40B4-BE49-F238E27FC236}">
                <a16:creationId xmlns:a16="http://schemas.microsoft.com/office/drawing/2014/main" id="{BA1B65AC-F9E2-4431-AAC0-702BFA6CE95B}"/>
              </a:ext>
            </a:extLst>
          </p:cNvPr>
          <p:cNvPicPr>
            <a:picLocks noChangeAspect="1"/>
          </p:cNvPicPr>
          <p:nvPr/>
        </p:nvPicPr>
        <p:blipFill>
          <a:blip r:embed="rId5"/>
          <a:stretch>
            <a:fillRect/>
          </a:stretch>
        </p:blipFill>
        <p:spPr>
          <a:xfrm>
            <a:off x="6147396" y="2499588"/>
            <a:ext cx="5744377" cy="552527"/>
          </a:xfrm>
          <a:prstGeom prst="rect">
            <a:avLst/>
          </a:prstGeom>
        </p:spPr>
      </p:pic>
      <p:pic>
        <p:nvPicPr>
          <p:cNvPr id="17" name="그림 16">
            <a:extLst>
              <a:ext uri="{FF2B5EF4-FFF2-40B4-BE49-F238E27FC236}">
                <a16:creationId xmlns:a16="http://schemas.microsoft.com/office/drawing/2014/main" id="{DC74EB5B-27E7-47E0-95BE-F4368D492661}"/>
              </a:ext>
            </a:extLst>
          </p:cNvPr>
          <p:cNvPicPr>
            <a:picLocks noChangeAspect="1"/>
          </p:cNvPicPr>
          <p:nvPr/>
        </p:nvPicPr>
        <p:blipFill>
          <a:blip r:embed="rId6"/>
          <a:stretch>
            <a:fillRect/>
          </a:stretch>
        </p:blipFill>
        <p:spPr>
          <a:xfrm>
            <a:off x="6175975" y="3052115"/>
            <a:ext cx="5715798" cy="447737"/>
          </a:xfrm>
          <a:prstGeom prst="rect">
            <a:avLst/>
          </a:prstGeom>
        </p:spPr>
      </p:pic>
      <p:sp>
        <p:nvSpPr>
          <p:cNvPr id="19" name="TextBox 18">
            <a:extLst>
              <a:ext uri="{FF2B5EF4-FFF2-40B4-BE49-F238E27FC236}">
                <a16:creationId xmlns:a16="http://schemas.microsoft.com/office/drawing/2014/main" id="{86948578-29C7-46B5-8B51-00E33E3A5B35}"/>
              </a:ext>
            </a:extLst>
          </p:cNvPr>
          <p:cNvSpPr txBox="1"/>
          <p:nvPr/>
        </p:nvSpPr>
        <p:spPr>
          <a:xfrm>
            <a:off x="6486611" y="3778994"/>
            <a:ext cx="5405162" cy="369332"/>
          </a:xfrm>
          <a:prstGeom prst="rect">
            <a:avLst/>
          </a:prstGeom>
          <a:noFill/>
        </p:spPr>
        <p:txBody>
          <a:bodyPr wrap="square" rtlCol="0">
            <a:spAutoFit/>
          </a:bodyPr>
          <a:lstStyle/>
          <a:p>
            <a:r>
              <a:rPr lang="en-US" dirty="0"/>
              <a:t>Sum of other partial wave = -0.026 MeV</a:t>
            </a:r>
          </a:p>
        </p:txBody>
      </p:sp>
      <p:pic>
        <p:nvPicPr>
          <p:cNvPr id="2" name="그림 1">
            <a:extLst>
              <a:ext uri="{FF2B5EF4-FFF2-40B4-BE49-F238E27FC236}">
                <a16:creationId xmlns:a16="http://schemas.microsoft.com/office/drawing/2014/main" id="{66F1923D-641D-4D52-BC00-96197013E8DB}"/>
              </a:ext>
            </a:extLst>
          </p:cNvPr>
          <p:cNvPicPr>
            <a:picLocks noChangeAspect="1"/>
          </p:cNvPicPr>
          <p:nvPr/>
        </p:nvPicPr>
        <p:blipFill>
          <a:blip r:embed="rId7"/>
          <a:stretch>
            <a:fillRect/>
          </a:stretch>
        </p:blipFill>
        <p:spPr>
          <a:xfrm>
            <a:off x="130756" y="1099463"/>
            <a:ext cx="5225546" cy="5728395"/>
          </a:xfrm>
          <a:prstGeom prst="rect">
            <a:avLst/>
          </a:prstGeom>
        </p:spPr>
      </p:pic>
      <p:sp>
        <p:nvSpPr>
          <p:cNvPr id="3" name="TextBox 2">
            <a:extLst>
              <a:ext uri="{FF2B5EF4-FFF2-40B4-BE49-F238E27FC236}">
                <a16:creationId xmlns:a16="http://schemas.microsoft.com/office/drawing/2014/main" id="{43B4776C-1584-4EE8-8B3B-7314AEA9AA74}"/>
              </a:ext>
            </a:extLst>
          </p:cNvPr>
          <p:cNvSpPr txBox="1"/>
          <p:nvPr/>
        </p:nvSpPr>
        <p:spPr>
          <a:xfrm>
            <a:off x="6486611" y="4804461"/>
            <a:ext cx="3083719" cy="646331"/>
          </a:xfrm>
          <a:prstGeom prst="rect">
            <a:avLst/>
          </a:prstGeom>
          <a:noFill/>
        </p:spPr>
        <p:txBody>
          <a:bodyPr wrap="square" rtlCol="0">
            <a:spAutoFit/>
          </a:bodyPr>
          <a:lstStyle/>
          <a:p>
            <a:r>
              <a:rPr lang="en-US" dirty="0"/>
              <a:t>Importance of 3P2 attraction </a:t>
            </a:r>
          </a:p>
          <a:p>
            <a:r>
              <a:rPr lang="en-US" dirty="0"/>
              <a:t>spanning multiple subshells</a:t>
            </a:r>
          </a:p>
        </p:txBody>
      </p:sp>
    </p:spTree>
    <p:extLst>
      <p:ext uri="{BB962C8B-B14F-4D97-AF65-F5344CB8AC3E}">
        <p14:creationId xmlns:p14="http://schemas.microsoft.com/office/powerpoint/2010/main" val="412824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Attractive rank</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3" name="그림 2">
            <a:extLst>
              <a:ext uri="{FF2B5EF4-FFF2-40B4-BE49-F238E27FC236}">
                <a16:creationId xmlns:a16="http://schemas.microsoft.com/office/drawing/2014/main" id="{75A4D79E-2211-4341-B7AD-DE2596DD09AB}"/>
              </a:ext>
            </a:extLst>
          </p:cNvPr>
          <p:cNvPicPr>
            <a:picLocks noChangeAspect="1"/>
          </p:cNvPicPr>
          <p:nvPr/>
        </p:nvPicPr>
        <p:blipFill>
          <a:blip r:embed="rId3"/>
          <a:stretch>
            <a:fillRect/>
          </a:stretch>
        </p:blipFill>
        <p:spPr>
          <a:xfrm>
            <a:off x="821201" y="3075295"/>
            <a:ext cx="5553850" cy="876422"/>
          </a:xfrm>
          <a:prstGeom prst="rect">
            <a:avLst/>
          </a:prstGeom>
        </p:spPr>
      </p:pic>
      <p:pic>
        <p:nvPicPr>
          <p:cNvPr id="6" name="그림 5">
            <a:extLst>
              <a:ext uri="{FF2B5EF4-FFF2-40B4-BE49-F238E27FC236}">
                <a16:creationId xmlns:a16="http://schemas.microsoft.com/office/drawing/2014/main" id="{B13DD6C5-A30C-4D2E-805E-38E28FCC6176}"/>
              </a:ext>
            </a:extLst>
          </p:cNvPr>
          <p:cNvPicPr>
            <a:picLocks noChangeAspect="1"/>
          </p:cNvPicPr>
          <p:nvPr/>
        </p:nvPicPr>
        <p:blipFill>
          <a:blip r:embed="rId4"/>
          <a:stretch>
            <a:fillRect/>
          </a:stretch>
        </p:blipFill>
        <p:spPr>
          <a:xfrm>
            <a:off x="821201" y="1407430"/>
            <a:ext cx="6535062" cy="419158"/>
          </a:xfrm>
          <a:prstGeom prst="rect">
            <a:avLst/>
          </a:prstGeom>
        </p:spPr>
      </p:pic>
      <p:sp>
        <p:nvSpPr>
          <p:cNvPr id="8" name="TextBox 7">
            <a:extLst>
              <a:ext uri="{FF2B5EF4-FFF2-40B4-BE49-F238E27FC236}">
                <a16:creationId xmlns:a16="http://schemas.microsoft.com/office/drawing/2014/main" id="{327592E1-40A3-483D-8BF0-2B9CEDB98464}"/>
              </a:ext>
            </a:extLst>
          </p:cNvPr>
          <p:cNvSpPr txBox="1"/>
          <p:nvPr/>
        </p:nvSpPr>
        <p:spPr>
          <a:xfrm>
            <a:off x="821201" y="2018371"/>
            <a:ext cx="6683570" cy="923330"/>
          </a:xfrm>
          <a:prstGeom prst="rect">
            <a:avLst/>
          </a:prstGeom>
          <a:noFill/>
        </p:spPr>
        <p:txBody>
          <a:bodyPr wrap="square" rtlCol="0">
            <a:spAutoFit/>
          </a:bodyPr>
          <a:lstStyle/>
          <a:p>
            <a:r>
              <a:rPr lang="en-US" dirty="0"/>
              <a:t>Attractive part of two neutron interactions </a:t>
            </a:r>
          </a:p>
          <a:p>
            <a:pPr marL="342900" indent="-342900">
              <a:buAutoNum type="arabicParenBoth"/>
            </a:pPr>
            <a:r>
              <a:rPr lang="en-US" dirty="0"/>
              <a:t>in the chosen model space</a:t>
            </a:r>
          </a:p>
          <a:p>
            <a:pPr marL="342900" indent="-342900">
              <a:buAutoNum type="arabicParenBoth"/>
            </a:pPr>
            <a:r>
              <a:rPr lang="en-US" dirty="0"/>
              <a:t>In chosen attraction threshold strength</a:t>
            </a:r>
          </a:p>
        </p:txBody>
      </p:sp>
      <p:sp>
        <p:nvSpPr>
          <p:cNvPr id="9" name="TextBox 8">
            <a:extLst>
              <a:ext uri="{FF2B5EF4-FFF2-40B4-BE49-F238E27FC236}">
                <a16:creationId xmlns:a16="http://schemas.microsoft.com/office/drawing/2014/main" id="{486BC7FD-F24E-4B84-80EF-2E42783B881C}"/>
              </a:ext>
            </a:extLst>
          </p:cNvPr>
          <p:cNvSpPr txBox="1"/>
          <p:nvPr/>
        </p:nvSpPr>
        <p:spPr>
          <a:xfrm>
            <a:off x="923571" y="4047893"/>
            <a:ext cx="9513970" cy="1477328"/>
          </a:xfrm>
          <a:prstGeom prst="rect">
            <a:avLst/>
          </a:prstGeom>
          <a:noFill/>
        </p:spPr>
        <p:txBody>
          <a:bodyPr wrap="square" rtlCol="0">
            <a:spAutoFit/>
          </a:bodyPr>
          <a:lstStyle/>
          <a:p>
            <a:r>
              <a:rPr lang="en-US" dirty="0">
                <a:solidFill>
                  <a:srgbClr val="FF0000"/>
                </a:solidFill>
              </a:rPr>
              <a:t>Attractive rank </a:t>
            </a:r>
            <a:r>
              <a:rPr lang="en-US" dirty="0"/>
              <a:t>= number of orthonormal eigenstates with sufficient attraction</a:t>
            </a:r>
          </a:p>
          <a:p>
            <a:endParaRPr lang="en-US" dirty="0"/>
          </a:p>
          <a:p>
            <a:pPr marL="342900" indent="-342900">
              <a:buAutoNum type="arabicParenBoth"/>
            </a:pPr>
            <a:r>
              <a:rPr lang="en-US" dirty="0"/>
              <a:t>Thus attractive rank is model dependent </a:t>
            </a:r>
          </a:p>
          <a:p>
            <a:pPr marL="342900" indent="-342900">
              <a:buAutoNum type="arabicParenBoth"/>
            </a:pPr>
            <a:r>
              <a:rPr lang="en-US" dirty="0"/>
              <a:t>It have to be counted after all attractions and repulsions</a:t>
            </a:r>
          </a:p>
          <a:p>
            <a:pPr marL="342900" indent="-342900">
              <a:buAutoNum type="arabicParenBoth"/>
            </a:pPr>
            <a:r>
              <a:rPr lang="en-US" dirty="0"/>
              <a:t>Depends on the choice of threshold strength</a:t>
            </a:r>
          </a:p>
        </p:txBody>
      </p:sp>
    </p:spTree>
    <p:extLst>
      <p:ext uri="{BB962C8B-B14F-4D97-AF65-F5344CB8AC3E}">
        <p14:creationId xmlns:p14="http://schemas.microsoft.com/office/powerpoint/2010/main" val="1869176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Attractive rank</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2" name="TextBox 1">
            <a:extLst>
              <a:ext uri="{FF2B5EF4-FFF2-40B4-BE49-F238E27FC236}">
                <a16:creationId xmlns:a16="http://schemas.microsoft.com/office/drawing/2014/main" id="{0AAA5129-EE9C-45A3-A411-1E9E30F8B62A}"/>
              </a:ext>
            </a:extLst>
          </p:cNvPr>
          <p:cNvSpPr txBox="1"/>
          <p:nvPr/>
        </p:nvSpPr>
        <p:spPr>
          <a:xfrm>
            <a:off x="691376" y="1338146"/>
            <a:ext cx="9178634" cy="923330"/>
          </a:xfrm>
          <a:prstGeom prst="rect">
            <a:avLst/>
          </a:prstGeom>
          <a:noFill/>
        </p:spPr>
        <p:txBody>
          <a:bodyPr wrap="square" rtlCol="0">
            <a:spAutoFit/>
          </a:bodyPr>
          <a:lstStyle/>
          <a:p>
            <a:pPr marL="285750" indent="-285750">
              <a:buFont typeface="Arial" panose="020B0604020202020204" pitchFamily="34" charset="0"/>
              <a:buChar char="•"/>
            </a:pPr>
            <a:r>
              <a:rPr lang="en-US" dirty="0"/>
              <a:t>If the interaction has strictly attractive rank one</a:t>
            </a:r>
          </a:p>
          <a:p>
            <a:pPr marL="285750" indent="-285750">
              <a:buFont typeface="Arial" panose="020B0604020202020204" pitchFamily="34" charset="0"/>
              <a:buChar char="•"/>
            </a:pPr>
            <a:r>
              <a:rPr lang="en-US" dirty="0">
                <a:sym typeface="Wingdings" panose="05000000000000000000" pitchFamily="2" charset="2"/>
              </a:rPr>
              <a:t> There is a maximum attraction bound in four neutron system</a:t>
            </a:r>
          </a:p>
          <a:p>
            <a:pPr marL="285750" indent="-285750">
              <a:buFont typeface="Arial" panose="020B0604020202020204" pitchFamily="34" charset="0"/>
              <a:buChar char="•"/>
            </a:pPr>
            <a:r>
              <a:rPr lang="en-US" dirty="0">
                <a:sym typeface="Wingdings" panose="05000000000000000000" pitchFamily="2" charset="2"/>
              </a:rPr>
              <a:t> From Pauli blocking</a:t>
            </a:r>
            <a:endParaRPr lang="en-US" dirty="0"/>
          </a:p>
        </p:txBody>
      </p:sp>
      <p:pic>
        <p:nvPicPr>
          <p:cNvPr id="4" name="그림 3">
            <a:extLst>
              <a:ext uri="{FF2B5EF4-FFF2-40B4-BE49-F238E27FC236}">
                <a16:creationId xmlns:a16="http://schemas.microsoft.com/office/drawing/2014/main" id="{612A74FE-990F-475F-8685-E356CFC7DCA8}"/>
              </a:ext>
            </a:extLst>
          </p:cNvPr>
          <p:cNvPicPr>
            <a:picLocks noChangeAspect="1"/>
          </p:cNvPicPr>
          <p:nvPr/>
        </p:nvPicPr>
        <p:blipFill>
          <a:blip r:embed="rId3"/>
          <a:stretch>
            <a:fillRect/>
          </a:stretch>
        </p:blipFill>
        <p:spPr>
          <a:xfrm>
            <a:off x="1094677" y="2490906"/>
            <a:ext cx="5001323" cy="504895"/>
          </a:xfrm>
          <a:prstGeom prst="rect">
            <a:avLst/>
          </a:prstGeom>
        </p:spPr>
      </p:pic>
      <p:sp>
        <p:nvSpPr>
          <p:cNvPr id="17" name="TextBox 16">
            <a:extLst>
              <a:ext uri="{FF2B5EF4-FFF2-40B4-BE49-F238E27FC236}">
                <a16:creationId xmlns:a16="http://schemas.microsoft.com/office/drawing/2014/main" id="{2A23282C-7AF2-4162-A99F-718D2CE821F6}"/>
              </a:ext>
            </a:extLst>
          </p:cNvPr>
          <p:cNvSpPr txBox="1"/>
          <p:nvPr/>
        </p:nvSpPr>
        <p:spPr>
          <a:xfrm>
            <a:off x="923571" y="3178098"/>
            <a:ext cx="9056770" cy="369332"/>
          </a:xfrm>
          <a:prstGeom prst="rect">
            <a:avLst/>
          </a:prstGeom>
          <a:noFill/>
        </p:spPr>
        <p:txBody>
          <a:bodyPr wrap="square" rtlCol="0">
            <a:spAutoFit/>
          </a:bodyPr>
          <a:lstStyle/>
          <a:p>
            <a:r>
              <a:rPr lang="en-US" dirty="0"/>
              <a:t>The lowest eigenvalue of attractive interaction in N-particle sector</a:t>
            </a:r>
          </a:p>
        </p:txBody>
      </p:sp>
      <p:pic>
        <p:nvPicPr>
          <p:cNvPr id="18" name="그림 17">
            <a:extLst>
              <a:ext uri="{FF2B5EF4-FFF2-40B4-BE49-F238E27FC236}">
                <a16:creationId xmlns:a16="http://schemas.microsoft.com/office/drawing/2014/main" id="{2EC265C2-2244-4D56-8D53-1B1354200B6D}"/>
              </a:ext>
            </a:extLst>
          </p:cNvPr>
          <p:cNvPicPr>
            <a:picLocks noChangeAspect="1"/>
          </p:cNvPicPr>
          <p:nvPr/>
        </p:nvPicPr>
        <p:blipFill>
          <a:blip r:embed="rId4"/>
          <a:stretch>
            <a:fillRect/>
          </a:stretch>
        </p:blipFill>
        <p:spPr>
          <a:xfrm>
            <a:off x="1392638" y="3579523"/>
            <a:ext cx="1651645" cy="686398"/>
          </a:xfrm>
          <a:prstGeom prst="rect">
            <a:avLst/>
          </a:prstGeom>
        </p:spPr>
      </p:pic>
      <p:pic>
        <p:nvPicPr>
          <p:cNvPr id="20" name="그림 19">
            <a:extLst>
              <a:ext uri="{FF2B5EF4-FFF2-40B4-BE49-F238E27FC236}">
                <a16:creationId xmlns:a16="http://schemas.microsoft.com/office/drawing/2014/main" id="{D5006413-83C3-45C9-B32B-34136748B670}"/>
              </a:ext>
            </a:extLst>
          </p:cNvPr>
          <p:cNvPicPr>
            <a:picLocks noChangeAspect="1"/>
          </p:cNvPicPr>
          <p:nvPr/>
        </p:nvPicPr>
        <p:blipFill>
          <a:blip r:embed="rId5"/>
          <a:stretch>
            <a:fillRect/>
          </a:stretch>
        </p:blipFill>
        <p:spPr>
          <a:xfrm>
            <a:off x="1481848" y="4238746"/>
            <a:ext cx="1651645" cy="487827"/>
          </a:xfrm>
          <a:prstGeom prst="rect">
            <a:avLst/>
          </a:prstGeom>
        </p:spPr>
      </p:pic>
      <p:pic>
        <p:nvPicPr>
          <p:cNvPr id="21" name="그림 20">
            <a:extLst>
              <a:ext uri="{FF2B5EF4-FFF2-40B4-BE49-F238E27FC236}">
                <a16:creationId xmlns:a16="http://schemas.microsoft.com/office/drawing/2014/main" id="{C14C52F6-ABE4-4C74-A2C6-A9063283B4F8}"/>
              </a:ext>
            </a:extLst>
          </p:cNvPr>
          <p:cNvPicPr>
            <a:picLocks noChangeAspect="1"/>
          </p:cNvPicPr>
          <p:nvPr/>
        </p:nvPicPr>
        <p:blipFill>
          <a:blip r:embed="rId6"/>
          <a:stretch>
            <a:fillRect/>
          </a:stretch>
        </p:blipFill>
        <p:spPr>
          <a:xfrm>
            <a:off x="1392638" y="4792501"/>
            <a:ext cx="2376474" cy="625388"/>
          </a:xfrm>
          <a:prstGeom prst="rect">
            <a:avLst/>
          </a:prstGeom>
        </p:spPr>
      </p:pic>
      <p:sp>
        <p:nvSpPr>
          <p:cNvPr id="22" name="TextBox 21">
            <a:extLst>
              <a:ext uri="{FF2B5EF4-FFF2-40B4-BE49-F238E27FC236}">
                <a16:creationId xmlns:a16="http://schemas.microsoft.com/office/drawing/2014/main" id="{ECB8D3FF-FDA8-4EE2-8C8D-078388FCFBC0}"/>
              </a:ext>
            </a:extLst>
          </p:cNvPr>
          <p:cNvSpPr txBox="1"/>
          <p:nvPr/>
        </p:nvSpPr>
        <p:spPr>
          <a:xfrm>
            <a:off x="789756" y="5768614"/>
            <a:ext cx="10361463" cy="646331"/>
          </a:xfrm>
          <a:prstGeom prst="rect">
            <a:avLst/>
          </a:prstGeom>
          <a:noFill/>
        </p:spPr>
        <p:txBody>
          <a:bodyPr wrap="square" rtlCol="0">
            <a:spAutoFit/>
          </a:bodyPr>
          <a:lstStyle/>
          <a:p>
            <a:pPr marL="285750" indent="-285750">
              <a:buFont typeface="Arial" panose="020B0604020202020204" pitchFamily="34" charset="0"/>
              <a:buChar char="•"/>
            </a:pPr>
            <a:r>
              <a:rPr lang="en-US" dirty="0"/>
              <a:t>To have non-additive attraction of four neutrons, attractive rank have to be larger than one !</a:t>
            </a:r>
          </a:p>
          <a:p>
            <a:pPr marL="285750" indent="-285750">
              <a:buFont typeface="Arial" panose="020B0604020202020204" pitchFamily="34" charset="0"/>
              <a:buChar char="•"/>
            </a:pPr>
            <a:r>
              <a:rPr lang="en-US" dirty="0"/>
              <a:t>3P2 attraction provides this additional attraction. </a:t>
            </a:r>
          </a:p>
        </p:txBody>
      </p:sp>
      <p:sp>
        <p:nvSpPr>
          <p:cNvPr id="23" name="TextBox 22">
            <a:extLst>
              <a:ext uri="{FF2B5EF4-FFF2-40B4-BE49-F238E27FC236}">
                <a16:creationId xmlns:a16="http://schemas.microsoft.com/office/drawing/2014/main" id="{BDCBD112-183C-40C2-8207-BBD5B7DEF088}"/>
              </a:ext>
            </a:extLst>
          </p:cNvPr>
          <p:cNvSpPr txBox="1"/>
          <p:nvPr/>
        </p:nvSpPr>
        <p:spPr>
          <a:xfrm>
            <a:off x="5596266" y="3694764"/>
            <a:ext cx="3347012" cy="369332"/>
          </a:xfrm>
          <a:prstGeom prst="rect">
            <a:avLst/>
          </a:prstGeom>
          <a:noFill/>
        </p:spPr>
        <p:txBody>
          <a:bodyPr wrap="square" rtlCol="0">
            <a:spAutoFit/>
          </a:bodyPr>
          <a:lstStyle/>
          <a:p>
            <a:r>
              <a:rPr lang="en-US" dirty="0"/>
              <a:t>(proof in </a:t>
            </a:r>
            <a:r>
              <a:rPr lang="en-US" altLang="ko-KR" dirty="0">
                <a:hlinkClick r:id="rId7"/>
              </a:rPr>
              <a:t>arXiv:2608.25883</a:t>
            </a:r>
            <a:r>
              <a:rPr lang="en-US" altLang="ko-KR" dirty="0"/>
              <a:t> )</a:t>
            </a:r>
            <a:r>
              <a:rPr lang="en-US" dirty="0"/>
              <a:t> </a:t>
            </a:r>
          </a:p>
        </p:txBody>
      </p:sp>
    </p:spTree>
    <p:extLst>
      <p:ext uri="{BB962C8B-B14F-4D97-AF65-F5344CB8AC3E}">
        <p14:creationId xmlns:p14="http://schemas.microsoft.com/office/powerpoint/2010/main" val="202872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1" y="211790"/>
            <a:ext cx="7494288"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Four-body Cumulants</a:t>
            </a:r>
            <a:endParaRPr lang="ko-KR" altLang="en-US" sz="2400" dirty="0">
              <a:solidFill>
                <a:schemeClr val="bg1"/>
              </a:solidFill>
              <a:ea typeface="SUIT SemiBold" pitchFamily="50" charset="-127"/>
              <a:cs typeface="Pretendard Medium" panose="02000603000000020004" pitchFamily="50" charset="-127"/>
            </a:endParaRP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pic>
        <p:nvPicPr>
          <p:cNvPr id="2" name="그림 1">
            <a:extLst>
              <a:ext uri="{FF2B5EF4-FFF2-40B4-BE49-F238E27FC236}">
                <a16:creationId xmlns:a16="http://schemas.microsoft.com/office/drawing/2014/main" id="{BDB6F02E-159C-4B68-B3CA-EFE1C5E9EC05}"/>
              </a:ext>
            </a:extLst>
          </p:cNvPr>
          <p:cNvPicPr>
            <a:picLocks noChangeAspect="1"/>
          </p:cNvPicPr>
          <p:nvPr/>
        </p:nvPicPr>
        <p:blipFill>
          <a:blip r:embed="rId3"/>
          <a:stretch>
            <a:fillRect/>
          </a:stretch>
        </p:blipFill>
        <p:spPr>
          <a:xfrm>
            <a:off x="923571" y="1220145"/>
            <a:ext cx="5563376" cy="1762371"/>
          </a:xfrm>
          <a:prstGeom prst="rect">
            <a:avLst/>
          </a:prstGeom>
        </p:spPr>
      </p:pic>
      <p:pic>
        <p:nvPicPr>
          <p:cNvPr id="3" name="그림 2">
            <a:extLst>
              <a:ext uri="{FF2B5EF4-FFF2-40B4-BE49-F238E27FC236}">
                <a16:creationId xmlns:a16="http://schemas.microsoft.com/office/drawing/2014/main" id="{732C5F2D-9BD0-4A1C-9881-70CD8B331890}"/>
              </a:ext>
            </a:extLst>
          </p:cNvPr>
          <p:cNvPicPr>
            <a:picLocks noChangeAspect="1"/>
          </p:cNvPicPr>
          <p:nvPr/>
        </p:nvPicPr>
        <p:blipFill>
          <a:blip r:embed="rId4"/>
          <a:stretch>
            <a:fillRect/>
          </a:stretch>
        </p:blipFill>
        <p:spPr>
          <a:xfrm>
            <a:off x="521014" y="3093945"/>
            <a:ext cx="10763728" cy="2782748"/>
          </a:xfrm>
          <a:prstGeom prst="rect">
            <a:avLst/>
          </a:prstGeom>
        </p:spPr>
      </p:pic>
      <p:sp>
        <p:nvSpPr>
          <p:cNvPr id="4" name="TextBox 3">
            <a:extLst>
              <a:ext uri="{FF2B5EF4-FFF2-40B4-BE49-F238E27FC236}">
                <a16:creationId xmlns:a16="http://schemas.microsoft.com/office/drawing/2014/main" id="{0FD5CD06-0EDA-497B-B7FA-504F67DCAD77}"/>
              </a:ext>
            </a:extLst>
          </p:cNvPr>
          <p:cNvSpPr txBox="1"/>
          <p:nvPr/>
        </p:nvSpPr>
        <p:spPr>
          <a:xfrm>
            <a:off x="7571678" y="1371600"/>
            <a:ext cx="4070195" cy="369332"/>
          </a:xfrm>
          <a:prstGeom prst="rect">
            <a:avLst/>
          </a:prstGeom>
          <a:noFill/>
        </p:spPr>
        <p:txBody>
          <a:bodyPr wrap="square" rtlCol="0">
            <a:spAutoFit/>
          </a:bodyPr>
          <a:lstStyle/>
          <a:p>
            <a:r>
              <a:rPr lang="en-US" dirty="0"/>
              <a:t>Irreducible four neutron </a:t>
            </a:r>
            <a:r>
              <a:rPr lang="en-US" dirty="0" err="1"/>
              <a:t>s.p.</a:t>
            </a:r>
            <a:r>
              <a:rPr lang="en-US" dirty="0"/>
              <a:t> density</a:t>
            </a:r>
          </a:p>
        </p:txBody>
      </p:sp>
    </p:spTree>
    <p:extLst>
      <p:ext uri="{BB962C8B-B14F-4D97-AF65-F5344CB8AC3E}">
        <p14:creationId xmlns:p14="http://schemas.microsoft.com/office/powerpoint/2010/main" val="905692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자유형: 도형 28">
            <a:extLst>
              <a:ext uri="{FF2B5EF4-FFF2-40B4-BE49-F238E27FC236}">
                <a16:creationId xmlns:a16="http://schemas.microsoft.com/office/drawing/2014/main" id="{8C217457-84B7-DBF0-5907-AEB057F7F70D}"/>
              </a:ext>
            </a:extLst>
          </p:cNvPr>
          <p:cNvSpPr/>
          <p:nvPr/>
        </p:nvSpPr>
        <p:spPr>
          <a:xfrm>
            <a:off x="-1" y="0"/>
            <a:ext cx="11982968" cy="1008355"/>
          </a:xfrm>
          <a:custGeom>
            <a:avLst/>
            <a:gdLst>
              <a:gd name="connsiteX0" fmla="*/ 0 w 11982968"/>
              <a:gd name="connsiteY0" fmla="*/ 0 h 1008355"/>
              <a:gd name="connsiteX1" fmla="*/ 1106905 w 11982968"/>
              <a:gd name="connsiteY1" fmla="*/ 0 h 1008355"/>
              <a:gd name="connsiteX2" fmla="*/ 1106905 w 11982968"/>
              <a:gd name="connsiteY2" fmla="*/ 1 h 1008355"/>
              <a:gd name="connsiteX3" fmla="*/ 11474555 w 11982968"/>
              <a:gd name="connsiteY3" fmla="*/ 1 h 1008355"/>
              <a:gd name="connsiteX4" fmla="*/ 11982968 w 11982968"/>
              <a:gd name="connsiteY4" fmla="*/ 504178 h 1008355"/>
              <a:gd name="connsiteX5" fmla="*/ 11474555 w 11982968"/>
              <a:gd name="connsiteY5" fmla="*/ 1008355 h 1008355"/>
              <a:gd name="connsiteX6" fmla="*/ 791995 w 11982968"/>
              <a:gd name="connsiteY6" fmla="*/ 1008355 h 1008355"/>
              <a:gd name="connsiteX7" fmla="*/ 791995 w 11982968"/>
              <a:gd name="connsiteY7" fmla="*/ 1008354 h 1008355"/>
              <a:gd name="connsiteX8" fmla="*/ 0 w 11982968"/>
              <a:gd name="connsiteY8" fmla="*/ 1008354 h 10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82968" h="1008355">
                <a:moveTo>
                  <a:pt x="0" y="0"/>
                </a:moveTo>
                <a:lnTo>
                  <a:pt x="1106905" y="0"/>
                </a:lnTo>
                <a:lnTo>
                  <a:pt x="1106905" y="1"/>
                </a:lnTo>
                <a:lnTo>
                  <a:pt x="11474555" y="1"/>
                </a:lnTo>
                <a:cubicBezTo>
                  <a:pt x="11755343" y="1"/>
                  <a:pt x="11982968" y="225729"/>
                  <a:pt x="11982968" y="504178"/>
                </a:cubicBezTo>
                <a:cubicBezTo>
                  <a:pt x="11982968" y="782627"/>
                  <a:pt x="11755343" y="1008355"/>
                  <a:pt x="11474555" y="1008355"/>
                </a:cubicBezTo>
                <a:lnTo>
                  <a:pt x="791995" y="1008355"/>
                </a:lnTo>
                <a:lnTo>
                  <a:pt x="791995" y="1008354"/>
                </a:lnTo>
                <a:lnTo>
                  <a:pt x="0" y="1008354"/>
                </a:lnTo>
                <a:close/>
              </a:path>
            </a:pathLst>
          </a:custGeom>
          <a:gradFill>
            <a:gsLst>
              <a:gs pos="10000">
                <a:srgbClr val="0097E0"/>
              </a:gs>
              <a:gs pos="90000">
                <a:srgbClr val="00539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5" name="TextBox 24">
            <a:extLst>
              <a:ext uri="{FF2B5EF4-FFF2-40B4-BE49-F238E27FC236}">
                <a16:creationId xmlns:a16="http://schemas.microsoft.com/office/drawing/2014/main" id="{DB975493-325C-B395-0388-8A9AEF398447}"/>
              </a:ext>
            </a:extLst>
          </p:cNvPr>
          <p:cNvSpPr txBox="1"/>
          <p:nvPr/>
        </p:nvSpPr>
        <p:spPr>
          <a:xfrm>
            <a:off x="923570" y="211790"/>
            <a:ext cx="8946439" cy="584775"/>
          </a:xfrm>
          <a:prstGeom prst="rect">
            <a:avLst/>
          </a:prstGeom>
          <a:noFill/>
        </p:spPr>
        <p:txBody>
          <a:bodyPr wrap="square" rtlCol="0">
            <a:spAutoFit/>
          </a:bodyPr>
          <a:lstStyle/>
          <a:p>
            <a:r>
              <a:rPr lang="en-US" altLang="ko-KR" sz="3200" dirty="0">
                <a:solidFill>
                  <a:schemeClr val="bg1"/>
                </a:solidFill>
                <a:ea typeface="SUIT SemiBold" pitchFamily="50" charset="-127"/>
                <a:cs typeface="Pretendard Medium" panose="02000603000000020004" pitchFamily="50" charset="-127"/>
              </a:rPr>
              <a:t>Summary</a:t>
            </a:r>
          </a:p>
        </p:txBody>
      </p:sp>
      <p:pic>
        <p:nvPicPr>
          <p:cNvPr id="7" name="그림 6" descr="텍스트, 폰트, 그래픽, 스크린샷이(가) 표시된 사진&#10;&#10;자동 생성된 설명">
            <a:extLst>
              <a:ext uri="{FF2B5EF4-FFF2-40B4-BE49-F238E27FC236}">
                <a16:creationId xmlns:a16="http://schemas.microsoft.com/office/drawing/2014/main" id="{D2F44C09-B269-91F3-FB75-4D68F63A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0010" y="275307"/>
            <a:ext cx="1921737" cy="452868"/>
          </a:xfrm>
          <a:prstGeom prst="rect">
            <a:avLst/>
          </a:prstGeom>
        </p:spPr>
      </p:pic>
      <p:sp>
        <p:nvSpPr>
          <p:cNvPr id="2" name="TextBox 1">
            <a:extLst>
              <a:ext uri="{FF2B5EF4-FFF2-40B4-BE49-F238E27FC236}">
                <a16:creationId xmlns:a16="http://schemas.microsoft.com/office/drawing/2014/main" id="{85B9F0C3-3E74-4650-AD76-4E7B83B4B7BB}"/>
              </a:ext>
            </a:extLst>
          </p:cNvPr>
          <p:cNvSpPr txBox="1"/>
          <p:nvPr/>
        </p:nvSpPr>
        <p:spPr>
          <a:xfrm>
            <a:off x="702527" y="1326995"/>
            <a:ext cx="11089220"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We studied neutron sector of three-point energy difference in He-isotopes</a:t>
            </a:r>
          </a:p>
          <a:p>
            <a:pPr marL="285750" indent="-285750">
              <a:buFont typeface="Arial" panose="020B0604020202020204" pitchFamily="34" charset="0"/>
              <a:buChar char="•"/>
            </a:pPr>
            <a:r>
              <a:rPr lang="en-US" sz="2400" dirty="0"/>
              <a:t> X_H &lt; 0 alone is not a signal of neutron quartet formation </a:t>
            </a:r>
          </a:p>
          <a:p>
            <a:pPr marL="285750" indent="-285750">
              <a:buFont typeface="Arial" panose="020B0604020202020204" pitchFamily="34" charset="0"/>
              <a:buChar char="•"/>
            </a:pPr>
            <a:r>
              <a:rPr lang="en-US" sz="2400" dirty="0"/>
              <a:t>Although not a direct evidence, we found signals supporting </a:t>
            </a:r>
            <a:br>
              <a:rPr lang="en-US" sz="2400" dirty="0"/>
            </a:br>
            <a:r>
              <a:rPr lang="en-US" sz="2400" dirty="0"/>
              <a:t>the possibility of neutron quartet</a:t>
            </a:r>
          </a:p>
          <a:p>
            <a:pPr marL="742950" lvl="1" indent="-285750">
              <a:buFont typeface="Arial" panose="020B0604020202020204" pitchFamily="34" charset="0"/>
              <a:buChar char="•"/>
            </a:pPr>
            <a:r>
              <a:rPr lang="en-US" sz="2400" dirty="0"/>
              <a:t>Negative X_H : non-additive binding along isotope chain</a:t>
            </a:r>
          </a:p>
          <a:p>
            <a:pPr marL="742950" lvl="1" indent="-285750">
              <a:buFont typeface="Arial" panose="020B0604020202020204" pitchFamily="34" charset="0"/>
              <a:buChar char="•"/>
            </a:pPr>
            <a:r>
              <a:rPr lang="en-US" sz="2400" dirty="0"/>
              <a:t>1S0 and 3P2 are dominant source of attraction among neutrons</a:t>
            </a:r>
          </a:p>
          <a:p>
            <a:pPr marL="742950" lvl="1" indent="-285750">
              <a:buFont typeface="Arial" panose="020B0604020202020204" pitchFamily="34" charset="0"/>
              <a:buChar char="•"/>
            </a:pPr>
            <a:r>
              <a:rPr lang="en-US" sz="2400" dirty="0"/>
              <a:t>Repeated use of one pairing structure is not enough for non-additivity</a:t>
            </a:r>
          </a:p>
          <a:p>
            <a:pPr marL="742950" lvl="1" indent="-285750">
              <a:buFont typeface="Arial" panose="020B0604020202020204" pitchFamily="34" charset="0"/>
              <a:buChar char="•"/>
            </a:pPr>
            <a:r>
              <a:rPr lang="en-US" sz="2400" dirty="0"/>
              <a:t>3P2 provides  additional attractive pairing structure</a:t>
            </a:r>
          </a:p>
          <a:p>
            <a:pPr marL="742950" lvl="1" indent="-285750">
              <a:buFont typeface="Arial" panose="020B0604020202020204" pitchFamily="34" charset="0"/>
              <a:buChar char="•"/>
            </a:pPr>
            <a:r>
              <a:rPr lang="en-US" sz="2400" dirty="0"/>
              <a:t>Irreducible three-subshell 3P2 and four-body density cumulants</a:t>
            </a:r>
          </a:p>
          <a:p>
            <a:pPr lvl="1"/>
            <a:r>
              <a:rPr lang="en-US" sz="2400" dirty="0"/>
              <a:t>  </a:t>
            </a:r>
            <a:r>
              <a:rPr lang="en-US" sz="2400" dirty="0">
                <a:sym typeface="Wingdings" panose="05000000000000000000" pitchFamily="2" charset="2"/>
              </a:rPr>
              <a:t> relevant four-neutron structure extends across multiple subshells</a:t>
            </a:r>
          </a:p>
          <a:p>
            <a:pPr marL="800100" lvl="1" indent="-342900">
              <a:buFont typeface="Arial" panose="020B0604020202020204" pitchFamily="34" charset="0"/>
              <a:buChar char="•"/>
            </a:pPr>
            <a:r>
              <a:rPr lang="en-US" sz="2400" dirty="0">
                <a:sym typeface="Wingdings" panose="05000000000000000000" pitchFamily="2" charset="2"/>
              </a:rPr>
              <a:t>Complementarily support possibility of quartet formation (two 1S0 pairing and additional attraction in 3P2 partial wave.) </a:t>
            </a:r>
            <a:endParaRPr lang="en-US" sz="2400" dirty="0"/>
          </a:p>
        </p:txBody>
      </p:sp>
    </p:spTree>
    <p:extLst>
      <p:ext uri="{BB962C8B-B14F-4D97-AF65-F5344CB8AC3E}">
        <p14:creationId xmlns:p14="http://schemas.microsoft.com/office/powerpoint/2010/main" val="4215679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E30DAE5F-6C8A-EB15-4B13-12611716755A}"/>
              </a:ext>
            </a:extLst>
          </p:cNvPr>
          <p:cNvPicPr>
            <a:picLocks noChangeAspect="1"/>
          </p:cNvPicPr>
          <p:nvPr/>
        </p:nvPicPr>
        <p:blipFill>
          <a:blip r:embed="rId2">
            <a:extLst>
              <a:ext uri="{28A0092B-C50C-407E-A947-70E740481C1C}">
                <a14:useLocalDpi xmlns:a14="http://schemas.microsoft.com/office/drawing/2010/main" val="0"/>
              </a:ext>
            </a:extLst>
          </a:blip>
          <a:srcRect t="7909" b="7909"/>
          <a:stretch/>
        </p:blipFill>
        <p:spPr>
          <a:xfrm>
            <a:off x="0" y="0"/>
            <a:ext cx="12192000" cy="6858000"/>
          </a:xfrm>
          <a:prstGeom prst="rect">
            <a:avLst/>
          </a:prstGeom>
        </p:spPr>
      </p:pic>
      <p:sp>
        <p:nvSpPr>
          <p:cNvPr id="3" name="직사각형 2">
            <a:extLst>
              <a:ext uri="{FF2B5EF4-FFF2-40B4-BE49-F238E27FC236}">
                <a16:creationId xmlns:a16="http://schemas.microsoft.com/office/drawing/2014/main" id="{5E233309-CB97-822F-9A7C-60AE33264332}"/>
              </a:ext>
            </a:extLst>
          </p:cNvPr>
          <p:cNvSpPr/>
          <p:nvPr/>
        </p:nvSpPr>
        <p:spPr>
          <a:xfrm>
            <a:off x="0" y="0"/>
            <a:ext cx="12192000" cy="6858000"/>
          </a:xfrm>
          <a:prstGeom prst="rect">
            <a:avLst/>
          </a:prstGeom>
          <a:solidFill>
            <a:srgbClr val="004098">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  </a:t>
            </a:r>
            <a:endParaRPr lang="ko-KR" altLang="en-US" dirty="0"/>
          </a:p>
        </p:txBody>
      </p:sp>
      <p:sp>
        <p:nvSpPr>
          <p:cNvPr id="4" name="TextBox 3">
            <a:extLst>
              <a:ext uri="{FF2B5EF4-FFF2-40B4-BE49-F238E27FC236}">
                <a16:creationId xmlns:a16="http://schemas.microsoft.com/office/drawing/2014/main" id="{CCF8E078-21B8-4D83-81B7-B664C89F6FDD}"/>
              </a:ext>
            </a:extLst>
          </p:cNvPr>
          <p:cNvSpPr txBox="1"/>
          <p:nvPr/>
        </p:nvSpPr>
        <p:spPr>
          <a:xfrm>
            <a:off x="775029" y="3013502"/>
            <a:ext cx="6442477" cy="830997"/>
          </a:xfrm>
          <a:prstGeom prst="rect">
            <a:avLst/>
          </a:prstGeom>
          <a:noFill/>
        </p:spPr>
        <p:txBody>
          <a:bodyPr wrap="square" rtlCol="0">
            <a:spAutoFit/>
          </a:bodyPr>
          <a:lstStyle/>
          <a:p>
            <a:r>
              <a:rPr lang="en-US" altLang="ko-KR" sz="4800" dirty="0">
                <a:solidFill>
                  <a:schemeClr val="bg1"/>
                </a:solidFill>
                <a:ea typeface="SUIT ExtraBold" pitchFamily="50" charset="-127"/>
                <a:cs typeface="Pretendard Medium" panose="02000603000000020004" pitchFamily="50" charset="-127"/>
              </a:rPr>
              <a:t>Thank You</a:t>
            </a:r>
            <a:endParaRPr lang="ko-KR" altLang="en-US" sz="4000" dirty="0">
              <a:solidFill>
                <a:schemeClr val="bg1"/>
              </a:solidFill>
              <a:ea typeface="SUIT ExtraBold" pitchFamily="50" charset="-127"/>
              <a:cs typeface="Pretendard Medium" panose="02000603000000020004" pitchFamily="50" charset="-127"/>
            </a:endParaRPr>
          </a:p>
        </p:txBody>
      </p:sp>
      <p:pic>
        <p:nvPicPr>
          <p:cNvPr id="10" name="그림 9" descr="텍스트, 폰트, 그래픽, 스크린샷이(가) 표시된 사진&#10;&#10;자동 생성된 설명">
            <a:extLst>
              <a:ext uri="{FF2B5EF4-FFF2-40B4-BE49-F238E27FC236}">
                <a16:creationId xmlns:a16="http://schemas.microsoft.com/office/drawing/2014/main" id="{A5AFB75F-7A6E-1F8C-5153-FDFF21AC5A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2034" y="3171635"/>
            <a:ext cx="2569142" cy="514731"/>
          </a:xfrm>
          <a:prstGeom prst="rect">
            <a:avLst/>
          </a:prstGeom>
        </p:spPr>
      </p:pic>
    </p:spTree>
    <p:extLst>
      <p:ext uri="{BB962C8B-B14F-4D97-AF65-F5344CB8AC3E}">
        <p14:creationId xmlns:p14="http://schemas.microsoft.com/office/powerpoint/2010/main" val="1125895535"/>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4786</TotalTime>
  <Words>1698</Words>
  <Application>Microsoft Office PowerPoint</Application>
  <PresentationFormat>와이드스크린</PresentationFormat>
  <Paragraphs>168</Paragraphs>
  <Slides>20</Slides>
  <Notes>7</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20</vt:i4>
      </vt:variant>
    </vt:vector>
  </HeadingPairs>
  <TitlesOfParts>
    <vt:vector size="31" baseType="lpstr">
      <vt:lpstr>Pretendard ExtraBold</vt:lpstr>
      <vt:lpstr>Pretendard Medium</vt:lpstr>
      <vt:lpstr>SUIT ExtraBold</vt:lpstr>
      <vt:lpstr>SUIT SemiBold</vt:lpstr>
      <vt:lpstr>굴림</vt:lpstr>
      <vt:lpstr>돋움</vt:lpstr>
      <vt:lpstr>맑은 고딕</vt:lpstr>
      <vt:lpstr>Arial</vt:lpstr>
      <vt:lpstr>Arial Black</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Office</dc:creator>
  <cp:lastModifiedBy>User</cp:lastModifiedBy>
  <cp:revision>83</cp:revision>
  <dcterms:created xsi:type="dcterms:W3CDTF">2024-06-24T06:18:32Z</dcterms:created>
  <dcterms:modified xsi:type="dcterms:W3CDTF">2026-09-11T09:01:49Z</dcterms:modified>
</cp:coreProperties>
</file>